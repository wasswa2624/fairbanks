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cility_exterior_branded_entrance_01.jpe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17804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7804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768" y="182880"/>
            <a:ext cx="1120456" cy="60350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56032"/>
            <a:ext cx="1217691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914400"/>
            <a:ext cx="6400800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99A2B"/>
                </a:solidFill>
                <a:latin typeface="Calibri"/>
              </a:rPr>
              <a:t>UNIVERSITY PARTNERSHIP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98448"/>
            <a:ext cx="6400800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D6E6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74519"/>
            <a:ext cx="6400800" cy="53035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Working with MUST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23160"/>
            <a:ext cx="6400800" cy="53035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for community health,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971800"/>
            <a:ext cx="6400800" cy="53035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D99A2B"/>
                </a:solidFill>
                <a:latin typeface="Calibri"/>
              </a:rPr>
              <a:t>research, and grants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611880"/>
            <a:ext cx="2560320" cy="8229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886200"/>
            <a:ext cx="6400800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E8DC"/>
                </a:solidFill>
                <a:latin typeface="Calibri"/>
              </a:rPr>
              <a:t>Introducing FCHIP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315968"/>
            <a:ext cx="6400800" cy="50292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D99A2B"/>
                </a:solidFill>
                <a:latin typeface="Calibri"/>
              </a:rPr>
              <a:t>FairBanks Community Health Intelligence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892040"/>
            <a:ext cx="6400800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5715000"/>
            <a:ext cx="7178040" cy="114300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870448"/>
            <a:ext cx="6400800" cy="34747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Prepared for Mbarara University of Science and Technology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291072"/>
            <a:ext cx="6400800" cy="32004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D4E8DC"/>
                </a:solidFill>
                <a:latin typeface="Calibri"/>
              </a:rPr>
              <a:t>Kyebando–Kisalosalo, Kampala  ·  fairbanksmedicalcentre.org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46304"/>
            <a:ext cx="9845942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45C26"/>
                </a:solidFill>
                <a:latin typeface="Calibri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2336"/>
            <a:ext cx="9845942" cy="53035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1F2E"/>
                </a:solidFill>
                <a:latin typeface="Calibri"/>
              </a:rPr>
              <a:t>Why we are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97280"/>
            <a:ext cx="11185855" cy="109728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0">
                <a:solidFill>
                  <a:srgbClr val="1E2F38"/>
                </a:solidFill>
                <a:latin typeface="Calibri"/>
              </a:rPr>
              <a:t>FairBanks Medical Centre seeks a practical partnership with MUST —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0">
                <a:solidFill>
                  <a:srgbClr val="1E2F38"/>
                </a:solidFill>
                <a:latin typeface="Calibri"/>
              </a:rPr>
              <a:t>linking a working clinic and community programmes with university teaching,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0">
                <a:solidFill>
                  <a:srgbClr val="1E2F38"/>
                </a:solidFill>
                <a:latin typeface="Calibri"/>
              </a:rPr>
              <a:t>research, innovation, and grant writing.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331720"/>
            <a:ext cx="11185855" cy="11551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7512" y="2459736"/>
            <a:ext cx="91440" cy="89916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441448"/>
            <a:ext cx="10500055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Share a living field site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62072"/>
            <a:ext cx="10500055" cy="49682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2636C"/>
                </a:solidFill>
                <a:latin typeface="Calibri"/>
              </a:rPr>
              <a:t>A licensed medical centre and active community work in Kampala peri-urban areas.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614928"/>
            <a:ext cx="11185855" cy="11551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" y="3742943"/>
            <a:ext cx="91440" cy="89916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24656"/>
            <a:ext cx="10500055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Grow FCHIP 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45280"/>
            <a:ext cx="10500055" cy="49682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2636C"/>
                </a:solidFill>
                <a:latin typeface="Calibri"/>
              </a:rPr>
              <a:t>Build and test the Community Health Intelligence Platform with MUST scholars and students.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8136"/>
            <a:ext cx="11185855" cy="11551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512" y="5026151"/>
            <a:ext cx="91440" cy="89916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07864"/>
            <a:ext cx="10500055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Win stronger grants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428488"/>
            <a:ext cx="10500055" cy="49682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2636C"/>
                </a:solidFill>
                <a:latin typeface="Calibri"/>
              </a:rPr>
              <a:t>Joint proposals that combine academic depth with real community and facility data.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2  /  10</a:t>
            </a:r>
          </a:p>
        </p:txBody>
      </p:sp>
    </p:spTree>
  </p:cSld>
  <p:transition spd="med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46304"/>
            <a:ext cx="9845942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45C26"/>
                </a:solidFill>
                <a:latin typeface="Calibri"/>
              </a:rPr>
              <a:t>WHO WE 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2336"/>
            <a:ext cx="9845942" cy="53035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1F2E"/>
                </a:solidFill>
                <a:latin typeface="Calibri"/>
              </a:rPr>
              <a:t>About FairBanks Medical Centre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97280"/>
            <a:ext cx="6537960" cy="49560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353312"/>
            <a:ext cx="5897880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A1F2E"/>
                </a:solidFill>
                <a:latin typeface="Calibri"/>
              </a:rPr>
              <a:t>A community medical centre in Kampala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783080"/>
            <a:ext cx="5897880" cy="310896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240280"/>
            <a:ext cx="5897880" cy="3584448"/>
          </a:xfrm>
          <a:prstGeom prst="rect">
            <a:avLst/>
          </a:prstGeom>
          <a:noFill/>
        </p:spPr>
        <p:txBody>
          <a:bodyPr wrap="square" lIns="22000" rIns="22000" tIns="6000" bIns="6000">
            <a:spAutoFit/>
          </a:bodyPr>
          <a:lstStyle/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8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Located in Kyebando–Kisalosalo, Kampala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8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Outpatient &amp; inpatient care, emergency, diagnostics, pharmacy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8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Maternal and child health, chronic care, prevention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8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Community Reach with CHWs / VHTs nearby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8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Building FCHIP as our health intelligence layer</a:t>
            </a:r>
          </a:p>
        </p:txBody>
      </p:sp>
      <p:pic>
        <p:nvPicPr>
          <p:cNvPr id="13" name="Picture 12" descr="facility_exterior_entrance_01.jpg"/>
          <p:cNvPicPr>
            <a:picLocks noChangeAspect="1"/>
          </p:cNvPicPr>
          <p:nvPr/>
        </p:nvPicPr>
        <p:blipFill>
          <a:blip r:embed="rId3"/>
          <a:srcRect t="1120" b="1120"/>
          <a:stretch>
            <a:fillRect/>
          </a:stretch>
        </p:blipFill>
        <p:spPr>
          <a:xfrm>
            <a:off x="7278624" y="1097280"/>
            <a:ext cx="4410151" cy="287450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278624" y="4099803"/>
            <a:ext cx="4410151" cy="1953524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4282683"/>
            <a:ext cx="4007815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99A2B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4648443"/>
            <a:ext cx="4007815" cy="122200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Care close to where families live —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and a base for learning and research.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3  /  10</a:t>
            </a:r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46304"/>
            <a:ext cx="9845942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45C26"/>
                </a:solidFill>
                <a:latin typeface="Calibri"/>
              </a:rPr>
              <a:t>OPERATING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2336"/>
            <a:ext cx="9845942" cy="53035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1F2E"/>
                </a:solidFill>
                <a:latin typeface="Calibri"/>
              </a:rPr>
              <a:t>FairBanks Community 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05840"/>
            <a:ext cx="11185855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How care, learning, and empowerment connect. FCHIP supports Data &amp; Feedback.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44752"/>
            <a:ext cx="5483199" cy="1426463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44752"/>
            <a:ext cx="777240" cy="1426463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44752"/>
            <a:ext cx="777240" cy="1426463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682496"/>
            <a:ext cx="4340199" cy="43891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A1F2E"/>
                </a:solidFill>
                <a:latin typeface="Calibri"/>
              </a:rPr>
              <a:t>Community members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176272"/>
            <a:ext cx="4340199" cy="512063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2636C"/>
                </a:solidFill>
                <a:latin typeface="Calibri"/>
              </a:rPr>
              <a:t>Communities name needs and own solutions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5575" y="1444752"/>
            <a:ext cx="5483199" cy="1426463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5575" y="1444752"/>
            <a:ext cx="777240" cy="1426463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05575" y="1444752"/>
            <a:ext cx="777240" cy="1426463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5695" y="1682496"/>
            <a:ext cx="4340199" cy="43891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A1F2E"/>
                </a:solidFill>
                <a:latin typeface="Calibri"/>
              </a:rPr>
              <a:t>CHWs / VHTs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5695" y="2176272"/>
            <a:ext cx="4340199" cy="512063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2636C"/>
                </a:solidFill>
                <a:latin typeface="Calibri"/>
              </a:rPr>
              <a:t>The bridge — outreach, referrals, and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035808"/>
            <a:ext cx="5483199" cy="1426463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035808"/>
            <a:ext cx="777240" cy="1426463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035808"/>
            <a:ext cx="777240" cy="1426463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273552"/>
            <a:ext cx="4340199" cy="43891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A1F2E"/>
                </a:solidFill>
                <a:latin typeface="Calibri"/>
              </a:rPr>
              <a:t>Community programmes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340199" cy="512063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2636C"/>
                </a:solidFill>
                <a:latin typeface="Calibri"/>
              </a:rPr>
              <a:t>Screening, education, maternal &amp; child care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05575" y="3035808"/>
            <a:ext cx="5483199" cy="1426463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05575" y="3035808"/>
            <a:ext cx="777240" cy="1426463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5575" y="3035808"/>
            <a:ext cx="777240" cy="1426463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65695" y="3273552"/>
            <a:ext cx="4340199" cy="43891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A1F2E"/>
                </a:solidFill>
                <a:latin typeface="Calibri"/>
              </a:rPr>
              <a:t>Medical Centre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5695" y="3767328"/>
            <a:ext cx="4340199" cy="512063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2636C"/>
                </a:solidFill>
                <a:latin typeface="Calibri"/>
              </a:rPr>
              <a:t>Clinical care, diagnostics, pharmacy, follow-up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626864"/>
            <a:ext cx="5483199" cy="1426463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626864"/>
            <a:ext cx="777240" cy="1426463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626864"/>
            <a:ext cx="777240" cy="1426463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864607"/>
            <a:ext cx="4340199" cy="43891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A1F2E"/>
                </a:solidFill>
                <a:latin typeface="Calibri"/>
              </a:rPr>
              <a:t>Research &amp; skills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5358383"/>
            <a:ext cx="4340199" cy="512063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2636C"/>
                </a:solidFill>
                <a:latin typeface="Calibri"/>
              </a:rPr>
              <a:t>Evidence, partners, training, and learning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05575" y="4626864"/>
            <a:ext cx="5483199" cy="1426463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05575" y="4626864"/>
            <a:ext cx="777240" cy="1426463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05575" y="4626864"/>
            <a:ext cx="777240" cy="1426463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65695" y="4864607"/>
            <a:ext cx="4340199" cy="43891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A1F2E"/>
                </a:solidFill>
                <a:latin typeface="Calibri"/>
              </a:rPr>
              <a:t>Empowerment &amp; CHIS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65695" y="5358383"/>
            <a:ext cx="4340199" cy="512063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2636C"/>
                </a:solidFill>
                <a:latin typeface="Calibri"/>
              </a:rPr>
              <a:t>Livelihoods and affordable shared protection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4  /  10</a:t>
            </a:r>
          </a:p>
        </p:txBody>
      </p:sp>
    </p:spTree>
  </p:cSld>
  <p:transition spd="med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19456"/>
            <a:ext cx="9845942" cy="56692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1F2E"/>
                </a:solidFill>
                <a:latin typeface="Calibri"/>
              </a:rPr>
              <a:t>What is FCHIP?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97280"/>
            <a:ext cx="5369210" cy="4956048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53312"/>
            <a:ext cx="4729130" cy="34747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99A2B"/>
                </a:solidFill>
                <a:latin typeface="Calibri"/>
              </a:rPr>
              <a:t>FCHIP stands for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55648"/>
            <a:ext cx="4729130" cy="8229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FairBanks Community Health Intelligence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43200"/>
            <a:ext cx="4729130" cy="21945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</a:pPr>
            <a:r>
              <a:rPr sz="2100" b="0">
                <a:solidFill>
                  <a:srgbClr val="D4E8DC"/>
                </a:solidFill>
                <a:latin typeface="Calibri"/>
              </a:rPr>
              <a:t>FCHIP brings community and facility health data together.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</a:pPr>
            <a:r>
              <a:rPr sz="2100" b="0">
                <a:solidFill>
                  <a:srgbClr val="D4E8DC"/>
                </a:solidFill>
                <a:latin typeface="Calibri"/>
              </a:rPr>
              <a:t>It uses AI, GIS maps, and climate signals to spot risks early —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</a:pPr>
            <a:r>
              <a:rPr sz="2100" b="0">
                <a:solidFill>
                  <a:srgbClr val="D4E8DC"/>
                </a:solidFill>
                <a:latin typeface="Calibri"/>
              </a:rPr>
              <a:t>so CHWs, clinics, and partners can act sooner.</a:t>
            </a:r>
          </a:p>
        </p:txBody>
      </p:sp>
      <p:pic>
        <p:nvPicPr>
          <p:cNvPr id="12" name="Picture 11" descr="dashboard_demo.png"/>
          <p:cNvPicPr>
            <a:picLocks noChangeAspect="1"/>
          </p:cNvPicPr>
          <p:nvPr/>
        </p:nvPicPr>
        <p:blipFill>
          <a:blip r:embed="rId3"/>
          <a:srcRect t="13475" b="13475"/>
          <a:stretch>
            <a:fillRect/>
          </a:stretch>
        </p:blipFill>
        <p:spPr>
          <a:xfrm>
            <a:off x="6091586" y="1097280"/>
            <a:ext cx="5597188" cy="272582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091586" y="3969410"/>
            <a:ext cx="2734586" cy="621487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01314" y="4042562"/>
            <a:ext cx="2515130" cy="475183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Disease early warning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54188" y="3969410"/>
            <a:ext cx="2734586" cy="621487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63916" y="4042562"/>
            <a:ext cx="2515130" cy="475183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Maternal health risk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1586" y="4700625"/>
            <a:ext cx="2734586" cy="621487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1314" y="4773777"/>
            <a:ext cx="2515130" cy="475183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NCD &amp; child health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4188" y="4700625"/>
            <a:ext cx="2734586" cy="621487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3916" y="4773777"/>
            <a:ext cx="2515130" cy="475183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CHW mobile tools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1586" y="5431840"/>
            <a:ext cx="2734586" cy="621487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1314" y="5504992"/>
            <a:ext cx="2515130" cy="475183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GIS &amp; climate links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54188" y="5431840"/>
            <a:ext cx="2734586" cy="621487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63916" y="5504992"/>
            <a:ext cx="2515130" cy="475183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Facility dashboards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5  /  10</a:t>
            </a:r>
          </a:p>
        </p:txBody>
      </p:sp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46304"/>
            <a:ext cx="9845942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45C26"/>
                </a:solidFill>
                <a:latin typeface="Calibri"/>
              </a:rPr>
              <a:t>FIT WITH MUST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2336"/>
            <a:ext cx="9845942" cy="53035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1F2E"/>
                </a:solidFill>
                <a:latin typeface="Calibri"/>
              </a:rPr>
              <a:t>Why MUST is a strong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05840"/>
            <a:ext cx="11185855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Drawn from MUST’s published faculties, programmes, and innovation units.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44752"/>
            <a:ext cx="5510631" cy="2221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7512" y="1645920"/>
            <a:ext cx="91440" cy="1819656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00784"/>
            <a:ext cx="4870551" cy="50292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Faculty of Health Sciences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13432"/>
            <a:ext cx="4870551" cy="107899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Doctors, nurses, pharmacists, lab scientists, and physiotherapists — with COBERS community learning since 1989.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8143" y="1444752"/>
            <a:ext cx="5510631" cy="2221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42735" y="1645920"/>
            <a:ext cx="91440" cy="181965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9623" y="1700784"/>
            <a:ext cx="4870551" cy="50292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Department of Community Health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9623" y="2313432"/>
            <a:ext cx="4870551" cy="107899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MPH, epidemiology, maternal and child health, NCDs, and health systems research.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831336"/>
            <a:ext cx="5510631" cy="2221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512" y="4032504"/>
            <a:ext cx="91440" cy="1819656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87368"/>
            <a:ext cx="4870551" cy="50292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Computing &amp; innovation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00016"/>
            <a:ext cx="4870551" cy="107899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Faculty of Computing and Informatics, CITT, and CAMTech Uganda — a natural home for FCHIP.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8143" y="3831336"/>
            <a:ext cx="5510631" cy="2221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42735" y="4032504"/>
            <a:ext cx="91440" cy="181965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9623" y="4087368"/>
            <a:ext cx="4870551" cy="50292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Grant and research culture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9623" y="4700016"/>
            <a:ext cx="4870551" cy="107899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Long record of partnered research with MoH, districts, and global universities.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6  /  10</a:t>
            </a:r>
          </a:p>
        </p:txBody>
      </p:sp>
    </p:spTree>
  </p:cSld>
  <p:transition spd="med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19456"/>
            <a:ext cx="9845942" cy="56692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1F2E"/>
                </a:solidFill>
                <a:latin typeface="Calibri"/>
              </a:rPr>
              <a:t>How we can work together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70432"/>
            <a:ext cx="11185855" cy="87416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4088" y="1324051"/>
            <a:ext cx="566928" cy="566928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324051"/>
            <a:ext cx="566928" cy="566928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1250899"/>
            <a:ext cx="9905695" cy="34747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Teaching &amp; placements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598371"/>
            <a:ext cx="9905695" cy="34747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COBERS-style learning, clinical attachments, and supervised field work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172614"/>
            <a:ext cx="11185855" cy="87416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04088" y="2326233"/>
            <a:ext cx="566928" cy="566928"/>
          </a:xfrm>
          <a:prstGeom prst="roundRect">
            <a:avLst>
              <a:gd name="adj" fmla="val 9000"/>
            </a:avLst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2326233"/>
            <a:ext cx="566928" cy="566928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7048" y="2253081"/>
            <a:ext cx="9905695" cy="34747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Joint research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600553"/>
            <a:ext cx="9905695" cy="34747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Community health, digital health, climate–health, MCH, and NCDs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174796"/>
            <a:ext cx="11185855" cy="87416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4088" y="3328415"/>
            <a:ext cx="566928" cy="566928"/>
          </a:xfrm>
          <a:prstGeom prst="roundRect">
            <a:avLst>
              <a:gd name="adj" fmla="val 9000"/>
            </a:avLst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3328415"/>
            <a:ext cx="566928" cy="566928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7048" y="3255263"/>
            <a:ext cx="9905695" cy="34747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Community programmes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602735"/>
            <a:ext cx="9905695" cy="34747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Camps, school health, screening, and VHT-linked outreach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6979"/>
            <a:ext cx="11185855" cy="87416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4088" y="4330598"/>
            <a:ext cx="566928" cy="566928"/>
          </a:xfrm>
          <a:prstGeom prst="roundRect">
            <a:avLst>
              <a:gd name="adj" fmla="val 9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4330598"/>
            <a:ext cx="566928" cy="566928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7048" y="4257446"/>
            <a:ext cx="9905695" cy="34747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FCHIP co-development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604918"/>
            <a:ext cx="9905695" cy="34747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AI, GIS, mobile tools, and dashboards with Computing &amp; CITT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179161"/>
            <a:ext cx="11185855" cy="87416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04088" y="5332780"/>
            <a:ext cx="566928" cy="566928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" y="5332780"/>
            <a:ext cx="566928" cy="566928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7048" y="5259628"/>
            <a:ext cx="9905695" cy="34747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Joint grants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7048" y="5607100"/>
            <a:ext cx="9905695" cy="34747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Shared concept notes, MoUs, and competitive funding bids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7  /  10</a:t>
            </a:r>
          </a:p>
        </p:txBody>
      </p:sp>
    </p:spTree>
  </p:cSld>
  <p:transition spd="med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46304"/>
            <a:ext cx="9845942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45C26"/>
                </a:solidFill>
                <a:latin typeface="Calibri"/>
              </a:rPr>
              <a:t>FUNDING &amp; SCIENCE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2336"/>
            <a:ext cx="9845942" cy="53035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1F2E"/>
                </a:solidFill>
                <a:latin typeface="Calibri"/>
              </a:rPr>
              <a:t>Joint research and grants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05840"/>
            <a:ext cx="11185855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Together we write stronger proposals — clinic + community + university science.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44752"/>
            <a:ext cx="5702527" cy="46085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700784"/>
            <a:ext cx="5153887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What we can pursue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267712"/>
            <a:ext cx="5153887" cy="3557016"/>
          </a:xfrm>
          <a:prstGeom prst="rect">
            <a:avLst/>
          </a:prstGeom>
          <a:noFill/>
        </p:spPr>
        <p:txBody>
          <a:bodyPr wrap="square" lIns="22000" rIns="22000" tIns="6000" bIns="6000">
            <a:spAutoFit/>
          </a:bodyPr>
          <a:lstStyle/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2000"/>
              </a:spcAft>
            </a:pPr>
            <a:r>
              <a:rPr sz="2100" b="0">
                <a:solidFill>
                  <a:srgbClr val="1E2F38"/>
                </a:solidFill>
                <a:latin typeface="Calibri"/>
              </a:rPr>
              <a:t>•  Community health intelligence research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2000"/>
              </a:spcAft>
            </a:pPr>
            <a:r>
              <a:rPr sz="2100" b="0">
                <a:solidFill>
                  <a:srgbClr val="1E2F38"/>
                </a:solidFill>
                <a:latin typeface="Calibri"/>
              </a:rPr>
              <a:t>•  Climate–health and early warning pilots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2000"/>
              </a:spcAft>
            </a:pPr>
            <a:r>
              <a:rPr sz="2100" b="0">
                <a:solidFill>
                  <a:srgbClr val="1E2F38"/>
                </a:solidFill>
                <a:latin typeface="Calibri"/>
              </a:rPr>
              <a:t>•  Maternal, child, and NCD studies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2000"/>
              </a:spcAft>
            </a:pPr>
            <a:r>
              <a:rPr sz="2100" b="0">
                <a:solidFill>
                  <a:srgbClr val="1E2F38"/>
                </a:solidFill>
                <a:latin typeface="Calibri"/>
              </a:rPr>
              <a:t>•  Digital health / AI innovation awards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2000"/>
              </a:spcAft>
            </a:pPr>
            <a:r>
              <a:rPr sz="2100" b="0">
                <a:solidFill>
                  <a:srgbClr val="1E2F38"/>
                </a:solidFill>
                <a:latin typeface="Calibri"/>
              </a:rPr>
              <a:t>•  Partner M&amp;E and capacity-building grants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24903" y="1444752"/>
            <a:ext cx="5263871" cy="4608576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7511" y="1764792"/>
            <a:ext cx="4678655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99A2B"/>
                </a:solidFill>
                <a:latin typeface="Calibri"/>
              </a:rPr>
              <a:t>Why funders listen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17511" y="2359152"/>
            <a:ext cx="4678655" cy="3328416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MUST brings research quality, ethics, and student power.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FairBanks brings a licensed facility, Community Reach, and a working FCHIP MVP.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That mix lowers risk and raises impact for grant reviewers.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8  /  10</a:t>
            </a:r>
          </a:p>
        </p:txBody>
      </p:sp>
    </p:spTree>
  </p:cSld>
  <p:transition spd="med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46304"/>
            <a:ext cx="9845942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45C26"/>
                </a:solidFill>
                <a:latin typeface="Calibri"/>
              </a:rPr>
              <a:t>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2336"/>
            <a:ext cx="9845942" cy="53035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1F2E"/>
                </a:solidFill>
                <a:latin typeface="Calibri"/>
              </a:rPr>
              <a:t>Roadmap and invitation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97280"/>
            <a:ext cx="2673019" cy="2148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097280"/>
            <a:ext cx="2673019" cy="86868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261872"/>
            <a:ext cx="2416987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Phase 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1554480"/>
            <a:ext cx="2416987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Meet &amp;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" y="2148839"/>
            <a:ext cx="2416987" cy="91440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F38"/>
                </a:solidFill>
                <a:latin typeface="Calibri"/>
              </a:rPr>
              <a:t>Briefing · shared priorities · working group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0531" y="1097280"/>
            <a:ext cx="2673019" cy="2148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40531" y="1097280"/>
            <a:ext cx="2673019" cy="86868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68547" y="1261872"/>
            <a:ext cx="2416987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Phase 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8547" y="1554480"/>
            <a:ext cx="2416987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Formalise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8547" y="2148839"/>
            <a:ext cx="2416987" cy="91440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F38"/>
                </a:solidFill>
                <a:latin typeface="Calibri"/>
              </a:rPr>
              <a:t>MoU · 2–3 pilots · ethics &amp; data rules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8143" y="1097280"/>
            <a:ext cx="2673019" cy="2148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8143" y="1097280"/>
            <a:ext cx="2673019" cy="86868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6159" y="1261872"/>
            <a:ext cx="2416987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Phase III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6159" y="1554480"/>
            <a:ext cx="2416987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Deliver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6159" y="2148839"/>
            <a:ext cx="2416987" cy="91440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F38"/>
                </a:solidFill>
                <a:latin typeface="Calibri"/>
              </a:rPr>
              <a:t>Placements · research · first grant bids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15755" y="1097280"/>
            <a:ext cx="2673019" cy="2148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15755" y="1097280"/>
            <a:ext cx="2673019" cy="86868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3771" y="1261872"/>
            <a:ext cx="2416987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Phase IV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3771" y="1554480"/>
            <a:ext cx="2416987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Grow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3771" y="2148839"/>
            <a:ext cx="2416987" cy="91440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F38"/>
                </a:solidFill>
                <a:latin typeface="Calibri"/>
              </a:rPr>
              <a:t>Review · publish · scale what works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447288"/>
            <a:ext cx="11185855" cy="26060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3593592"/>
            <a:ext cx="10545775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What we invite MUST to 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3995928"/>
            <a:ext cx="10545775" cy="1920240"/>
          </a:xfrm>
          <a:prstGeom prst="rect">
            <a:avLst/>
          </a:prstGeom>
          <a:noFill/>
        </p:spPr>
        <p:txBody>
          <a:bodyPr wrap="square" lIns="22000" rIns="22000" tIns="6000" bIns="6000">
            <a:spAutoFit/>
          </a:bodyPr>
          <a:lstStyle/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4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Host a planning meeting with Health Sciences, Community Health, and Computing / CITT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4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Agree a partnership MoU with clear roles for teaching, research, and FCHIP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4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Pick first pilots: one teaching track, one research track, one grant concept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9  /  10</a:t>
            </a:r>
          </a:p>
        </p:txBody>
      </p:sp>
    </p:spTree>
  </p:cSld>
  <p:transition spd="med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cility_exterior_branded_entrance_02.jpe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17804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7804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768" y="182880"/>
            <a:ext cx="1120456" cy="60350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56032"/>
            <a:ext cx="1217691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914400"/>
            <a:ext cx="6400800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99A2B"/>
                </a:solidFill>
                <a:latin typeface="Calibri"/>
              </a:rPr>
              <a:t>INVITATION TO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98448"/>
            <a:ext cx="6400800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D6E6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74519"/>
            <a:ext cx="6400800" cy="47548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Let us build healthier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77440"/>
            <a:ext cx="6400800" cy="47548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communities — and stronger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80360"/>
            <a:ext cx="6400800" cy="47548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D99A2B"/>
                </a:solidFill>
                <a:latin typeface="Calibri"/>
              </a:rPr>
              <a:t>science — together.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29000"/>
            <a:ext cx="2560320" cy="8229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703320"/>
            <a:ext cx="6400800" cy="73152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0">
                <a:solidFill>
                  <a:srgbClr val="D4E8DC"/>
                </a:solidFill>
                <a:latin typeface="Calibri"/>
              </a:rPr>
              <a:t>FairBanks Medical Centre invites Mbarara University of Science and Technology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0">
                <a:solidFill>
                  <a:srgbClr val="D4E8DC"/>
                </a:solidFill>
                <a:latin typeface="Calibri"/>
              </a:rPr>
              <a:t>to partner on Community Reach, FCHIP, and joint grants.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526280"/>
            <a:ext cx="6400800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83480"/>
            <a:ext cx="6309360" cy="141732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102352"/>
            <a:ext cx="5852160" cy="310896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99A2B"/>
                </a:solidFill>
                <a:latin typeface="Calibri"/>
              </a:rPr>
              <a:t>Institutional 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468112"/>
            <a:ext cx="5852160" cy="8229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Kyebando–Kisalosalo, Tirupati Road, Kampala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info@fairbanksmedicalcentre.org  ·  +256 748 319 052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fairbanksmedicalcentre.org</a:t>
            </a:r>
          </a:p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