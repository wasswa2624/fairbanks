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1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14400"/>
            <a:ext cx="6400800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UNIVERSITY PARTNERSHIP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640080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Calibri"/>
              </a:rPr>
              <a:t>Working with Makerere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23160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for community health,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6400800" cy="53035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D99A2B"/>
                </a:solidFill>
                <a:latin typeface="Calibri"/>
              </a:rPr>
              <a:t>research, and grants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640080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D4E8DC"/>
                </a:solidFill>
                <a:latin typeface="Calibri"/>
              </a:rPr>
              <a:t>Introducing FCHIP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315968"/>
            <a:ext cx="6400800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D99A2B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892040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5715000"/>
            <a:ext cx="7178040" cy="11430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5870448"/>
            <a:ext cx="6400800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Prepared for Makerere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291072"/>
            <a:ext cx="6400800" cy="32004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D4E8DC"/>
                </a:solidFill>
                <a:latin typeface="Calibri"/>
              </a:rPr>
              <a:t>Kyebando–Kisalosalo, Kampala  ·  fairbanksmedicalcentre.org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Purpose: </a:t>
            </a:r>
            <a:r>
              <a:rPr sz="2800" b="1">
                <a:solidFill>
                  <a:srgbClr val="0A1F2E"/>
                </a:solidFill>
                <a:latin typeface="Calibri"/>
              </a:rPr>
              <a:t>Why we are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60120"/>
            <a:ext cx="11185855" cy="109728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FairBanks Medical Centre seeks a practical partnership with Makerere University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linking a Kampala clinic and Community Reach work with MakCHS teaching,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200" b="0">
                <a:solidFill>
                  <a:srgbClr val="1E2F38"/>
                </a:solidFill>
                <a:latin typeface="Calibri"/>
              </a:rPr>
              <a:t>MakSPH research, and joint grant writing.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2322576"/>
            <a:ext cx="91440" cy="944879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04288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Share a Kampala field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A licensed medical centre and peri-urban Community Reach near Makerere’s catchment.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3488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7512" y="3651504"/>
            <a:ext cx="91440" cy="944879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33216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Grow FCHIP with Mak scholars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53840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Validate community health intelligence with MakSPH, MakCHS, and computing teams.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852416"/>
            <a:ext cx="11185855" cy="120091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4980432"/>
            <a:ext cx="91440" cy="944879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62144"/>
            <a:ext cx="105000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A1F2E"/>
                </a:solidFill>
                <a:latin typeface="Calibri"/>
              </a:rPr>
              <a:t>Win stronger grants together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82768"/>
            <a:ext cx="10500055" cy="542543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Combine Makerere’s research depth with real facility and community data.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2  /  10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Who we are: </a:t>
            </a:r>
            <a:r>
              <a:rPr sz="2800" b="1">
                <a:solidFill>
                  <a:srgbClr val="0A1F2E"/>
                </a:solidFill>
                <a:latin typeface="Calibri"/>
              </a:rPr>
              <a:t>About FairBanks Medical Centre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6537960" cy="50932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16152"/>
            <a:ext cx="5897880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A community medical centre in Kampala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45920"/>
            <a:ext cx="5897880" cy="310896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45C26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03120"/>
            <a:ext cx="5897880" cy="3721608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Located in Kyebando–Kisalosalo, Kampala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Outpatient &amp; inpatient care, emergency, diagnostics, pharmacy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Maternal and child health, chronic care, prevention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Community Reach with CHWs / VHTs nearby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800"/>
              </a:spcAft>
            </a:pPr>
            <a:r>
              <a:rPr sz="2000" b="0">
                <a:solidFill>
                  <a:srgbClr val="1E2F38"/>
                </a:solidFill>
                <a:latin typeface="Calibri"/>
              </a:rPr>
              <a:t>•  Building FCHIP as our health intelligence layer</a:t>
            </a:r>
          </a:p>
        </p:txBody>
      </p:sp>
      <p:pic>
        <p:nvPicPr>
          <p:cNvPr id="12" name="Picture 11" descr="facility_exterior_entrance_01.jpg"/>
          <p:cNvPicPr>
            <a:picLocks noChangeAspect="1"/>
          </p:cNvPicPr>
          <p:nvPr/>
        </p:nvPicPr>
        <p:blipFill>
          <a:blip r:embed="rId3"/>
          <a:srcRect l="232" r="232"/>
          <a:stretch>
            <a:fillRect/>
          </a:stretch>
        </p:blipFill>
        <p:spPr>
          <a:xfrm>
            <a:off x="7278624" y="960120"/>
            <a:ext cx="4410151" cy="29540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278624" y="4042196"/>
            <a:ext cx="4410151" cy="2011131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4225076"/>
            <a:ext cx="4007815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4590836"/>
            <a:ext cx="4007815" cy="1279611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Care close to where families live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and a base for learning and research.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3  /  10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Operating model: </a:t>
            </a:r>
            <a:r>
              <a:rPr sz="2800" b="1">
                <a:solidFill>
                  <a:srgbClr val="0A1F2E"/>
                </a:solidFill>
                <a:latin typeface="Calibri"/>
              </a:rPr>
              <a:t>FairBanks Community Reach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How care, learning, and empowerment connect. FCHIP supports Data &amp;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98448"/>
            <a:ext cx="777240" cy="14752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536192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Community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029967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Communities name needs and own solutions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1298448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575" y="1298448"/>
            <a:ext cx="777240" cy="147523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5575" y="1298448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5695" y="1536192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CHWs / VHTs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5695" y="2029967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The bridge — outreach, referrals, and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38271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938271"/>
            <a:ext cx="777240" cy="147523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38271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176015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Community programmes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669791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Screening, education, maternal &amp; child care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5575" y="2938271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05575" y="2938271"/>
            <a:ext cx="777240" cy="14752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5575" y="2938271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5695" y="3176015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Medical Centre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5695" y="3669791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Clinical care, diagnostics, pharmacy, follow-up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578095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4578095"/>
            <a:ext cx="777240" cy="1475232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578095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815839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Research &amp; skills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309615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Evidence, partners, training, and learning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5575" y="4578095"/>
            <a:ext cx="5483199" cy="1475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5575" y="4578095"/>
            <a:ext cx="777240" cy="1475232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05575" y="4578095"/>
            <a:ext cx="777240" cy="1475232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65695" y="4815839"/>
            <a:ext cx="4340199" cy="43891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A1F2E"/>
                </a:solidFill>
                <a:latin typeface="Calibri"/>
              </a:rPr>
              <a:t>Empowerment &amp; CHIS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65695" y="5309615"/>
            <a:ext cx="4340199" cy="5608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2636C"/>
                </a:solidFill>
                <a:latin typeface="Calibri"/>
              </a:rPr>
              <a:t>Livelihoods and affordable shared protection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4  /  10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19456"/>
            <a:ext cx="9845942" cy="56692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1F2E"/>
                </a:solidFill>
                <a:latin typeface="Calibri"/>
              </a:rPr>
              <a:t>What is FCHIP?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5369210" cy="509320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216152"/>
            <a:ext cx="4729130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FCHIP stands for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18488"/>
            <a:ext cx="4729130" cy="8229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FairBanks Community Health Intelligence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4729130" cy="21945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FCHIP brings community and facility health data together.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It uses AI, GIS maps, and climate signals to spot risks early —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</a:pPr>
            <a:r>
              <a:rPr sz="2100" b="0">
                <a:solidFill>
                  <a:srgbClr val="D4E8DC"/>
                </a:solidFill>
                <a:latin typeface="Calibri"/>
              </a:rPr>
              <a:t>so CHWs, clinics, and partners can act sooner.</a:t>
            </a:r>
          </a:p>
        </p:txBody>
      </p:sp>
      <p:pic>
        <p:nvPicPr>
          <p:cNvPr id="12" name="Picture 11" descr="dashboard_demo.png"/>
          <p:cNvPicPr>
            <a:picLocks noChangeAspect="1"/>
          </p:cNvPicPr>
          <p:nvPr/>
        </p:nvPicPr>
        <p:blipFill>
          <a:blip r:embed="rId3"/>
          <a:srcRect t="12464" b="12464"/>
          <a:stretch>
            <a:fillRect/>
          </a:stretch>
        </p:blipFill>
        <p:spPr>
          <a:xfrm>
            <a:off x="6091586" y="960120"/>
            <a:ext cx="5597188" cy="28012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1586" y="3907688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01314" y="3980840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Disease early warning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4188" y="3907688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3916" y="3980840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Maternal health risk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1586" y="4659477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1314" y="4732629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NCD &amp; child health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4188" y="4659477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63916" y="4732629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CHW mobile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1586" y="5411266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1314" y="5484418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GIS &amp; climate links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4188" y="5411266"/>
            <a:ext cx="2734586" cy="64206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3916" y="5484418"/>
            <a:ext cx="2515130" cy="495757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A1F2E"/>
                </a:solidFill>
                <a:latin typeface="Calibri"/>
              </a:rPr>
              <a:t>Facility dashboards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5  /  10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Fit with Makerere: </a:t>
            </a:r>
            <a:r>
              <a:rPr sz="2800" b="1">
                <a:solidFill>
                  <a:srgbClr val="0A1F2E"/>
                </a:solidFill>
                <a:latin typeface="Calibri"/>
              </a:rPr>
              <a:t>Why Makerere is a strong 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Based on Makerere College of Health Sciences, MakSPH, and published research programmes.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7512" y="1499616"/>
            <a:ext cx="91440" cy="1892808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College of Health Sciences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67128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Medicine, nursing, pharmacy, and related programmes — with Mulago teaching links and strong clinical training.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8143" y="1298448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2735" y="1499616"/>
            <a:ext cx="91440" cy="1892808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9623" y="1554480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School of Public 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9623" y="2167128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MakSPH leads epidemiology, health systems, HIV surveys, METS, and climate–health research such as Cities of Youth.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58184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" y="3959352"/>
            <a:ext cx="91440" cy="1892808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14216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Digital &amp; data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Computing, health informatics, and partner platforms that fit FCHIP’s AI, GIS, and dashboard 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8143" y="3758184"/>
            <a:ext cx="5510631" cy="22951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2735" y="3959352"/>
            <a:ext cx="91440" cy="1892808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9623" y="4014216"/>
            <a:ext cx="4870551" cy="5029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Grant track 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9623" y="4626864"/>
            <a:ext cx="4870551" cy="115214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Long history of MoH, CDC, DANIDA, and global university partnerships — ideal for joint proposals.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6  /  10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19456"/>
            <a:ext cx="9845942" cy="56692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A1F2E"/>
                </a:solidFill>
                <a:latin typeface="Calibri"/>
              </a:rPr>
              <a:t>How we can work together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33272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4088" y="1200607"/>
            <a:ext cx="566928" cy="56692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200607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127455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Student placements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474927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Community and clinic attachments for MakCHS and MakSPH learners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062886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" y="2230221"/>
            <a:ext cx="566928" cy="566928"/>
          </a:xfrm>
          <a:prstGeom prst="roundRect">
            <a:avLst>
              <a:gd name="adj" fmla="val 9000"/>
            </a:avLst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230221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157069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Joint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2504541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Urban community health, climate–health, MCH, NCDs, and digital health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092500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" y="3259835"/>
            <a:ext cx="566928" cy="566928"/>
          </a:xfrm>
          <a:prstGeom prst="roundRect">
            <a:avLst>
              <a:gd name="adj" fmla="val 9000"/>
            </a:avLst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259835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186683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Community programmes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3534155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Outreach, school health, screening, and VHT-linked work in Kampala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22115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4088" y="4289450"/>
            <a:ext cx="566928" cy="566928"/>
          </a:xfrm>
          <a:prstGeom prst="roundRect">
            <a:avLst>
              <a:gd name="adj" fmla="val 9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89450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4216298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FCHIP co-development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4563770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AI, GIS, mobile tools, and dashboards with Makerere researchers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51729"/>
            <a:ext cx="11185855" cy="90159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04088" y="5319064"/>
            <a:ext cx="566928" cy="566928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319064"/>
            <a:ext cx="566928" cy="566928"/>
          </a:xfrm>
          <a:prstGeom prst="rect">
            <a:avLst/>
          </a:prstGeom>
          <a:noFill/>
        </p:spPr>
        <p:txBody>
          <a:bodyPr wrap="square" lIns="22000" rIns="22000" tIns="8000" bIns="8000" anchor="ctr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5245912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Joint grants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5593384"/>
            <a:ext cx="9905695" cy="34747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Shared concept notes, ethics, MoUs, and competitive funding bids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7  /  10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Funding &amp; science: </a:t>
            </a:r>
            <a:r>
              <a:rPr sz="2800" b="1">
                <a:solidFill>
                  <a:srgbClr val="0A1F2E"/>
                </a:solidFill>
                <a:latin typeface="Calibri"/>
              </a:rPr>
              <a:t>Joint research and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111858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2636C"/>
                </a:solidFill>
                <a:latin typeface="Calibri"/>
              </a:rPr>
              <a:t>Clinic + Community Reach + Makerere science — a strong package for funders.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98448"/>
            <a:ext cx="5702527" cy="4754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54480"/>
            <a:ext cx="5153887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What we can pursue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21408"/>
            <a:ext cx="5153887" cy="3703320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Urban community health intelligence studies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Climate–health and early warning pilots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Maternal, child, and NCD community research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Digital health / AI innovation awards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20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Health systems M&amp;E and capacity-building grants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4903" y="1298448"/>
            <a:ext cx="5263871" cy="4754880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17511" y="1618488"/>
            <a:ext cx="4678655" cy="38404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99A2B"/>
                </a:solidFill>
                <a:latin typeface="Calibri"/>
              </a:rPr>
              <a:t>Why funders listen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7511" y="2212848"/>
            <a:ext cx="4678655" cy="34747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Makerere brings research quality, ethics, and student power.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FairBanks brings a licensed facility, Community Reach, and a working FCHIP MVP.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22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That mix lowers risk and raises impact for grant reviewers.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8  /  10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864"/>
            <a:ext cx="73152" cy="6803136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641470" y="146303"/>
            <a:ext cx="1120456" cy="512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airbank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4622" y="219456"/>
            <a:ext cx="974153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256032"/>
            <a:ext cx="9845942" cy="566928"/>
          </a:xfrm>
          <a:prstGeom prst="rect">
            <a:avLst/>
          </a:prstGeom>
          <a:noFill/>
        </p:spPr>
        <p:txBody>
          <a:bodyPr wrap="square" lIns="18000" rIns="18000" tIns="4000" bIns="400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C45C26"/>
                </a:solidFill>
                <a:latin typeface="Calibri"/>
              </a:rPr>
              <a:t>Next steps: </a:t>
            </a:r>
            <a:r>
              <a:rPr sz="2800" b="1">
                <a:solidFill>
                  <a:srgbClr val="0A1F2E"/>
                </a:solidFill>
                <a:latin typeface="Calibri"/>
              </a:rPr>
              <a:t>Roadmap and invitation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960120"/>
            <a:ext cx="2673019" cy="86868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Meet &amp;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Briefing · shared priorities · working group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0531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0531" y="960120"/>
            <a:ext cx="2673019" cy="868680"/>
          </a:xfrm>
          <a:prstGeom prst="rect">
            <a:avLst/>
          </a:prstGeom>
          <a:solidFill>
            <a:srgbClr val="C45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68547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8547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Formalise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8547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MoU · 2–3 pilots · ethics &amp; data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8143" y="960120"/>
            <a:ext cx="2673019" cy="868680"/>
          </a:xfrm>
          <a:prstGeom prst="rect">
            <a:avLst/>
          </a:prstGeom>
          <a:solidFill>
            <a:srgbClr val="2D7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6159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III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6159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6159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Joint work starts · first grant bids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15755" y="960120"/>
            <a:ext cx="2673019" cy="21488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15755" y="960120"/>
            <a:ext cx="2673019" cy="86868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771" y="1124712"/>
            <a:ext cx="2416987" cy="29260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Phase 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3771" y="1417320"/>
            <a:ext cx="2416987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Grow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771" y="2011680"/>
            <a:ext cx="2416987" cy="91440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E2F38"/>
                </a:solidFill>
                <a:latin typeface="Calibri"/>
              </a:rPr>
              <a:t>Review · publish · scale what works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10128"/>
            <a:ext cx="11185855" cy="274319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456432"/>
            <a:ext cx="10545775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A1F2E"/>
                </a:solidFill>
                <a:latin typeface="Calibri"/>
              </a:rPr>
              <a:t>What we invite Makerere to 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858768"/>
            <a:ext cx="10545775" cy="2057399"/>
          </a:xfrm>
          <a:prstGeom prst="rect">
            <a:avLst/>
          </a:prstGeom>
          <a:noFill/>
        </p:spPr>
        <p:txBody>
          <a:bodyPr wrap="square" lIns="22000" rIns="22000" tIns="6000" bIns="6000">
            <a:spAutoFit/>
          </a:bodyPr>
          <a:lstStyle/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Host a planning meeting with MakCHS, MakSPH, and computing / informatics leads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Agree a partnership MoU for teaching, research, community work, and FCHIP</a:t>
            </a:r>
          </a:p>
          <a:p>
            <a:pPr algn="l">
              <a:lnSpc>
                <a:spcPct val="150000"/>
              </a:lnSpc>
              <a:spcBef>
                <a:spcPts val="400"/>
              </a:spcBef>
              <a:spcAft>
                <a:spcPts val="1600"/>
              </a:spcAft>
            </a:pPr>
            <a:r>
              <a:rPr sz="2100" b="0">
                <a:solidFill>
                  <a:srgbClr val="1E2F38"/>
                </a:solidFill>
                <a:latin typeface="Calibri"/>
              </a:rPr>
              <a:t>•  Pick first pilots: one teaching track, one research track, one grant concept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19088"/>
            <a:ext cx="11185855" cy="10972"/>
          </a:xfrm>
          <a:prstGeom prst="rect">
            <a:avLst/>
          </a:prstGeom>
          <a:solidFill>
            <a:srgbClr val="CE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89611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FairBanks Medical Centre  ·  Your health, our mission.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00055" y="6492240"/>
            <a:ext cx="1188720" cy="256032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2636C"/>
                </a:solidFill>
                <a:latin typeface="Calibri"/>
              </a:rPr>
              <a:t>9  /  10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cility_exterior_branded_entrance_02.jpe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7178040" cy="6858000"/>
          </a:xfrm>
          <a:prstGeom prst="rect">
            <a:avLst/>
          </a:prstGeom>
          <a:solidFill>
            <a:srgbClr val="0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78040" y="0"/>
            <a:ext cx="109728" cy="6858000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" y="182880"/>
            <a:ext cx="1120456" cy="60350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solidFill>
              <a:srgbClr val="CED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airbanks_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1217691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914400"/>
            <a:ext cx="6400800" cy="329184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99A2B"/>
                </a:solidFill>
                <a:latin typeface="Calibri"/>
              </a:rPr>
              <a:t>INVITATION TO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D6E6E"/>
                </a:solidFill>
                <a:latin typeface="Calibri"/>
              </a:rPr>
              <a:t>FairBanks Medical Centre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Let us build healthier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communities — and stronger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6400800" cy="475488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D99A2B"/>
                </a:solidFill>
                <a:latin typeface="Calibri"/>
              </a:rPr>
              <a:t>science — together.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29000"/>
            <a:ext cx="2560320" cy="82296"/>
          </a:xfrm>
          <a:prstGeom prst="rect">
            <a:avLst/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6400800" cy="73152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D4E8DC"/>
                </a:solidFill>
                <a:latin typeface="Calibri"/>
              </a:rPr>
              <a:t>FairBanks Medical Centre invites Makerere University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900" b="0">
                <a:solidFill>
                  <a:srgbClr val="D4E8DC"/>
                </a:solidFill>
                <a:latin typeface="Calibri"/>
              </a:rPr>
              <a:t>to partner on Community Reach, FCHIP, and joint grants.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6400800" cy="3657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9A2B"/>
                </a:solidFill>
                <a:latin typeface="Calibri"/>
              </a:rPr>
              <a:t>Your health, our 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83480"/>
            <a:ext cx="6309360" cy="1417320"/>
          </a:xfrm>
          <a:prstGeom prst="roundRect">
            <a:avLst>
              <a:gd name="adj" fmla="val 9000"/>
            </a:avLst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102352"/>
            <a:ext cx="5852160" cy="310896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99A2B"/>
                </a:solidFill>
                <a:latin typeface="Calibri"/>
              </a:rPr>
              <a:t>Institutional contact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68112"/>
            <a:ext cx="5852160" cy="822960"/>
          </a:xfrm>
          <a:prstGeom prst="rect">
            <a:avLst/>
          </a:prstGeom>
          <a:noFill/>
        </p:spPr>
        <p:txBody>
          <a:bodyPr wrap="square" lIns="22000" rIns="22000" tIns="8000" bIns="800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Kyebando–Kisalosalo, Tirupati Road, Kampala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info@fairbanksmedicalcentre.org  ·  +256 748 319 052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fairbanksmedicalcentre.org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