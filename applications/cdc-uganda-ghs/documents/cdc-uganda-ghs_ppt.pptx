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hero_cinemat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ver_hero_cinemat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3520" y="0"/>
            <a:ext cx="6888175" cy="685800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0" y="128016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45C26"/>
                </a:solidFill>
                <a:latin typeface="Calibri"/>
              </a:rPr>
              <a:t>CDC · Uganda GHS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92024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 local partner for earlier detection — shared win for Uganda and the U.S.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3749039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FairBanks Medical Centre · FCHIP component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44805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51206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8C4C8"/>
                </a:solidFill>
                <a:latin typeface="Calibri"/>
              </a:rPr>
              <a:t>CDC-RFA-JG-26-0054 · Due 14 August 2026, 11:59 p.m. 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 shared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E2F38"/>
                </a:solidFill>
                <a:latin typeface="Calibri"/>
              </a:defRPr>
            </a:pPr>
            <a:r>
              <a:t>CDC / United States: Earlier containment at source — Safer, Stronger, More Prosperous</a:t>
            </a:r>
          </a:p>
          <a:p>
            <a:pPr>
              <a:spcAft>
                <a:spcPts val="600"/>
              </a:spcAft>
              <a:defRPr sz="2000">
                <a:solidFill>
                  <a:srgbClr val="1E2F38"/>
                </a:solidFill>
                <a:latin typeface="Calibri"/>
              </a:defRPr>
            </a:pPr>
            <a:r>
              <a:t>Uganda / MoH: Last-mile signals into NISS/NAPHS II; trained CHWs; 7-1-7 practice</a:t>
            </a:r>
          </a:p>
          <a:p>
            <a:pPr>
              <a:spcAft>
                <a:spcPts val="600"/>
              </a:spcAft>
              <a:defRPr sz="2000">
                <a:solidFill>
                  <a:srgbClr val="1E2F38"/>
                </a:solidFill>
                <a:latin typeface="Calibri"/>
              </a:defRPr>
            </a:pPr>
            <a:r>
              <a:t>FairBanks: Local partner with live clinic, Community Reach, and FCHIP that feeds government</a:t>
            </a:r>
          </a:p>
          <a:p>
            <a:pPr>
              <a:spcAft>
                <a:spcPts val="600"/>
              </a:spcAft>
              <a:defRPr sz="2000">
                <a:solidFill>
                  <a:srgbClr val="1E2F38"/>
                </a:solidFill>
                <a:latin typeface="Calibri"/>
              </a:defRPr>
            </a:pPr>
            <a:r>
              <a:t>Communities: Earlier alerts and clearer referral paths when something looks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636C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36C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Strengthen Uganda GHS capacities from the 2023 JEE (surveillance, labs, response, workforce, border health).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Cooperative agreement · 5 years · apply for all five funding components.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Year 1 Component 1 draft ask: $2,000,000 (ceiling $5M) · local partner preference +15 points.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Scoring: Approach 35 · EPMP 40 · Capacity 25 — we lead with measurable last-mile surveillance.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Must work in Uganda · English · USD · no research · clinical care not the award purpose.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Submit on Grants.gov by 14 August 2026, 11:59 p.m. 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636C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36C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 last-mile gap</a:t>
            </a:r>
          </a:p>
        </p:txBody>
      </p:sp>
      <p:pic>
        <p:nvPicPr>
          <p:cNvPr id="5" name="Picture 4" descr="outreach_bp_screenin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Outbreaks grow when community signals stay on paper.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CHWs, clinics, labs, and EOCs still share information too slowly.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JEE gaps: data sharing, surge staffing, forecasting, NISS links.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FairBanks already works where the gap shows up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636C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36C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How FairBanks works</a:t>
            </a:r>
          </a:p>
        </p:txBody>
      </p:sp>
      <p:pic>
        <p:nvPicPr>
          <p:cNvPr id="5" name="Picture 4" descr="concept_improve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060704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636C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36C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Our offer under MoH leadership</a:t>
            </a:r>
          </a:p>
        </p:txBody>
      </p:sp>
      <p:pic>
        <p:nvPicPr>
          <p:cNvPr id="5" name="Picture 4" descr="outreach_mobile_phone_demo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0292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0" y="11887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Community + facility surveillance into MoH/NISS pathways via FCHIP.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7-1-7 style drills with districts.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CHW/VHT workforce and surge roster.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Priority-disease community–facility links.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Lab and border modules with specialised partners — not a parallel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636C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36C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FCHIP on the Data &amp; Feedback loop</a:t>
            </a:r>
          </a:p>
        </p:txBody>
      </p:sp>
      <p:pic>
        <p:nvPicPr>
          <p:cNvPr id="5" name="Picture 4" descr="data_flow_iso_labe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987552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636C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36C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success looks like</a:t>
            </a:r>
          </a:p>
        </p:txBody>
      </p:sp>
      <p:pic>
        <p:nvPicPr>
          <p:cNvPr id="5" name="Picture 4" descr="gis_hotsp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2801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F38"/>
                </a:solidFill>
                <a:latin typeface="Calibri"/>
              </a:defRPr>
            </a:pPr>
            <a:r>
              <a:t>Faster detection &amp; response — Shorter time from community signal to district notification (7-1-7 style)</a:t>
            </a:r>
          </a:p>
          <a:p>
            <a:pPr>
              <a:spcAft>
                <a:spcPts val="600"/>
              </a:spcAft>
              <a:defRPr sz="1600">
                <a:solidFill>
                  <a:srgbClr val="1E2F38"/>
                </a:solidFill>
                <a:latin typeface="Calibri"/>
              </a:defRPr>
            </a:pPr>
            <a:r>
              <a:t>Stronger surveillance — Weekly community reports and successful MoH/NISS-aligned data tests</a:t>
            </a:r>
          </a:p>
          <a:p>
            <a:pPr>
              <a:spcAft>
                <a:spcPts val="600"/>
              </a:spcAft>
              <a:defRPr sz="1600">
                <a:solidFill>
                  <a:srgbClr val="1E2F38"/>
                </a:solidFill>
                <a:latin typeface="Calibri"/>
              </a:defRPr>
            </a:pPr>
            <a:r>
              <a:t>Ready workforce — Trained CHWs/VHTs and surge roster exercised in drills</a:t>
            </a:r>
          </a:p>
          <a:p>
            <a:pPr>
              <a:spcAft>
                <a:spcPts val="600"/>
              </a:spcAft>
              <a:defRPr sz="1600">
                <a:solidFill>
                  <a:srgbClr val="1E2F38"/>
                </a:solidFill>
                <a:latin typeface="Calibri"/>
              </a:defRPr>
            </a:pPr>
            <a:r>
              <a:t>Better community–facility links — Documented referral outcomes for priority disease flags</a:t>
            </a:r>
          </a:p>
          <a:p>
            <a:pPr>
              <a:spcAft>
                <a:spcPts val="600"/>
              </a:spcAft>
              <a:defRPr sz="1600">
                <a:solidFill>
                  <a:srgbClr val="1E2F38"/>
                </a:solidFill>
                <a:latin typeface="Calibri"/>
              </a:defRPr>
            </a:pPr>
            <a:r>
              <a:t>Government use — Tools, SOPs, and data access handed for MoH/CDC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636C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36C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Five components — one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Component 1 Core GHS: $2,000,000 draft (ceiling $5,000,000) — Expected initial funding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Component 2 Small-scale response: $350,000 draft (ceiling $10,000,000) — Contingency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Component 3 Large-scale response: $450,000 draft (ceiling $15,000,000) — Contingency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Component 4 Emerging threats: $250,000 draft (ceiling $15,000,000) — Contingency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Component 5 Humanitarian: $250,000 draft (ceiling $20,000,000) — Contingency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Component TOTAL Year 1: $3,300,000 draft (ceiling ) — All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636C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36C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Why FairBanks — local partner</a:t>
            </a:r>
          </a:p>
        </p:txBody>
      </p:sp>
      <p:pic>
        <p:nvPicPr>
          <p:cNvPr id="5" name="Picture 4" descr="staff_team_recepti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02920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0" y="11887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Uganda-incorporated company with Kampala operations.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Live clinic + Community Reach + working FCHIP MVP.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Named catchments already in motion.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Documented company standing (TIN, NSSF, licences) ready to attach.</a:t>
            </a:r>
          </a:p>
          <a:p>
            <a:pPr>
              <a:spcAft>
                <a:spcPts val="600"/>
              </a:spcAft>
              <a:defRPr sz="1700">
                <a:solidFill>
                  <a:srgbClr val="1E2F38"/>
                </a:solidFill>
                <a:latin typeface="Calibri"/>
              </a:defRPr>
            </a:pPr>
            <a:r>
              <a:t>Contact: info@fairbanksmedicalcentre.org · +256 772 849 258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636C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36C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Before you submit — Grants.gov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2F38"/>
                </a:solidFill>
                <a:latin typeface="Calibri"/>
              </a:defRPr>
            </a:pPr>
            <a:r>
              <a:t>SAM.gov first - get UEI (can take weeks).</a:t>
            </a:r>
          </a:p>
          <a:p>
            <a:pPr>
              <a:spcAft>
                <a:spcPts val="600"/>
              </a:spcAft>
              <a:defRPr sz="1800">
                <a:solidFill>
                  <a:srgbClr val="1E2F38"/>
                </a:solidFill>
                <a:latin typeface="Calibri"/>
              </a:defRPr>
            </a:pPr>
            <a:r>
              <a:t>Login.gov + Grants.gov organisation profile with the same email as SAM EBiz POC.</a:t>
            </a:r>
          </a:p>
          <a:p>
            <a:pPr>
              <a:spcAft>
                <a:spcPts val="600"/>
              </a:spcAft>
              <a:defRPr sz="1800">
                <a:solidFill>
                  <a:srgbClr val="1E2F38"/>
                </a:solidFill>
                <a:latin typeface="Calibri"/>
              </a:defRPr>
            </a:pPr>
            <a:r>
              <a:t>Create a workspace for CDC-RFA-JG-26-0054; AOR must Sign and Submit.</a:t>
            </a:r>
          </a:p>
          <a:p>
            <a:pPr>
              <a:spcAft>
                <a:spcPts val="600"/>
              </a:spcAft>
              <a:defRPr sz="1800">
                <a:solidFill>
                  <a:srgbClr val="1E2F38"/>
                </a:solidFill>
                <a:latin typeface="Calibri"/>
              </a:defRPr>
            </a:pPr>
            <a:r>
              <a:t>CONFIRM local partner citizenship percentages before signing the preference letter.</a:t>
            </a:r>
          </a:p>
          <a:p>
            <a:pPr>
              <a:spcAft>
                <a:spcPts val="600"/>
              </a:spcAft>
              <a:defRPr sz="1800">
                <a:solidFill>
                  <a:srgbClr val="1E2F38"/>
                </a:solidFill>
                <a:latin typeface="Calibri"/>
              </a:defRPr>
            </a:pPr>
            <a:r>
              <a:t>Deadline: 14 August 2026, 11:59 p.m. ET · Quick start: grants.gov/quick-start-guide/applicants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636C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46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2636C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Ready to help Uganda detect and respond faster — so threats stop closer to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8C4C8"/>
                </a:solidFill>
                <a:latin typeface="Calibri"/>
              </a:rPr>
              <a:t>Draft Year 1 Component 1: $2,000,000 · Local partner · MoH-aligned · Contingency surge plans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Racheal Nabukeera · info@fairbanksmedicalcentre.org · +256 772 849 258
Your health, our mission.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true" nextAc="seek">
              <p:cTn id="2" dur="indefinite" nodeType="mainSeq"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3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4" dur="45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nodeType="withEffect">
                            <p:stCondLst>
                              <p:cond delay="200"/>
                            </p:stCondLst>
                            <p:childTnLst>
                              <p:animEffect transition="in" filter="fade">
                                <p:cBhvr>
                                  <p:cTn id="8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