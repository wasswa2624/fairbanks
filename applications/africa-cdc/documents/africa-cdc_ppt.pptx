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_hero_cinematic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3657600"/>
            <a:ext cx="12191695" cy="320040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9319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4A3A3"/>
                </a:solidFill>
                <a:latin typeface="Calibri"/>
              </a:rPr>
              <a:t>Africa CDC African Epidemic Services (AES) Epidemiology Fellowship 2026–2028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38912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Fellowship Nomination — Surveillance Science for Community Health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1663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Your health, our mission.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7607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0E8E8"/>
                </a:solidFill>
                <a:latin typeface="Calibri"/>
              </a:rPr>
              <a:t>3 months training in Addis Ababa · 21 months field placement · fully funded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91440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45C26"/>
                </a:solidFill>
                <a:latin typeface="Calibri"/>
              </a:rPr>
              <a:t>AES FELLOWSHIP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8404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A1F2E"/>
                </a:solidFill>
                <a:latin typeface="Calibri"/>
              </a:rPr>
              <a:t>Two years — training, placement, fully funded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56692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E2F38"/>
                </a:solidFill>
                <a:latin typeface="Calibri"/>
              </a:rPr>
              <a:t>• 3 months core training in Addis Ababa
• 21 months field placement with employer support
• Epidemiology or Public Health Informatics track
• Stipend, travel, insurance, hardware, software
• African Union citizens under 35 in public health</a:t>
            </a:r>
          </a:p>
        </p:txBody>
      </p:sp>
      <p:pic>
        <p:nvPicPr>
          <p:cNvPr id="7" name="Picture 6" descr="indoor_training_staff_presenting_01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844671"/>
            <a:ext cx="5303520" cy="3534417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592824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FairBanks FCHIP | Africa CDC AES Fellowship | Your health, our mission.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60175" y="6592824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91440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45C26"/>
                </a:solidFill>
                <a:latin typeface="Calibri"/>
              </a:rPr>
              <a:t>SURVEILLANCE SCIENCE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8404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A1F2E"/>
                </a:solidFill>
                <a:latin typeface="Calibri"/>
              </a:rPr>
              <a:t>Platforms need trained epidemiologists — not only code</a:t>
            </a:r>
          </a:p>
        </p:txBody>
      </p:sp>
      <p:pic>
        <p:nvPicPr>
          <p:cNvPr id="6" name="Picture 5" descr="gis_hotspots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783733"/>
            <a:ext cx="5486400" cy="365629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217920" y="1097280"/>
            <a:ext cx="56692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3A4A54"/>
                </a:solidFill>
                <a:latin typeface="Calibri"/>
              </a:rPr>
              <a:t>Community signals from CHWs only become action with investigation discipline, trend analysis, and informatics pipelines.
FairBanks lives inside primary care — the right place to grow Africa's epidemic readiness.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592824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FairBanks FCHIP | Africa CDC AES Fellowship | Your health, our mission.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60175" y="6592824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91440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45C26"/>
                </a:solidFill>
                <a:latin typeface="Calibri"/>
              </a:rPr>
              <a:t>RETURN PATHWAY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8404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A1F2E"/>
                </a:solidFill>
                <a:latin typeface="Calibri"/>
              </a:rPr>
              <a:t>Training → field → FCHIP → communities</a:t>
            </a:r>
          </a:p>
        </p:txBody>
      </p:sp>
      <p:pic>
        <p:nvPicPr>
          <p:cNvPr id="6" name="Picture 5" descr="data_flow_iso_labeled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479042"/>
            <a:ext cx="6400800" cy="426567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040880" y="1097280"/>
            <a:ext cx="47548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3A4A54"/>
                </a:solidFill>
                <a:latin typeface="Calibri"/>
              </a:rPr>
              <a:t>Standardise outbreak workflows
Improve CHW data quality
Cascade training to supervisors
Validate FCHIP alerts with surveillance methods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592824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FairBanks FCHIP | Africa CDC AES Fellowship | Your health, our mission.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60175" y="6592824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91440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45C26"/>
                </a:solidFill>
                <a:latin typeface="Calibri"/>
              </a:rPr>
              <a:t>SHARED VALUE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8404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A1F2E"/>
                </a:solidFill>
                <a:latin typeface="Calibri"/>
              </a:rPr>
              <a:t>Africa CDC ↔ FairBanks ↔ communities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188720"/>
            <a:ext cx="5394960" cy="4754880"/>
          </a:xfrm>
          <a:prstGeom prst="rect">
            <a:avLst/>
          </a:prstGeom>
          <a:solidFill>
            <a:srgbClr val="FFFFFF"/>
          </a:solidFill>
          <a:ln>
            <a:solidFill>
              <a:srgbClr val="D0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D6E6E"/>
                </a:solidFill>
                <a:latin typeface="Calibri"/>
              </a:rPr>
              <a:t>FairBanks gains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2880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3A4A54"/>
                </a:solidFill>
                <a:latin typeface="Calibri"/>
              </a:rPr>
              <a:t>World-class epidemiology training; stronger surveillance modules; stipend, travel, insurance, hardware, and software covered; continental AES network access.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188720"/>
            <a:ext cx="5394960" cy="4754880"/>
          </a:xfrm>
          <a:prstGeom prst="rect">
            <a:avLst/>
          </a:prstGeom>
          <a:solidFill>
            <a:srgbClr val="FFFFFF"/>
          </a:solidFill>
          <a:ln>
            <a:solidFill>
              <a:srgbClr val="D0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3716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D6E6E"/>
                </a:solidFill>
                <a:latin typeface="Calibri"/>
              </a:rPr>
              <a:t>Africa CDC gains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82880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3A4A54"/>
                </a:solidFill>
                <a:latin typeface="Calibri"/>
              </a:rPr>
              <a:t>Fellow employed in live community health work; field placement linked to real CHW and facility data; Uganda contribution to Africa's epidemic readiness; informatics track aligned with digital community health tools.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6592824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FairBanks FCHIP | Africa CDC AES Fellowship | Your health, our mission.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60175" y="6592824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91440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45C26"/>
                </a:solidFill>
                <a:latin typeface="Calibri"/>
              </a:rPr>
              <a:t>APPLICATION AREAS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8404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A1F2E"/>
                </a:solidFill>
                <a:latin typeface="Calibri"/>
              </a:rPr>
              <a:t>Where fellowship skills meet FCHIP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143000"/>
            <a:ext cx="11155680" cy="914400"/>
          </a:xfrm>
          <a:prstGeom prst="rect">
            <a:avLst/>
          </a:prstGeom>
          <a:solidFill>
            <a:srgbClr val="FFFFFF"/>
          </a:solidFill>
          <a:ln>
            <a:solidFill>
              <a:srgbClr val="D0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143000"/>
            <a:ext cx="109728" cy="91440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28016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E2F38"/>
                </a:solidFill>
                <a:latin typeface="Calibri"/>
              </a:rPr>
              <a:t>Outbreak workflows: community fever reports trigger structured investigation and pharmacy pre-stocking before surges spread.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194560"/>
            <a:ext cx="11155680" cy="914400"/>
          </a:xfrm>
          <a:prstGeom prst="rect">
            <a:avLst/>
          </a:prstGeom>
          <a:solidFill>
            <a:srgbClr val="FFFFFF"/>
          </a:solidFill>
          <a:ln>
            <a:solidFill>
              <a:srgbClr val="D0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194560"/>
            <a:ext cx="109728" cy="91440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3317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E2F38"/>
                </a:solidFill>
                <a:latin typeface="Calibri"/>
              </a:rPr>
              <a:t>Informatics: validation rules and data-quality pipelines for offline CHW capture feeding FCHIP.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246120"/>
            <a:ext cx="11155680" cy="914400"/>
          </a:xfrm>
          <a:prstGeom prst="rect">
            <a:avLst/>
          </a:prstGeom>
          <a:solidFill>
            <a:srgbClr val="FFFFFF"/>
          </a:solidFill>
          <a:ln>
            <a:solidFill>
              <a:srgbClr val="D0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3246120"/>
            <a:ext cx="109728" cy="91440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338328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E2F38"/>
                </a:solidFill>
                <a:latin typeface="Calibri"/>
              </a:rPr>
              <a:t>Training cascade: teach CHW supervisors better data use and early-warning interpretation.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" y="6592824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FairBanks FCHIP | Africa CDC AES Fellowship | Your health, our mission.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60175" y="6592824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91440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45C26"/>
                </a:solidFill>
                <a:latin typeface="Calibri"/>
              </a:rPr>
              <a:t>24-MONTH PATHWAY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8404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A1F2E"/>
                </a:solidFill>
                <a:latin typeface="Calibri"/>
              </a:rPr>
              <a:t>Addis Ababa training → Uganda field placement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97280"/>
            <a:ext cx="11155680" cy="960120"/>
          </a:xfrm>
          <a:prstGeom prst="rect">
            <a:avLst/>
          </a:prstGeom>
          <a:solidFill>
            <a:srgbClr val="FFFFFF"/>
          </a:solidFill>
          <a:ln>
            <a:solidFill>
              <a:srgbClr val="D0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07008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6E6E"/>
                </a:solidFill>
                <a:latin typeface="Calibri"/>
              </a:rPr>
              <a:t>Months 1–3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1207008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A4A54"/>
                </a:solidFill>
                <a:latin typeface="Calibri"/>
              </a:rPr>
              <a:t>Core epidemiology and informatics training in Addis Ababa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194560"/>
            <a:ext cx="11155680" cy="960120"/>
          </a:xfrm>
          <a:prstGeom prst="rect">
            <a:avLst/>
          </a:prstGeom>
          <a:solidFill>
            <a:srgbClr val="FFFFFF"/>
          </a:solidFill>
          <a:ln>
            <a:solidFill>
              <a:srgbClr val="D0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304288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6E6E"/>
                </a:solidFill>
                <a:latin typeface="Calibri"/>
              </a:rPr>
              <a:t>Months 4–12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2304288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A4A54"/>
                </a:solidFill>
                <a:latin typeface="Calibri"/>
              </a:rPr>
              <a:t>Field placement — outbreak workflows and CHW data quality at FairBanks sites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291840"/>
            <a:ext cx="11155680" cy="960120"/>
          </a:xfrm>
          <a:prstGeom prst="rect">
            <a:avLst/>
          </a:prstGeom>
          <a:solidFill>
            <a:srgbClr val="FFFFFF"/>
          </a:solidFill>
          <a:ln>
            <a:solidFill>
              <a:srgbClr val="D0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401568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6E6E"/>
                </a:solidFill>
                <a:latin typeface="Calibri"/>
              </a:rPr>
              <a:t>Months 13–24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17520" y="3401568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A4A54"/>
                </a:solidFill>
                <a:latin typeface="Calibri"/>
              </a:rPr>
              <a:t>Advanced surveillance modules; district partner engagement; FCHIP alert validation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4389120"/>
            <a:ext cx="11155680" cy="960120"/>
          </a:xfrm>
          <a:prstGeom prst="rect">
            <a:avLst/>
          </a:prstGeom>
          <a:solidFill>
            <a:srgbClr val="FFFFFF"/>
          </a:solidFill>
          <a:ln>
            <a:solidFill>
              <a:srgbClr val="D0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4498848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6E6E"/>
                </a:solidFill>
                <a:latin typeface="Calibri"/>
              </a:rPr>
              <a:t>Throughout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17520" y="4498848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A4A54"/>
                </a:solidFill>
                <a:latin typeface="Calibri"/>
              </a:rPr>
              <a:t>Monthly learning reports; Africa CDC network participation; community feedback loops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5760" y="6592824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FairBanks FCHIP | Africa CDC AES Fellowship | Your health, our mission.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60175" y="6592824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91440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45C26"/>
                </a:solidFill>
                <a:latin typeface="Calibri"/>
              </a:rPr>
              <a:t>ELIGIBILITY FIT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8404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A1F2E"/>
                </a:solidFill>
                <a:latin typeface="Calibri"/>
              </a:rPr>
              <a:t>Nominee meets AES criteria through FairBanks employment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97280"/>
            <a:ext cx="11155680" cy="960120"/>
          </a:xfrm>
          <a:prstGeom prst="rect">
            <a:avLst/>
          </a:prstGeom>
          <a:solidFill>
            <a:srgbClr val="FFFFFF"/>
          </a:solidFill>
          <a:ln>
            <a:solidFill>
              <a:srgbClr val="D0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07008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6E6E"/>
                </a:solidFill>
                <a:latin typeface="Calibri"/>
              </a:rPr>
              <a:t>AU citizen under 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0" y="1207008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A4A54"/>
                </a:solidFill>
                <a:latin typeface="Calibri"/>
              </a:rPr>
              <a:t>Ugandan staff candidate within eligibility range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194560"/>
            <a:ext cx="11155680" cy="960120"/>
          </a:xfrm>
          <a:prstGeom prst="rect">
            <a:avLst/>
          </a:prstGeom>
          <a:solidFill>
            <a:srgbClr val="FFFFFF"/>
          </a:solidFill>
          <a:ln>
            <a:solidFill>
              <a:srgbClr val="D0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304288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6E6E"/>
                </a:solidFill>
                <a:latin typeface="Calibri"/>
              </a:rPr>
              <a:t>Employed in public health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0" y="2304288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A4A54"/>
                </a:solidFill>
                <a:latin typeface="Calibri"/>
              </a:rPr>
              <a:t>FairBanks clinical / community health employment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291840"/>
            <a:ext cx="11155680" cy="960120"/>
          </a:xfrm>
          <a:prstGeom prst="rect">
            <a:avLst/>
          </a:prstGeom>
          <a:solidFill>
            <a:srgbClr val="FFFFFF"/>
          </a:solidFill>
          <a:ln>
            <a:solidFill>
              <a:srgbClr val="D0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401568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6E6E"/>
                </a:solidFill>
                <a:latin typeface="Calibri"/>
              </a:rPr>
              <a:t>Degree + 3 years' experience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3401568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A4A54"/>
                </a:solidFill>
                <a:latin typeface="Calibri"/>
              </a:rPr>
              <a:t>Nominee will meet stated requirements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4389120"/>
            <a:ext cx="11155680" cy="960120"/>
          </a:xfrm>
          <a:prstGeom prst="rect">
            <a:avLst/>
          </a:prstGeom>
          <a:solidFill>
            <a:srgbClr val="FFFFFF"/>
          </a:solidFill>
          <a:ln>
            <a:solidFill>
              <a:srgbClr val="D0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4498848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6E6E"/>
                </a:solidFill>
                <a:latin typeface="Calibri"/>
              </a:rPr>
              <a:t>Epidemiology / Informatics tracks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31920" y="4498848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A4A54"/>
                </a:solidFill>
                <a:latin typeface="Calibri"/>
              </a:rPr>
              <a:t>Direct fit to FCHIP surveillance and data-quality goals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5760" y="6592824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FairBanks FCHIP | Africa CDC AES Fellowship | Your health, our mission.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60175" y="6592824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91440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45C26"/>
                </a:solidFill>
                <a:latin typeface="Calibri"/>
              </a:rPr>
              <a:t>FIELD FOUNDATION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8404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A1F2E"/>
                </a:solidFill>
                <a:latin typeface="Calibri"/>
              </a:rPr>
              <a:t>Live community health ecosystem in Uganda</a:t>
            </a:r>
          </a:p>
        </p:txBody>
      </p:sp>
      <p:pic>
        <p:nvPicPr>
          <p:cNvPr id="6" name="Picture 5" descr="outreach_facilitator_canopy_01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844671"/>
            <a:ext cx="5303520" cy="353441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943600" y="1097280"/>
            <a:ext cx="5760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E2F38"/>
                </a:solidFill>
                <a:latin typeface="Calibri"/>
              </a:rPr>
              <a:t>• FairBanks Medical Centre + Community Reach
• CHW/VHT networks in Kampala catchments
• Maternal, child, chronic, and outreach programmes
• FCHIP intelligence layer in development
• Employer ready to host field placement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592824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FairBanks FCHIP | Africa CDC AES Fellowship | Your health, our mission.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60175" y="6592824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outreach_audience_full_group_01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4297680"/>
            <a:ext cx="12191695" cy="256032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6634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Select our fellow — skills that return to FCHIP and Uganda's communities.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Your health, our mission.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035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0E8E8"/>
                </a:solidFill>
                <a:latin typeface="Calibri"/>
              </a:rPr>
              <a:t>Apply by 26 August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