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hero_cinemati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9A2B"/>
                </a:solidFill>
                <a:latin typeface="Calibri"/>
              </a:rPr>
              <a:t>DPI Safeguards Accelerator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8686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Safeguards for community health data tools in Uganda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00400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E8F3F2"/>
                </a:solidFill>
                <a:latin typeface="Calibri"/>
              </a:rPr>
              <a:t>We will embed consent rules, offline-friendly inclusion, and a community grievance path into FairBanks' live FCHIP platform (Capture, Analyse, Alert, Act), with KCCA Central Division health and VHTs at the table.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NGO Pathway · Uganda · USD 70,000 · 9 months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834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D99A2B"/>
                </a:solidFill>
                <a:latin typeface="Calibri"/>
              </a:rPr>
              <a:t>Stage 1 deadline: 30 July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436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45C26"/>
                </a:solidFill>
                <a:latin typeface="Calibri"/>
              </a:rPr>
              <a:t>Your health, our mission.</a:t>
            </a:r>
          </a:p>
        </p:txBody>
      </p:sp>
    </p:spTree>
  </p:cSld>
  <p:clrMapOvr>
    <a:masterClrMapping/>
  </p:clrMapOvr>
  <p:transition spd="slow" advClick="1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99A2B"/>
                </a:solidFill>
                <a:latin typeface="Calibri"/>
              </a:rPr>
              <a:t>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Safeguards before scale hardens bad habits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8F3F2"/>
                </a:solidFill>
                <a:latin typeface="Calibri"/>
              </a:rPr>
              <a:t>FCHIP MVP is entering field validation — the right moment for guardrails.</a:t>
            </a:r>
          </a:p>
        </p:txBody>
      </p:sp>
      <p:pic>
        <p:nvPicPr>
          <p:cNvPr id="6" name="Picture 5" descr="outreach_mobile_phone_demo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475488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577840" y="1828800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E2F38"/>
                </a:solidFill>
                <a:latin typeface="Calibri"/>
              </a:defRPr>
            </a:pPr>
            <a:r>
              <a:t>100+ countries advancing DPI; digital health is a sectoral use case</a:t>
            </a:r>
          </a:p>
          <a:p>
            <a:pPr>
              <a:spcAft>
                <a:spcPts val="800"/>
              </a:spcAft>
              <a:defRPr sz="1500">
                <a:solidFill>
                  <a:srgbClr val="1E2F38"/>
                </a:solidFill>
                <a:latin typeface="Calibri"/>
              </a:defRPr>
            </a:pPr>
            <a:r>
              <a:t>2026–2028 window: embed safeguards in live deployments</a:t>
            </a:r>
          </a:p>
          <a:p>
            <a:pPr>
              <a:spcAft>
                <a:spcPts val="800"/>
              </a:spcAft>
              <a:defRPr sz="1500">
                <a:solidFill>
                  <a:srgbClr val="1E2F38"/>
                </a:solidFill>
                <a:latin typeface="Calibri"/>
              </a:defRPr>
            </a:pPr>
            <a:r>
              <a:t>FCHIP already connects CHWs, clinics, and EMR/HMS APIs</a:t>
            </a:r>
          </a:p>
          <a:p>
            <a:pPr>
              <a:spcAft>
                <a:spcPts val="800"/>
              </a:spcAft>
              <a:defRPr sz="1500">
                <a:solidFill>
                  <a:srgbClr val="1E2F38"/>
                </a:solidFill>
                <a:latin typeface="Calibri"/>
              </a:defRPr>
            </a:pPr>
            <a:r>
              <a:t>Consent, inclusion, and recourse must ship with the data — not later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2 / 10</a:t>
            </a:r>
          </a:p>
        </p:txBody>
      </p:sp>
    </p:spTree>
  </p:cSld>
  <p:clrMapOvr>
    <a:masterClrMapping/>
  </p:clrMapOvr>
  <p:transition spd="slow" advClick="1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99A2B"/>
                </a:solidFill>
                <a:latin typeface="Calibri"/>
              </a:rPr>
              <a:t>OPERATING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Community Reach + FCHIP as sectoral health DPI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8F3F2"/>
                </a:solidFill>
                <a:latin typeface="Calibri"/>
              </a:rPr>
              <a:t>Safeguards sit on Data &amp; Feedback — not as a separate brochure.</a:t>
            </a:r>
          </a:p>
        </p:txBody>
      </p:sp>
      <p:pic>
        <p:nvPicPr>
          <p:cNvPr id="6" name="Picture 5" descr="concept_improved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600200"/>
            <a:ext cx="3328415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059935" y="1920240"/>
            <a:ext cx="5669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E2F38"/>
                </a:solidFill>
                <a:latin typeface="Calibri"/>
              </a:defRPr>
            </a:pPr>
            <a:r>
              <a:t>Communities → CHWs/VHTs → programmes</a:t>
            </a:r>
          </a:p>
          <a:p>
            <a:pPr>
              <a:spcAft>
                <a:spcPts val="800"/>
              </a:spcAft>
              <a:defRPr sz="1500">
                <a:solidFill>
                  <a:srgbClr val="1E2F38"/>
                </a:solidFill>
                <a:latin typeface="Calibri"/>
              </a:defRPr>
            </a:pPr>
            <a:r>
              <a:t>Medical centre anchors clinical action</a:t>
            </a:r>
          </a:p>
          <a:p>
            <a:pPr>
              <a:spcAft>
                <a:spcPts val="800"/>
              </a:spcAft>
              <a:defRPr sz="1500">
                <a:solidFill>
                  <a:srgbClr val="1E2F38"/>
                </a:solidFill>
                <a:latin typeface="Calibri"/>
              </a:defRPr>
            </a:pPr>
            <a:r>
              <a:t>Research, skills, partners strengthen learning</a:t>
            </a:r>
          </a:p>
          <a:p>
            <a:pPr>
              <a:spcAft>
                <a:spcPts val="800"/>
              </a:spcAft>
              <a:defRPr sz="1500">
                <a:solidFill>
                  <a:srgbClr val="1E2F38"/>
                </a:solidFill>
                <a:latin typeface="Calibri"/>
              </a:defRPr>
            </a:pPr>
            <a:r>
              <a:t>CHIS and livelihoods support access</a:t>
            </a:r>
          </a:p>
          <a:p>
            <a:pPr>
              <a:spcAft>
                <a:spcPts val="800"/>
              </a:spcAft>
              <a:defRPr sz="1500">
                <a:solidFill>
                  <a:srgbClr val="1E2F38"/>
                </a:solidFill>
                <a:latin typeface="Calibri"/>
              </a:defRPr>
            </a:pPr>
            <a:r>
              <a:t>FCHIP powers Data &amp; Feedback with GIS and alerts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3 / 10</a:t>
            </a:r>
          </a:p>
        </p:txBody>
      </p:sp>
    </p:spTree>
  </p:cSld>
  <p:clrMapOvr>
    <a:masterClrMapping/>
  </p:clrMapOvr>
  <p:transition spd="slow" advClick="1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99A2B"/>
                </a:solidFill>
                <a:latin typeface="Calibri"/>
              </a:rPr>
              <a:t>THE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Digital health without operational safeguards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8F3F2"/>
                </a:solidFill>
                <a:latin typeface="Calibri"/>
              </a:rPr>
              <a:t>Community and clinic health data are going digital in Kampala, but consent, offline access, and a simple way to challenge mistakes are still thin — so trust can fail just as the tools scale.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920240"/>
            <a:ext cx="3566160" cy="3840480"/>
          </a:xfrm>
          <a:prstGeom prst="rect">
            <a:avLst/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920240"/>
            <a:ext cx="3566160" cy="64008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057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Privacy risk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E2F38"/>
                </a:solidFill>
                <a:latin typeface="Calibri"/>
              </a:rPr>
              <a:t>Data moves across CHW, clinic, and API layers without clear consent scopes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920240"/>
            <a:ext cx="3566160" cy="3840480"/>
          </a:xfrm>
          <a:prstGeom prst="rect">
            <a:avLst/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920240"/>
            <a:ext cx="3566160" cy="64008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2057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Exclusion risk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83464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E2F38"/>
                </a:solidFill>
                <a:latin typeface="Calibri"/>
              </a:rPr>
              <a:t>Offline and low-literacy users drop out of digital pathways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2440" y="1920240"/>
            <a:ext cx="3566160" cy="3840480"/>
          </a:xfrm>
          <a:prstGeom prst="rect">
            <a:avLst/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920240"/>
            <a:ext cx="3566160" cy="64008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2057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Accountability 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83464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E2F38"/>
                </a:solidFill>
                <a:latin typeface="Calibri"/>
              </a:rPr>
              <a:t>People lack a simple recourse when alerts or records go wrong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9224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4 / 10</a:t>
            </a:r>
          </a:p>
        </p:txBody>
      </p:sp>
    </p:spTree>
  </p:cSld>
  <p:clrMapOvr>
    <a:masterClrMapping/>
  </p:clrMapOvr>
  <p:transition spd="slow" advClick="1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99A2B"/>
                </a:solidFill>
                <a:latin typeface="Calibri"/>
              </a:rPr>
              <a:t>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Three issue-specific safeguards in a live DPI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8F3F2"/>
                </a:solidFill>
                <a:latin typeface="Calibri"/>
              </a:rPr>
              <a:t>Issue-specific safeguards 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91640"/>
            <a:ext cx="11064240" cy="1280160"/>
          </a:xfrm>
          <a:prstGeom prst="rect">
            <a:avLst/>
          </a:prstGeom>
          <a:solidFill>
            <a:srgbClr val="E8F3F2"/>
          </a:solidFill>
          <a:ln>
            <a:solidFill>
              <a:srgbClr val="0D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1168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6E6E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92024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A1F2E"/>
                </a:solidFill>
                <a:latin typeface="Calibri"/>
              </a:rPr>
              <a:t>Responsible data 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237744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2636C"/>
                </a:solidFill>
                <a:latin typeface="Calibri"/>
              </a:rPr>
              <a:t>Consent + least-privilege EMR/HMS APIs + audit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108960"/>
            <a:ext cx="11064240" cy="1280160"/>
          </a:xfrm>
          <a:prstGeom prst="rect">
            <a:avLst/>
          </a:prstGeom>
          <a:solidFill>
            <a:srgbClr val="E8F3F2"/>
          </a:solidFill>
          <a:ln>
            <a:solidFill>
              <a:srgbClr val="0D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42900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6E6E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333756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A1F2E"/>
                </a:solidFill>
                <a:latin typeface="Calibri"/>
              </a:rPr>
              <a:t>Offline inclusion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79476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2636C"/>
                </a:solidFill>
                <a:latin typeface="Calibri"/>
              </a:rPr>
              <a:t>CHW tools and UX that work without always-on internet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526280"/>
            <a:ext cx="11064240" cy="1280160"/>
          </a:xfrm>
          <a:prstGeom prst="rect">
            <a:avLst/>
          </a:prstGeom>
          <a:solidFill>
            <a:srgbClr val="E8F3F2"/>
          </a:solidFill>
          <a:ln>
            <a:solidFill>
              <a:srgbClr val="0D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8463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D6E6E"/>
                </a:solidFill>
                <a:latin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75488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A1F2E"/>
                </a:solidFill>
                <a:latin typeface="Calibri"/>
              </a:rPr>
              <a:t>Grievance pathway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521208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2636C"/>
                </a:solidFill>
                <a:latin typeface="Calibri"/>
              </a:rPr>
              <a:t>Named recourse for data and alert-related concerns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9224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9224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5 / 10</a:t>
            </a:r>
          </a:p>
        </p:txBody>
      </p:sp>
    </p:spTree>
  </p:cSld>
  <p:clrMapOvr>
    <a:masterClrMapping/>
  </p:clrMapOvr>
  <p:transition spd="slow" advClick="1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99A2B"/>
                </a:solidFill>
                <a:latin typeface="Calibri"/>
              </a:rPr>
              <a:t>WHERE SAFEGUARDS LAND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Capture → FCHIP intelligence → action — with guardrails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8F3F2"/>
                </a:solidFill>
                <a:latin typeface="Calibri"/>
              </a:rPr>
              <a:t>APIs to existing EMR/HMS expand coverage without ripping out systems.</a:t>
            </a:r>
          </a:p>
        </p:txBody>
      </p:sp>
      <p:pic>
        <p:nvPicPr>
          <p:cNvPr id="6" name="Picture 5" descr="data_flow_iso_labe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676656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79" y="2011680"/>
            <a:ext cx="4114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E2F38"/>
                </a:solidFill>
                <a:latin typeface="Calibri"/>
              </a:defRPr>
            </a:pPr>
            <a:r>
              <a:t>CHW/VHT offline capture</a:t>
            </a:r>
          </a:p>
          <a:p>
            <a:pPr>
              <a:spcAft>
                <a:spcPts val="800"/>
              </a:spcAft>
              <a:defRPr sz="1500">
                <a:solidFill>
                  <a:srgbClr val="1E2F38"/>
                </a:solidFill>
                <a:latin typeface="Calibri"/>
              </a:defRPr>
            </a:pPr>
            <a:r>
              <a:t>Secure EMR/HMS data APIs</a:t>
            </a:r>
          </a:p>
          <a:p>
            <a:pPr>
              <a:spcAft>
                <a:spcPts val="800"/>
              </a:spcAft>
              <a:defRPr sz="1500">
                <a:solidFill>
                  <a:srgbClr val="1E2F38"/>
                </a:solidFill>
                <a:latin typeface="Calibri"/>
              </a:defRPr>
            </a:pPr>
            <a:r>
              <a:t>Consent and purpose limits</a:t>
            </a:r>
          </a:p>
          <a:p>
            <a:pPr>
              <a:spcAft>
                <a:spcPts val="800"/>
              </a:spcAft>
              <a:defRPr sz="1500">
                <a:solidFill>
                  <a:srgbClr val="1E2F38"/>
                </a:solidFill>
                <a:latin typeface="Calibri"/>
              </a:defRPr>
            </a:pPr>
            <a:r>
              <a:t>Role-based access and audit</a:t>
            </a:r>
          </a:p>
          <a:p>
            <a:pPr>
              <a:spcAft>
                <a:spcPts val="800"/>
              </a:spcAft>
              <a:defRPr sz="1500">
                <a:solidFill>
                  <a:srgbClr val="1E2F38"/>
                </a:solidFill>
                <a:latin typeface="Calibri"/>
              </a:defRPr>
            </a:pPr>
            <a:r>
              <a:t>Alerts back to field and facility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6 / 10</a:t>
            </a:r>
          </a:p>
        </p:txBody>
      </p:sp>
    </p:spTree>
  </p:cSld>
  <p:clrMapOvr>
    <a:masterClrMapping/>
  </p:clrMapOvr>
  <p:transition spd="slow" advClick="1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99A2B"/>
                </a:solidFill>
                <a:latin typeface="Calibri"/>
              </a:rPr>
              <a:t>6–9 MONTH OUTPUTS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Operational assets, not paper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8F3F2"/>
                </a:solidFill>
                <a:latin typeface="Calibri"/>
              </a:rPr>
              <a:t>Draft catalytic ask: USD 70,000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91640"/>
            <a:ext cx="5532120" cy="1234440"/>
          </a:xfrm>
          <a:prstGeom prst="rect">
            <a:avLst/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574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6E6E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05740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A1F2E"/>
                </a:solidFill>
                <a:latin typeface="Calibri"/>
              </a:rPr>
              <a:t>Safeguards risk &amp; gap brief (Framework-mapped)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59" y="1691640"/>
            <a:ext cx="5532120" cy="1234440"/>
          </a:xfrm>
          <a:prstGeom prst="rect">
            <a:avLst/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59" y="20574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6E6E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59" y="205740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A1F2E"/>
                </a:solidFill>
                <a:latin typeface="Calibri"/>
              </a:rPr>
              <a:t>Consent &amp; data-sharing protocol for APIs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108960"/>
            <a:ext cx="5532120" cy="1234440"/>
          </a:xfrm>
          <a:prstGeom prst="rect">
            <a:avLst/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47472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6E6E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47472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A1F2E"/>
                </a:solidFill>
                <a:latin typeface="Calibri"/>
              </a:rPr>
              <a:t>Inclusion playbook (offline + vulnerable groups)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59" y="3108960"/>
            <a:ext cx="5532120" cy="1234440"/>
          </a:xfrm>
          <a:prstGeom prst="rect">
            <a:avLst/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59" y="347472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6E6E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59" y="347472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A1F2E"/>
                </a:solidFill>
                <a:latin typeface="Calibri"/>
              </a:rPr>
              <a:t>Community grievance / recourse pathway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526280"/>
            <a:ext cx="5532120" cy="1234440"/>
          </a:xfrm>
          <a:prstGeom prst="rect">
            <a:avLst/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89204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6E6E"/>
                </a:solidFill>
                <a:latin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489204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A1F2E"/>
                </a:solidFill>
                <a:latin typeface="Calibri"/>
              </a:rPr>
              <a:t>Multistakeholder working group (live cadence)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59" y="4526280"/>
            <a:ext cx="5532120" cy="1234440"/>
          </a:xfrm>
          <a:prstGeom prst="rect">
            <a:avLst/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59" y="489204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6E6E"/>
                </a:solidFill>
                <a:latin typeface="Calibri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59" y="489204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A1F2E"/>
                </a:solidFill>
                <a:latin typeface="Calibri"/>
              </a:rPr>
              <a:t>Public learning note for the Resource Hub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9224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9224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7 / 10</a:t>
            </a:r>
          </a:p>
        </p:txBody>
      </p:sp>
    </p:spTree>
  </p:cSld>
  <p:clrMapOvr>
    <a:masterClrMapping/>
  </p:clrMapOvr>
  <p:transition spd="slow" advClick="1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99A2B"/>
                </a:solidFill>
                <a:latin typeface="Calibri"/>
              </a:rPr>
              <a:t>COORDINATION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Government · FairBanks · civil society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8F3F2"/>
                </a:solidFill>
                <a:latin typeface="Calibri"/>
              </a:rPr>
              <a:t>Meaningful integration — defined roles in co-design, validation, monitoring</a:t>
            </a:r>
          </a:p>
        </p:txBody>
      </p:sp>
      <p:pic>
        <p:nvPicPr>
          <p:cNvPr id="6" name="Picture 5" descr="outreach_audience_full_group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502920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60720" y="1828800"/>
            <a:ext cx="5852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E2F38"/>
                </a:solidFill>
                <a:latin typeface="Calibri"/>
              </a:defRPr>
            </a:pPr>
            <a:r>
              <a:t>Government counterpart validates priorities and joins the working group</a:t>
            </a:r>
          </a:p>
          <a:p>
            <a:pPr>
              <a:spcAft>
                <a:spcPts val="800"/>
              </a:spcAft>
              <a:defRPr sz="1400">
                <a:solidFill>
                  <a:srgbClr val="1E2F38"/>
                </a:solidFill>
                <a:latin typeface="Calibri"/>
              </a:defRPr>
            </a:pPr>
            <a:r>
              <a:t>FairBanks implements protocols inside FCHIP and Community Reach</a:t>
            </a:r>
          </a:p>
          <a:p>
            <a:pPr>
              <a:spcAft>
                <a:spcPts val="800"/>
              </a:spcAft>
              <a:defRPr sz="1400">
                <a:solidFill>
                  <a:srgbClr val="1E2F38"/>
                </a:solidFill>
                <a:latin typeface="Calibri"/>
              </a:defRPr>
            </a:pPr>
            <a:r>
              <a:t>VHTs and community champions co-design consent and grievance language</a:t>
            </a:r>
          </a:p>
          <a:p>
            <a:pPr>
              <a:spcAft>
                <a:spcPts val="800"/>
              </a:spcAft>
              <a:defRPr sz="1400">
                <a:solidFill>
                  <a:srgbClr val="1E2F38"/>
                </a:solidFill>
                <a:latin typeface="Calibri"/>
              </a:defRPr>
            </a:pPr>
            <a:r>
              <a:t>Facility/EMR contacts advise on least-privilege API scopes</a:t>
            </a:r>
          </a:p>
          <a:p>
            <a:pPr>
              <a:spcAft>
                <a:spcPts val="800"/>
              </a:spcAft>
              <a:defRPr sz="1400">
                <a:solidFill>
                  <a:srgbClr val="1E2F38"/>
                </a:solidFill>
                <a:latin typeface="Calibri"/>
              </a:defRPr>
            </a:pPr>
            <a:r>
              <a:t>Monthly reviews + quarterly listening sessions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8 / 10</a:t>
            </a:r>
          </a:p>
        </p:txBody>
      </p:sp>
    </p:spTree>
  </p:cSld>
  <p:clrMapOvr>
    <a:masterClrMapping/>
  </p:clrMapOvr>
  <p:transition spd="slow" advClick="1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99A2B"/>
                </a:solidFill>
                <a:latin typeface="Calibri"/>
              </a:rPr>
              <a:t>CATALYTIC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USD 70,000 over 9 months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8F3F2"/>
                </a:solidFill>
                <a:latin typeface="Calibri"/>
              </a:rPr>
              <a:t>Accelerates safeguards mobilisation — does not replace existing Community Reach financing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91640"/>
            <a:ext cx="10881360" cy="685800"/>
          </a:xfrm>
          <a:prstGeom prst="rect">
            <a:avLst/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2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1F2E"/>
                </a:solidFill>
                <a:latin typeface="Calibri"/>
              </a:rPr>
              <a:t>Staff time, VHT/community stipends, safeguards facilitation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18745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0A1F2E"/>
                </a:solidFill>
                <a:latin typeface="Calibri"/>
              </a:rPr>
              <a:t>USD 28,000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468880"/>
            <a:ext cx="10881360" cy="685800"/>
          </a:xfrm>
          <a:prstGeom prst="rect">
            <a:avLst/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5176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1F2E"/>
                </a:solidFill>
                <a:latin typeface="Calibri"/>
              </a:rPr>
              <a:t>Technical work (consent, access controls, offline UX, grievance tooling)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6517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0A1F2E"/>
                </a:solidFill>
                <a:latin typeface="Calibri"/>
              </a:rPr>
              <a:t>USD 21,000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246120"/>
            <a:ext cx="10881360" cy="685800"/>
          </a:xfrm>
          <a:prstGeom prst="rect">
            <a:avLst/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42900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1F2E"/>
                </a:solidFill>
                <a:latin typeface="Calibri"/>
              </a:rPr>
              <a:t>Workshops, local travel, translation, printing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34290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0A1F2E"/>
                </a:solidFill>
                <a:latin typeface="Calibri"/>
              </a:rPr>
              <a:t>USD 10,500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10881360" cy="685800"/>
          </a:xfrm>
          <a:prstGeom prst="rect">
            <a:avLst/>
          </a:prstGeom>
          <a:solidFill>
            <a:srgbClr val="FFFFFF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20624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A1F2E"/>
                </a:solidFill>
                <a:latin typeface="Calibri"/>
              </a:rPr>
              <a:t>Monitoring, documentation, learning note, cohort participation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42062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0A1F2E"/>
                </a:solidFill>
                <a:latin typeface="Calibri"/>
              </a:rPr>
              <a:t>USD 10,500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800600"/>
            <a:ext cx="10881360" cy="685800"/>
          </a:xfrm>
          <a:prstGeom prst="rect">
            <a:avLst/>
          </a:prstGeom>
          <a:solidFill>
            <a:srgbClr val="0D6E6E"/>
          </a:solidFill>
          <a:ln>
            <a:solidFill>
              <a:srgbClr val="CED9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98348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Total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49834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Calibri"/>
              </a:rPr>
              <a:t>USD 70,000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2636C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92240"/>
            <a:ext cx="1188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2636C"/>
                </a:solidFill>
                <a:latin typeface="Calibri"/>
              </a:rPr>
              <a:t>9 / 10</a:t>
            </a:r>
          </a:p>
        </p:txBody>
      </p:sp>
    </p:spTree>
  </p:cSld>
  <p:clrMapOvr>
    <a:masterClrMapping/>
  </p:clrMapOvr>
  <p:transition spd="slow" advClick="1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acility_exterior_entrance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99A2B"/>
                </a:solidFill>
                <a:latin typeface="Calibri"/>
              </a:rPr>
              <a:t>READY FOR STAGE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Submit the NGO pathway form before Wave 3 closes.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200400"/>
            <a:ext cx="9144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Use FAIRBANKS MEDICAL CENTRE LIMITED; counterpart KCCA Central Division health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Paste Stage 1 answers from stage1_airtable_answers.md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Same day: start the KCCA support-letter request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3949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8F3F2"/>
                </a:solidFill>
                <a:latin typeface="Calibri"/>
              </a:rPr>
              <a:t>https://airtable.com/appcltTa6tzGwskOA/pagJNFsEqox4M5WAU/form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9436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45C26"/>
                </a:solidFill>
                <a:latin typeface="Calibri"/>
              </a:rPr>
              <a:t>Your health, our mission.</a:t>
            </a:r>
          </a:p>
        </p:txBody>
      </p:sp>
    </p:spTree>
  </p:cSld>
  <p:clrMapOvr>
    <a:masterClrMapping/>
  </p:clrMapOvr>
  <p:transition spd="slow"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