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hero_cinemat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9A2B"/>
                </a:solidFill>
                <a:latin typeface="Calibri"/>
              </a:rPr>
              <a:t>DPI Safeguards Accelerator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Safeguards for community health data tools in Uganda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F3F2"/>
                </a:solidFill>
                <a:latin typeface="Calibri"/>
              </a:rPr>
              <a:t>We will embed consent rules, offline-friendly inclusion, and a community grievance path into FairBanks' live FCHIP health data platform in Kawempe, with KCCA Division health and VHTs at the 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NGO Pathway · Uganda · USD 70,000 · 9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83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99A2B"/>
                </a:solidFill>
                <a:latin typeface="Calibri"/>
              </a:rPr>
              <a:t>Stage 1 deadline: 30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5C26"/>
                </a:solidFill>
                <a:latin typeface="Calibri"/>
              </a:rPr>
              <a:t>Your health, our mission.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9A2B"/>
                </a:solidFill>
                <a:latin typeface="Calibr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Safeguards before scale hardens bad habits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3F2"/>
                </a:solidFill>
                <a:latin typeface="Calibri"/>
              </a:rPr>
              <a:t>FCHIP MVP is entering field validation — the right moment for guardrails.</a:t>
            </a:r>
          </a:p>
        </p:txBody>
      </p:sp>
      <p:pic>
        <p:nvPicPr>
          <p:cNvPr id="6" name="Picture 5" descr="outreach_mobile_phone_demo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475488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77840" y="18288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F38"/>
                </a:solidFill>
                <a:latin typeface="Calibri"/>
              </a:defRPr>
            </a:pPr>
            <a:r>
              <a:t>100+ countries advancing DPI; digital health is a sectoral use case</a:t>
            </a:r>
          </a:p>
          <a:p>
            <a:pPr>
              <a:spcAft>
                <a:spcPts val="800"/>
              </a:spcAft>
              <a:defRPr sz="1500">
                <a:solidFill>
                  <a:srgbClr val="1E2F38"/>
                </a:solidFill>
                <a:latin typeface="Calibri"/>
              </a:defRPr>
            </a:pPr>
            <a:r>
              <a:t>2026–2028 window: embed safeguards in live deployments</a:t>
            </a:r>
          </a:p>
          <a:p>
            <a:pPr>
              <a:spcAft>
                <a:spcPts val="800"/>
              </a:spcAft>
              <a:defRPr sz="1500">
                <a:solidFill>
                  <a:srgbClr val="1E2F38"/>
                </a:solidFill>
                <a:latin typeface="Calibri"/>
              </a:defRPr>
            </a:pPr>
            <a:r>
              <a:t>FCHIP already connects CHWs, clinics, and EMR/HMS APIs</a:t>
            </a:r>
          </a:p>
          <a:p>
            <a:pPr>
              <a:spcAft>
                <a:spcPts val="800"/>
              </a:spcAft>
              <a:defRPr sz="1500">
                <a:solidFill>
                  <a:srgbClr val="1E2F38"/>
                </a:solidFill>
                <a:latin typeface="Calibri"/>
              </a:defRPr>
            </a:pPr>
            <a:r>
              <a:t>Consent, inclusion, and recourse must ship with the data — not later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636C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36C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9A2B"/>
                </a:solidFill>
                <a:latin typeface="Calibri"/>
              </a:rPr>
              <a:t>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Community Reach + FCHIP as sectoral health DPI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3F2"/>
                </a:solidFill>
                <a:latin typeface="Calibri"/>
              </a:rPr>
              <a:t>Safeguards sit on Data &amp; Feedback — not as a separate brochure.</a:t>
            </a:r>
          </a:p>
        </p:txBody>
      </p:sp>
      <p:pic>
        <p:nvPicPr>
          <p:cNvPr id="6" name="Picture 5" descr="concept_improve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00200"/>
            <a:ext cx="3328415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59935" y="1920240"/>
            <a:ext cx="5669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F38"/>
                </a:solidFill>
                <a:latin typeface="Calibri"/>
              </a:defRPr>
            </a:pPr>
            <a:r>
              <a:t>Communities → CHWs/VHTs → programmes</a:t>
            </a:r>
          </a:p>
          <a:p>
            <a:pPr>
              <a:spcAft>
                <a:spcPts val="800"/>
              </a:spcAft>
              <a:defRPr sz="1500">
                <a:solidFill>
                  <a:srgbClr val="1E2F38"/>
                </a:solidFill>
                <a:latin typeface="Calibri"/>
              </a:defRPr>
            </a:pPr>
            <a:r>
              <a:t>Medical centre anchors clinical action</a:t>
            </a:r>
          </a:p>
          <a:p>
            <a:pPr>
              <a:spcAft>
                <a:spcPts val="800"/>
              </a:spcAft>
              <a:defRPr sz="1500">
                <a:solidFill>
                  <a:srgbClr val="1E2F38"/>
                </a:solidFill>
                <a:latin typeface="Calibri"/>
              </a:defRPr>
            </a:pPr>
            <a:r>
              <a:t>Research, skills, partners strengthen learning</a:t>
            </a:r>
          </a:p>
          <a:p>
            <a:pPr>
              <a:spcAft>
                <a:spcPts val="800"/>
              </a:spcAft>
              <a:defRPr sz="1500">
                <a:solidFill>
                  <a:srgbClr val="1E2F38"/>
                </a:solidFill>
                <a:latin typeface="Calibri"/>
              </a:defRPr>
            </a:pPr>
            <a:r>
              <a:t>CHIS and livelihoods support access</a:t>
            </a:r>
          </a:p>
          <a:p>
            <a:pPr>
              <a:spcAft>
                <a:spcPts val="800"/>
              </a:spcAft>
              <a:defRPr sz="1500">
                <a:solidFill>
                  <a:srgbClr val="1E2F38"/>
                </a:solidFill>
                <a:latin typeface="Calibri"/>
              </a:defRPr>
            </a:pPr>
            <a:r>
              <a:t>FCHIP powers Data &amp; Feedback with GIS and alerts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636C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36C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9A2B"/>
                </a:solidFill>
                <a:latin typeface="Calibri"/>
              </a:rP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Digital health without operational safeguards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3F2"/>
                </a:solidFill>
                <a:latin typeface="Calibri"/>
              </a:rPr>
              <a:t>Community and clinic health data are going digital in Kampala, but consent, offline access, and a simple way to challenge mistakes are still thin — so trust can fail just as the tools scale.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356616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CE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3566160" cy="64008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Privacy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F38"/>
                </a:solidFill>
                <a:latin typeface="Calibri"/>
              </a:rPr>
              <a:t>Data moves across CHW, clinic, and API layers without clear consent scopes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920240"/>
            <a:ext cx="356616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CE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920240"/>
            <a:ext cx="3566160" cy="64008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Exclusion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83464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F38"/>
                </a:solidFill>
                <a:latin typeface="Calibri"/>
              </a:rPr>
              <a:t>Offline and low-literacy users drop out of digital pathways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920240"/>
            <a:ext cx="356616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CE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920240"/>
            <a:ext cx="3566160" cy="64008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Accountability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83464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F38"/>
                </a:solidFill>
                <a:latin typeface="Calibri"/>
              </a:rPr>
              <a:t>People lack a simple recourse when alerts or records go wrong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636C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36C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9A2B"/>
                </a:solidFill>
                <a:latin typeface="Calibri"/>
              </a:rPr>
              <a:t>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Three issue-specific safeguards in a live DPI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3F2"/>
                </a:solidFill>
                <a:latin typeface="Calibri"/>
              </a:rPr>
              <a:t>Issue-specific safeguards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1280160"/>
          </a:xfrm>
          <a:prstGeom prst="rect">
            <a:avLst/>
          </a:prstGeom>
          <a:solidFill>
            <a:srgbClr val="E8F3F2"/>
          </a:solidFill>
          <a:ln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6E6E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9202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A1F2E"/>
                </a:solidFill>
                <a:latin typeface="Calibri"/>
              </a:rPr>
              <a:t>Responsible data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3774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636C"/>
                </a:solidFill>
                <a:latin typeface="Calibri"/>
              </a:rPr>
              <a:t>Consent + least-privilege EMR/HMS APIs + audit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11064240" cy="1280160"/>
          </a:xfrm>
          <a:prstGeom prst="rect">
            <a:avLst/>
          </a:prstGeom>
          <a:solidFill>
            <a:srgbClr val="E8F3F2"/>
          </a:solidFill>
          <a:ln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429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6E6E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3375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A1F2E"/>
                </a:solidFill>
                <a:latin typeface="Calibri"/>
              </a:rPr>
              <a:t>Offline inclusion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7947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636C"/>
                </a:solidFill>
                <a:latin typeface="Calibri"/>
              </a:rPr>
              <a:t>CHW tools and UX that work without always-on internet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26280"/>
            <a:ext cx="11064240" cy="1280160"/>
          </a:xfrm>
          <a:prstGeom prst="rect">
            <a:avLst/>
          </a:prstGeom>
          <a:solidFill>
            <a:srgbClr val="E8F3F2"/>
          </a:solidFill>
          <a:ln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846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6E6E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7548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A1F2E"/>
                </a:solidFill>
                <a:latin typeface="Calibri"/>
              </a:rPr>
              <a:t>Grievance pathway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2120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636C"/>
                </a:solidFill>
                <a:latin typeface="Calibri"/>
              </a:rPr>
              <a:t>Named recourse for data and alert-related concerns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636C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36C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9A2B"/>
                </a:solidFill>
                <a:latin typeface="Calibri"/>
              </a:rPr>
              <a:t>WHERE SAFEGUARDS 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Capture → FCHIP intelligence → action — with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3F2"/>
                </a:solidFill>
                <a:latin typeface="Calibri"/>
              </a:rPr>
              <a:t>APIs to existing EMR/HMS expand coverage without ripping out systems.</a:t>
            </a:r>
          </a:p>
        </p:txBody>
      </p:sp>
      <p:pic>
        <p:nvPicPr>
          <p:cNvPr id="6" name="Picture 5" descr="data_flow_iso_labe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676656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2011680"/>
            <a:ext cx="4114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F38"/>
                </a:solidFill>
                <a:latin typeface="Calibri"/>
              </a:defRPr>
            </a:pPr>
            <a:r>
              <a:t>CHW/VHT offline capture</a:t>
            </a:r>
          </a:p>
          <a:p>
            <a:pPr>
              <a:spcAft>
                <a:spcPts val="800"/>
              </a:spcAft>
              <a:defRPr sz="1500">
                <a:solidFill>
                  <a:srgbClr val="1E2F38"/>
                </a:solidFill>
                <a:latin typeface="Calibri"/>
              </a:defRPr>
            </a:pPr>
            <a:r>
              <a:t>Secure EMR/HMS data APIs</a:t>
            </a:r>
          </a:p>
          <a:p>
            <a:pPr>
              <a:spcAft>
                <a:spcPts val="800"/>
              </a:spcAft>
              <a:defRPr sz="1500">
                <a:solidFill>
                  <a:srgbClr val="1E2F38"/>
                </a:solidFill>
                <a:latin typeface="Calibri"/>
              </a:defRPr>
            </a:pPr>
            <a:r>
              <a:t>Consent and purpose limits</a:t>
            </a:r>
          </a:p>
          <a:p>
            <a:pPr>
              <a:spcAft>
                <a:spcPts val="800"/>
              </a:spcAft>
              <a:defRPr sz="1500">
                <a:solidFill>
                  <a:srgbClr val="1E2F38"/>
                </a:solidFill>
                <a:latin typeface="Calibri"/>
              </a:defRPr>
            </a:pPr>
            <a:r>
              <a:t>Role-based access and audit</a:t>
            </a:r>
          </a:p>
          <a:p>
            <a:pPr>
              <a:spcAft>
                <a:spcPts val="800"/>
              </a:spcAft>
              <a:defRPr sz="1500">
                <a:solidFill>
                  <a:srgbClr val="1E2F38"/>
                </a:solidFill>
                <a:latin typeface="Calibri"/>
              </a:defRPr>
            </a:pPr>
            <a:r>
              <a:t>Alerts back to field and facility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636C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36C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9A2B"/>
                </a:solidFill>
                <a:latin typeface="Calibri"/>
              </a:rPr>
              <a:t>6–9 MONTH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Operational assets, not paper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3F2"/>
                </a:solidFill>
                <a:latin typeface="Calibri"/>
              </a:rPr>
              <a:t>Draft catalytic ask: USD 70,000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55321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E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6E6E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05740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F2E"/>
                </a:solidFill>
                <a:latin typeface="Calibri"/>
              </a:rPr>
              <a:t>Safeguards risk &amp; gap brief (Framework-mapped)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691640"/>
            <a:ext cx="55321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E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59" y="2057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6E6E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59" y="205740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F2E"/>
                </a:solidFill>
                <a:latin typeface="Calibri"/>
              </a:rPr>
              <a:t>Consent &amp; data-sharing protocol for APIs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5321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E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6E6E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4747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F2E"/>
                </a:solidFill>
                <a:latin typeface="Calibri"/>
              </a:rPr>
              <a:t>Inclusion playbook (offline + vulnerable groups)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3108960"/>
            <a:ext cx="55321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E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3474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6E6E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59" y="34747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F2E"/>
                </a:solidFill>
                <a:latin typeface="Calibri"/>
              </a:rPr>
              <a:t>Community grievance / recourse pathway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526280"/>
            <a:ext cx="55321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E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6E6E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89204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F2E"/>
                </a:solidFill>
                <a:latin typeface="Calibri"/>
              </a:rPr>
              <a:t>Multistakeholder working group (live cadence)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59" y="4526280"/>
            <a:ext cx="55321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E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59" y="4892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6E6E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59" y="489204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F2E"/>
                </a:solidFill>
                <a:latin typeface="Calibri"/>
              </a:rPr>
              <a:t>Public learning note for the Resource 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636C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36C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9A2B"/>
                </a:solidFill>
                <a:latin typeface="Calibri"/>
              </a:rPr>
              <a:t>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Government · FairBanks · civil society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3F2"/>
                </a:solidFill>
                <a:latin typeface="Calibri"/>
              </a:rPr>
              <a:t>Meaningful integration — defined roles in co-design, validation, monitoring</a:t>
            </a:r>
          </a:p>
        </p:txBody>
      </p:sp>
      <p:pic>
        <p:nvPicPr>
          <p:cNvPr id="6" name="Picture 5" descr="outreach_audience_full_group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02920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60720" y="1828800"/>
            <a:ext cx="5852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F38"/>
                </a:solidFill>
                <a:latin typeface="Calibri"/>
              </a:defRPr>
            </a:pPr>
            <a:r>
              <a:t>Government counterpart validates priorities and joins the working group</a:t>
            </a:r>
          </a:p>
          <a:p>
            <a:pPr>
              <a:spcAft>
                <a:spcPts val="800"/>
              </a:spcAft>
              <a:defRPr sz="1400">
                <a:solidFill>
                  <a:srgbClr val="1E2F38"/>
                </a:solidFill>
                <a:latin typeface="Calibri"/>
              </a:defRPr>
            </a:pPr>
            <a:r>
              <a:t>FairBanks implements protocols inside FCHIP and Community Reach</a:t>
            </a:r>
          </a:p>
          <a:p>
            <a:pPr>
              <a:spcAft>
                <a:spcPts val="800"/>
              </a:spcAft>
              <a:defRPr sz="1400">
                <a:solidFill>
                  <a:srgbClr val="1E2F38"/>
                </a:solidFill>
                <a:latin typeface="Calibri"/>
              </a:defRPr>
            </a:pPr>
            <a:r>
              <a:t>VHTs and community champions co-design consent and grievance language</a:t>
            </a:r>
          </a:p>
          <a:p>
            <a:pPr>
              <a:spcAft>
                <a:spcPts val="800"/>
              </a:spcAft>
              <a:defRPr sz="1400">
                <a:solidFill>
                  <a:srgbClr val="1E2F38"/>
                </a:solidFill>
                <a:latin typeface="Calibri"/>
              </a:defRPr>
            </a:pPr>
            <a:r>
              <a:t>Facility/EMR contacts advise on least-privilege API scopes</a:t>
            </a:r>
          </a:p>
          <a:p>
            <a:pPr>
              <a:spcAft>
                <a:spcPts val="800"/>
              </a:spcAft>
              <a:defRPr sz="1400">
                <a:solidFill>
                  <a:srgbClr val="1E2F38"/>
                </a:solidFill>
                <a:latin typeface="Calibri"/>
              </a:defRPr>
            </a:pPr>
            <a:r>
              <a:t>Monthly reviews + quarterly listening 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636C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36C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9A2B"/>
                </a:solidFill>
                <a:latin typeface="Calibri"/>
              </a:rPr>
              <a:t>CATALYTIC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USD 70,000 over 9 months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3F2"/>
                </a:solidFill>
                <a:latin typeface="Calibri"/>
              </a:rPr>
              <a:t>Accelerates safeguards mobilisation — does not replace existing Community Reach financing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8813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CE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F2E"/>
                </a:solidFill>
                <a:latin typeface="Calibri"/>
              </a:rPr>
              <a:t>Staff time, VHT/community stipends, safeguards facilitation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874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A1F2E"/>
                </a:solidFill>
                <a:latin typeface="Calibri"/>
              </a:rPr>
              <a:t>USD 28,000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68880"/>
            <a:ext cx="108813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CE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F2E"/>
                </a:solidFill>
                <a:latin typeface="Calibri"/>
              </a:rPr>
              <a:t>Technical work (consent, access controls, offline UX, grievance tooling)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A1F2E"/>
                </a:solidFill>
                <a:latin typeface="Calibri"/>
              </a:rPr>
              <a:t>USD 21,000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46120"/>
            <a:ext cx="108813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CE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4290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F2E"/>
                </a:solidFill>
                <a:latin typeface="Calibri"/>
              </a:rPr>
              <a:t>Workshops, local travel, translation, printing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429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A1F2E"/>
                </a:solidFill>
                <a:latin typeface="Calibri"/>
              </a:rPr>
              <a:t>USD 10,500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108813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CE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062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F2E"/>
                </a:solidFill>
                <a:latin typeface="Calibri"/>
              </a:rPr>
              <a:t>Monitoring, documentation, learning note, cohort participation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206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A1F2E"/>
                </a:solidFill>
                <a:latin typeface="Calibri"/>
              </a:rPr>
              <a:t>USD 10,500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00600"/>
            <a:ext cx="10881360" cy="685800"/>
          </a:xfrm>
          <a:prstGeom prst="rect">
            <a:avLst/>
          </a:prstGeom>
          <a:solidFill>
            <a:srgbClr val="0D6E6E"/>
          </a:solidFill>
          <a:ln>
            <a:solidFill>
              <a:srgbClr val="CE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9834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983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USD 70,000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636C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36C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acility_exterior_entranc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9A2B"/>
                </a:solidFill>
                <a:latin typeface="Calibri"/>
              </a:rPr>
              <a:t>READY FOR 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Submit the NGO pathway form before Wave 3 closes.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0040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Use FAIRBANKS MEDICAL CENTRE LIMITED; counterpart KCCA / Kawempe Division health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Paste Stage 1 answers from stage1_airtable_answers.md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Same day: start the KCCA support-letter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94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3F2"/>
                </a:solidFill>
                <a:latin typeface="Calibri"/>
              </a:rPr>
              <a:t>https://airtable.com/appcltTa6tzGwskOA/pagJNFsEqox4M5WAU/form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5C26"/>
                </a:solidFill>
                <a:latin typeface="Calibri"/>
              </a:rPr>
              <a:t>Your health, our mission.</a:t>
            </a:r>
          </a:p>
        </p:txBody>
      </p:sp>
    </p:spTree>
  </p:cSld>
  <p:clrMapOvr>
    <a:masterClrMapping/>
  </p:clrMapOvr>
  <p:transition spd="slow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