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9A2B"/>
                </a:solidFill>
                <a:latin typeface="Calibri"/>
              </a:rPr>
              <a:t>DPI Safeguards Accelerator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Safeguards for community health DPI in Uganda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8F3F2"/>
                </a:solidFill>
                <a:latin typeface="Calibri"/>
              </a:rPr>
              <a:t>Embed three live safeguards into FairBanks' FCHIP sectoral digital health DPI: responsible consent and EMR/HMS data sharing; offline-first inclusion; and a community grievance pathway — co-owned with government and civil society.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NGO Pathway · Uganda · USD 70,000 · 9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83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99A2B"/>
                </a:solidFill>
                <a:latin typeface="Calibri"/>
              </a:rPr>
              <a:t>Stage 1 deadline: 30 July 2026 (Stage 1 final Wave 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5C26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  <p:transition spd="slow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9A2B"/>
                </a:solidFill>
                <a:latin typeface="Calibri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Safeguards before scale hardens bad habits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F3F2"/>
                </a:solidFill>
                <a:latin typeface="Calibri"/>
              </a:rPr>
              <a:t>FCHIP MVP is entering field validation — the right moment for guardrails.</a:t>
            </a:r>
          </a:p>
        </p:txBody>
      </p:sp>
      <p:pic>
        <p:nvPicPr>
          <p:cNvPr id="6" name="Picture 5" descr="outreach_mobile_phone_demo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475488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77840" y="182880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100+ countries advancing DPI; digital health is a sectoral use case</a:t>
            </a:r>
          </a:p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2026–2028 window: embed safeguards in live deployments</a:t>
            </a:r>
          </a:p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FCHIP already connects CHWs, clinics, and EMR/HMS APIs</a:t>
            </a:r>
          </a:p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Consent, inclusion, and recourse must ship with the data — not later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  <p:transition spd="slow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9A2B"/>
                </a:solidFill>
                <a:latin typeface="Calibri"/>
              </a:rPr>
              <a:t>OPERATING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Community Reach + FCHIP as sectoral health DPI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F3F2"/>
                </a:solidFill>
                <a:latin typeface="Calibri"/>
              </a:rPr>
              <a:t>Safeguards sit on Data &amp; Feedback — not as a separate brochure.</a:t>
            </a:r>
          </a:p>
        </p:txBody>
      </p:sp>
      <p:pic>
        <p:nvPicPr>
          <p:cNvPr id="6" name="Picture 5" descr="concept_improve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00200"/>
            <a:ext cx="3328415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59935" y="1920240"/>
            <a:ext cx="5669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Communities → CHWs/VHTs → programmes</a:t>
            </a:r>
          </a:p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Medical centre anchors clinical action</a:t>
            </a:r>
          </a:p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Research, skills, partners strengthen learning</a:t>
            </a:r>
          </a:p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CHIS and livelihoods support access</a:t>
            </a:r>
          </a:p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FCHIP powers Data &amp; Feedback with GIS and alerts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  <p:transition spd="slow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9A2B"/>
                </a:solidFill>
                <a:latin typeface="Calibri"/>
              </a:rPr>
              <a:t>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Digital health without operational safeguards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F3F2"/>
                </a:solidFill>
                <a:latin typeface="Calibri"/>
              </a:rPr>
              <a:t>As Uganda expands digital health tools, community and facility data often move without clear consent, inclusion for offline users, or a simple way for people to challenge mistakes. Trust then lags behind technology — and exclusion grows.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356616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3566160" cy="64008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Privacy 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E2F38"/>
                </a:solidFill>
                <a:latin typeface="Calibri"/>
              </a:rPr>
              <a:t>Data moves across CHW, clinic, and API layers without clear consent scopes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920240"/>
            <a:ext cx="356616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920240"/>
            <a:ext cx="3566160" cy="64008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2057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Exclusion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83464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E2F38"/>
                </a:solidFill>
                <a:latin typeface="Calibri"/>
              </a:rPr>
              <a:t>Offline and low-literacy users drop out of digital pathways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920240"/>
            <a:ext cx="356616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920240"/>
            <a:ext cx="3566160" cy="64008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057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Accountability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83464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E2F38"/>
                </a:solidFill>
                <a:latin typeface="Calibri"/>
              </a:rPr>
              <a:t>People lack a simple recourse when alerts or records go wrong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922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  <p:transition spd="slow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9A2B"/>
                </a:solidFill>
                <a:latin typeface="Calibri"/>
              </a:rPr>
              <a:t>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Three issue-specific safeguards in a live DPI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F3F2"/>
                </a:solidFill>
                <a:latin typeface="Calibri"/>
              </a:rPr>
              <a:t>Issue-specific safeguards work (with a short system-level risk map)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1280160"/>
          </a:xfrm>
          <a:prstGeom prst="rect">
            <a:avLst/>
          </a:prstGeom>
          <a:solidFill>
            <a:srgbClr val="E8F3F2"/>
          </a:solidFill>
          <a:ln>
            <a:solidFill>
              <a:srgbClr val="0D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6E6E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9202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A1F2E"/>
                </a:solidFill>
                <a:latin typeface="Calibri"/>
              </a:rPr>
              <a:t>Responsible data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3774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636C"/>
                </a:solidFill>
                <a:latin typeface="Calibri"/>
              </a:rPr>
              <a:t>Consent + least-privilege EMR/HMS APIs + audit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08960"/>
            <a:ext cx="11064240" cy="1280160"/>
          </a:xfrm>
          <a:prstGeom prst="rect">
            <a:avLst/>
          </a:prstGeom>
          <a:solidFill>
            <a:srgbClr val="E8F3F2"/>
          </a:solidFill>
          <a:ln>
            <a:solidFill>
              <a:srgbClr val="0D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4290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6E6E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33375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A1F2E"/>
                </a:solidFill>
                <a:latin typeface="Calibri"/>
              </a:rPr>
              <a:t>Offline inclusion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7947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636C"/>
                </a:solidFill>
                <a:latin typeface="Calibri"/>
              </a:rPr>
              <a:t>CHW tools and UX that work without always-on internet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526280"/>
            <a:ext cx="11064240" cy="1280160"/>
          </a:xfrm>
          <a:prstGeom prst="rect">
            <a:avLst/>
          </a:prstGeom>
          <a:solidFill>
            <a:srgbClr val="E8F3F2"/>
          </a:solidFill>
          <a:ln>
            <a:solidFill>
              <a:srgbClr val="0D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6E6E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75488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A1F2E"/>
                </a:solidFill>
                <a:latin typeface="Calibri"/>
              </a:rPr>
              <a:t>Grievance pathway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21208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636C"/>
                </a:solidFill>
                <a:latin typeface="Calibri"/>
              </a:rPr>
              <a:t>Named recourse for data and alert-related concerns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922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  <p:transition spd="slow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9A2B"/>
                </a:solidFill>
                <a:latin typeface="Calibri"/>
              </a:rPr>
              <a:t>WHERE SAFEGUARDS 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Capture → FCHIP intelligence → action — with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F3F2"/>
                </a:solidFill>
                <a:latin typeface="Calibri"/>
              </a:rPr>
              <a:t>APIs to existing EMR/HMS expand coverage without ripping out systems.</a:t>
            </a:r>
          </a:p>
        </p:txBody>
      </p:sp>
      <p:pic>
        <p:nvPicPr>
          <p:cNvPr id="6" name="Picture 5" descr="data_flow_iso_labe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76656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2011680"/>
            <a:ext cx="4114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CHW/VHT offline capture</a:t>
            </a:r>
          </a:p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Secure EMR/HMS data APIs</a:t>
            </a:r>
          </a:p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Consent and purpose limits</a:t>
            </a:r>
          </a:p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Role-based access and audit</a:t>
            </a:r>
          </a:p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Alerts back to field and facility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  <p:transition spd="slow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9A2B"/>
                </a:solidFill>
                <a:latin typeface="Calibri"/>
              </a:rPr>
              <a:t>6–9 MONTH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Operational assets, not paper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F3F2"/>
                </a:solidFill>
                <a:latin typeface="Calibri"/>
              </a:rPr>
              <a:t>Draft catalytic ask: USD 70,000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91640"/>
            <a:ext cx="5532120" cy="123444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6E6E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0574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Safeguards risk &amp; gap brief (Framework-mapped)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1691640"/>
            <a:ext cx="5532120" cy="123444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20574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6E6E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59" y="20574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Consent &amp; data-sharing protocol for APIs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532120" cy="123444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4747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6E6E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Inclusion playbook (offline + vulnerable groups)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59" y="3108960"/>
            <a:ext cx="5532120" cy="123444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34747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6E6E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59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Community grievance / recourse pathway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526280"/>
            <a:ext cx="5532120" cy="123444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8920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6E6E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8920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Multistakeholder working group (live cadence)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59" y="4526280"/>
            <a:ext cx="5532120" cy="123444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59" y="48920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6E6E"/>
                </a:solidFill>
                <a:latin typeface="Calibr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59" y="48920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Public learning note for the Resource Hub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922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  <p:transition spd="slow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9A2B"/>
                </a:solidFill>
                <a:latin typeface="Calibri"/>
              </a:rPr>
              <a:t>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Government · FairBanks · civil society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F3F2"/>
                </a:solidFill>
                <a:latin typeface="Calibri"/>
              </a:rPr>
              <a:t>Meaningful integration — defined roles in co-design, validation, monitoring</a:t>
            </a:r>
          </a:p>
        </p:txBody>
      </p:sp>
      <p:pic>
        <p:nvPicPr>
          <p:cNvPr id="6" name="Picture 5" descr="outreach_audience_full_group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50292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60720" y="1828800"/>
            <a:ext cx="5852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E2F38"/>
                </a:solidFill>
                <a:latin typeface="Calibri"/>
              </a:defRPr>
            </a:pPr>
            <a:r>
              <a:t>Government counterpart validates priorities and joins the working group</a:t>
            </a:r>
          </a:p>
          <a:p>
            <a:pPr>
              <a:spcAft>
                <a:spcPts val="800"/>
              </a:spcAft>
              <a:defRPr sz="1400">
                <a:solidFill>
                  <a:srgbClr val="1E2F38"/>
                </a:solidFill>
                <a:latin typeface="Calibri"/>
              </a:defRPr>
            </a:pPr>
            <a:r>
              <a:t>FairBanks implements protocols inside FCHIP and Community Reach</a:t>
            </a:r>
          </a:p>
          <a:p>
            <a:pPr>
              <a:spcAft>
                <a:spcPts val="800"/>
              </a:spcAft>
              <a:defRPr sz="1400">
                <a:solidFill>
                  <a:srgbClr val="1E2F38"/>
                </a:solidFill>
                <a:latin typeface="Calibri"/>
              </a:defRPr>
            </a:pPr>
            <a:r>
              <a:t>VHTs and community champions co-design consent and grievance language</a:t>
            </a:r>
          </a:p>
          <a:p>
            <a:pPr>
              <a:spcAft>
                <a:spcPts val="800"/>
              </a:spcAft>
              <a:defRPr sz="1400">
                <a:solidFill>
                  <a:srgbClr val="1E2F38"/>
                </a:solidFill>
                <a:latin typeface="Calibri"/>
              </a:defRPr>
            </a:pPr>
            <a:r>
              <a:t>Facility/EMR contacts advise on least-privilege API scopes</a:t>
            </a:r>
          </a:p>
          <a:p>
            <a:pPr>
              <a:spcAft>
                <a:spcPts val="800"/>
              </a:spcAft>
              <a:defRPr sz="1400">
                <a:solidFill>
                  <a:srgbClr val="1E2F38"/>
                </a:solidFill>
                <a:latin typeface="Calibri"/>
              </a:defRPr>
            </a:pPr>
            <a:r>
              <a:t>Monthly reviews + quarterly listening sessions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  <p:transition spd="slow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9A2B"/>
                </a:solidFill>
                <a:latin typeface="Calibri"/>
              </a:rPr>
              <a:t>CATALYTIC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USD 70,000 over 9 months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F3F2"/>
                </a:solidFill>
                <a:latin typeface="Calibri"/>
              </a:rPr>
              <a:t>Accelerates safeguards mobilisation — does not replace existing Community Reach financing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Safeguards lead, clinical/data-protection time, VHT/CHW stipends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8745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A1F2E"/>
                </a:solidFill>
                <a:latin typeface="Calibri"/>
              </a:rPr>
              <a:t>USD 28,000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68880"/>
            <a:ext cx="10881360" cy="68580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Technical implementation (consent flows, API scopes, offline UX, grievance tooling)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651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A1F2E"/>
                </a:solidFill>
                <a:latin typeface="Calibri"/>
              </a:rPr>
              <a:t>USD 21,000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46120"/>
            <a:ext cx="10881360" cy="68580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4290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Workshops, community sessions, local travel, translation, materials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34290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A1F2E"/>
                </a:solidFill>
                <a:latin typeface="Calibri"/>
              </a:rPr>
              <a:t>USD 10,500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10881360" cy="68580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06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MEL, documentation, Resource Hub learning note, cohort participation costs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42062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A1F2E"/>
                </a:solidFill>
                <a:latin typeface="Calibri"/>
              </a:rPr>
              <a:t>USD 10,500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800600"/>
            <a:ext cx="10881360" cy="685800"/>
          </a:xfrm>
          <a:prstGeom prst="rect">
            <a:avLst/>
          </a:prstGeom>
          <a:solidFill>
            <a:srgbClr val="0D6E6E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9834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Total catalytic 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983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Calibri"/>
              </a:rPr>
              <a:t>USD 70,000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922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  <p:transition spd="slow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acility_exterior_entranc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9A2B"/>
                </a:solidFill>
                <a:latin typeface="Calibri"/>
              </a:rPr>
              <a:t>READY FOR 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Submit the NGO pathway form before Wave 3 closes.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Confirm legal eligibility and government counterpart ([CONFIRM BEFORE SUBMISSION])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Paste Stage 1 answers from the Word pack / stage1_airtable_answers.md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Start the Stage 2 government letter request the same 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949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F3F2"/>
                </a:solidFill>
                <a:latin typeface="Calibri"/>
              </a:rPr>
              <a:t>https://airtable.com/appcltTa6tzGwskOA/pagJNFsEqox4M5WAU/form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43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5C26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  <p:transition spd="slow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