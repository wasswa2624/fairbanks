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46" r="4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337560"/>
            <a:ext cx="12191695" cy="352044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11880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Fund for Innovation in Development (FID) — Call for Proposals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2336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7091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(FCHIP)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2C79B"/>
                </a:solidFill>
                <a:latin typeface="Calibri"/>
              </a:rPr>
              <a:t>Predictive community health that keeps families out of poverty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Requested stage: Pilot Grant (up to €200,000) — pathway to Impact Evaluation &amp; Scale-Up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When illness strikes, poverty follows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4540"/>
            <a:ext cx="52120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280160"/>
            <a:ext cx="5760720" cy="4983480"/>
          </a:xfrm>
          <a:prstGeom prst="rect">
            <a:avLst/>
          </a:prstGeom>
          <a:noFill/>
        </p:spPr>
        <p:txBody>
          <a:bodyPr wrap="square" lIns="25400" rIns="50800" tIns="25400" bIns="25400">
            <a:spAutoFit/>
          </a:bodyPr>
          <a:lstStyle/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700">
                <a:solidFill>
                  <a:srgbClr val="1E2F38"/>
                </a:solidFill>
                <a:latin typeface="Calibri"/>
              </a:rPr>
              <a:t>•  Care starts only after people fall sick — outbreaks caught late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700">
                <a:solidFill>
                  <a:srgbClr val="1E2F38"/>
                </a:solidFill>
                <a:latin typeface="Calibri"/>
              </a:rPr>
              <a:t>•  Community data trapped in paper registers and silos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700">
                <a:solidFill>
                  <a:srgbClr val="1E2F38"/>
                </a:solidFill>
                <a:latin typeface="Calibri"/>
              </a:rPr>
              <a:t>•  High-risk pregnancies and NCDs identified too late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700">
                <a:solidFill>
                  <a:srgbClr val="1E2F38"/>
                </a:solidFill>
                <a:latin typeface="Calibri"/>
              </a:rPr>
              <a:t>•  Medicine stock-outs during seasonal surges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700">
                <a:solidFill>
                  <a:srgbClr val="1E2F38"/>
                </a:solidFill>
                <a:latin typeface="Calibri"/>
              </a:rPr>
              <a:t>•  Health shocks push poor families into catastrophic spending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FCHIP: community data becomes prediction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7820"/>
            <a:ext cx="6492240" cy="4328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78040" y="1234440"/>
            <a:ext cx="4617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1234440"/>
            <a:ext cx="4617720" cy="7315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42632" y="1362456"/>
            <a:ext cx="4288536" cy="43525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2" y="1887321"/>
            <a:ext cx="4288536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Offline CHW/VHT mobile tools at the household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953512"/>
            <a:ext cx="4617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2953512"/>
            <a:ext cx="4617720" cy="7315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2" y="3081528"/>
            <a:ext cx="4288536" cy="43525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2" y="3606393"/>
            <a:ext cx="4288536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AI/ML risk scoring, GIS hotspots, decision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672584"/>
            <a:ext cx="4617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672584"/>
            <a:ext cx="4617720" cy="7315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4800600"/>
            <a:ext cx="4288536" cy="43525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5325465"/>
            <a:ext cx="4288536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Alerts to CHWs, clinics, districts, insurers, 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Substantial engineering, not a light app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95500"/>
            <a:ext cx="5029200" cy="3352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720" y="1197864"/>
            <a:ext cx="598932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252728"/>
            <a:ext cx="56692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27048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074164"/>
            <a:ext cx="598932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129028"/>
            <a:ext cx="56692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3348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Pattern learning from community data, seasonal trends,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950464"/>
            <a:ext cx="598932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005328"/>
            <a:ext cx="56692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79648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resource-gap visualisation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826764"/>
            <a:ext cx="598932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881628"/>
            <a:ext cx="56692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155948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703064"/>
            <a:ext cx="598932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757928"/>
            <a:ext cx="56692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32248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facilities, partners, administrative levels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5579364"/>
            <a:ext cx="598932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634228"/>
            <a:ext cx="566928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&amp; NLP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908548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Live dashboards; local-language symptom capture where useful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THEORY OF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From data to poverty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1284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12848" cy="5029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2212848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1993392" cy="4160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FID Pilot Grant; FairBanks live operations; CHW/VHT networks; mobile + cloud + AI stack.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371600"/>
            <a:ext cx="221284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9776" y="1371600"/>
            <a:ext cx="2212848" cy="5029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444752"/>
            <a:ext cx="2212848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011680"/>
            <a:ext cx="1993392" cy="4160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Build offline capture app, cloud pipeline, AI risk models, GIS layer, and dashboards; train CHWs; run pilot.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371600"/>
            <a:ext cx="221284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02352" y="1371600"/>
            <a:ext cx="2212848" cy="5029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444752"/>
            <a:ext cx="2212848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993392" cy="4160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Structured community health data; predictive alerts; facility/district dashboards; referrals triggered.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8" y="1371600"/>
            <a:ext cx="221284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8" y="1371600"/>
            <a:ext cx="2212848" cy="5029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444752"/>
            <a:ext cx="2212848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2011680"/>
            <a:ext cx="1993392" cy="4160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Earlier detection and referral; fewer missed high-risk cases; fewer stock-outs; better-targeted outreach.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47504" y="1371600"/>
            <a:ext cx="221284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47504" y="1371600"/>
            <a:ext cx="2212848" cy="50292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1444752"/>
            <a:ext cx="2212848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011680"/>
            <a:ext cx="1993392" cy="4160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4"/>
                </a:solidFill>
                <a:latin typeface="Calibri"/>
              </a:rPr>
              <a:t>Reduced preventable illness and health-driven poverty; lower inequality for underserved communities.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EVIDENCE OF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Built to be measured and evaluated</a:t>
            </a:r>
          </a:p>
        </p:txBody>
      </p:sp>
      <p:pic>
        <p:nvPicPr>
          <p:cNvPr id="6" name="Picture 5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95500"/>
            <a:ext cx="5029200" cy="3352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234440"/>
            <a:ext cx="5943600" cy="5074920"/>
          </a:xfrm>
          <a:prstGeom prst="rect">
            <a:avLst/>
          </a:prstGeom>
          <a:noFill/>
        </p:spPr>
        <p:txBody>
          <a:bodyPr wrap="square" lIns="25400" rIns="50800" tIns="25400" bIns="2540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Existing evidence: CHW/mHealth programmes and community-based early warning have documented gains in maternal, child, and communicable-disease outcomes across sub-Saharan Africa; FCHIP builds on this base by adding predictive intelligence across multiple data sources.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Baseline data: FairBanks outreach screening, maternal programmes, pharmacy dispensing, and facility encounters already generate the signals needed to establish a credible pre-intervention baseline.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Measurable outcomes: alert accuracy, time-to-referral, proportion of high-risk pregnancies identified early, immunisation and screening coverage, and stock-out frequency.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Evaluation pathway: the pilot is designed so that a subsequent counterfactual impact evaluation (comparison communities) can rigorously test effect sizes — the qualifying step toward FID's Impact Evaluation and Scale-Up stages.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COST &amp; COST-EFFECTIVENESS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Prevention costs less than late treatment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669280" cy="5074920"/>
          </a:xfrm>
          <a:prstGeom prst="rect">
            <a:avLst/>
          </a:prstGeom>
          <a:noFill/>
        </p:spPr>
        <p:txBody>
          <a:bodyPr wrap="square" lIns="25400" rIns="50800" tIns="25400" bIns="25400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Builds on assets that already exist — a live medical centre, trained CHW/VHT networks, and outreach programmes — so the pilot avoids the cost of standing up field operations from scratch.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Offline-first, mobile-based capture keeps hardware and connectivity costs low and works in low-bandwidth settings.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Prevention is cheaper than late treatment: early detection of outbreaks, maternal risk, and NCDs reduces costly emergency care and lost livelihoods.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A shared platform serves many users (CHWs, clinics, districts, insurers), spreading cost and improving cost per beneficiary as coverage grows.</a:t>
            </a:r>
          </a:p>
        </p:txBody>
      </p:sp>
      <p:pic>
        <p:nvPicPr>
          <p:cNvPr id="7" name="Picture 6" descr="outreach_bp_screenin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73580"/>
            <a:ext cx="5394960" cy="3596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SCALE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portable model with diversified revenue</a:t>
            </a:r>
          </a:p>
        </p:txBody>
      </p:sp>
      <p:pic>
        <p:nvPicPr>
          <p:cNvPr id="6" name="Picture 5" descr="dashboard_demo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73580"/>
            <a:ext cx="5394960" cy="3596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234440"/>
            <a:ext cx="5669280" cy="5074920"/>
          </a:xfrm>
          <a:prstGeom prst="rect">
            <a:avLst/>
          </a:prstGeom>
          <a:noFill/>
        </p:spPr>
        <p:txBody>
          <a:bodyPr wrap="square" lIns="25400" rIns="50800" tIns="25400" bIns="25400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Technical scalability: cloud architecture and standard mobile tools extend from one catchment to many districts without redesign.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Model portability: CHW/VHT systems exist across Uganda and much of Africa, so the approach transfers to other ODA-eligible markets.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Financial sustainability: diversified revenue — clinic/hospital subscriptions, district and Ministry of Health deployments, NGO programme monitoring, insurer analytics, and partner APIs — reduces reliance on grants over time.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Policy pathway: evidence generated in the pilot supports integration into public health planning and district decision-making, aligning with FID's public-policy funding streams.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venture, ready to pilot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2620"/>
            <a:ext cx="5577840" cy="3718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34440"/>
            <a:ext cx="5486400" cy="5074920"/>
          </a:xfrm>
          <a:prstGeom prst="rect">
            <a:avLst/>
          </a:prstGeom>
          <a:noFill/>
        </p:spPr>
        <p:txBody>
          <a:bodyPr wrap="square" lIns="25400" rIns="50800" tIns="25400" bIns="2540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direct patient and community access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Kikaaya, and surrounding areas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Established CHW and VHT relationships and trust in target communities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screening, corporate &amp; school health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foundation and pharmacy operations already generating data signals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community partnerships that support ethical data use and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PLAN &amp;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Pilot first, then evaluate and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D6E6E"/>
                </a:solidFill>
                <a:latin typeface="Calibri"/>
              </a:rPr>
              <a:t>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77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91440" cy="11201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2E"/>
                </a:solidFill>
                <a:latin typeface="Calibri"/>
              </a:rPr>
              <a:t>Phase 1 — Pilot  (0–12 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4"/>
                </a:solidFill>
                <a:latin typeface="Calibri"/>
              </a:rPr>
              <a:t>MVP live with FairBanks CHWs/VHTs; validate 3 use cases; establish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66060"/>
            <a:ext cx="5577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66060"/>
            <a:ext cx="91440" cy="11201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1780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2E"/>
                </a:solidFill>
                <a:latin typeface="Calibri"/>
              </a:rPr>
              <a:t>Phase 2 — Impact evaluation prep  (12–18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8610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4"/>
                </a:solidFill>
                <a:latin typeface="Calibri"/>
              </a:rPr>
              <a:t>Counterfactual design; comparison communities; measurement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577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91440" cy="11201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2E"/>
                </a:solidFill>
                <a:latin typeface="Calibri"/>
              </a:rPr>
              <a:t>Phase 3 — District scale  (18–36 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4"/>
                </a:solidFill>
                <a:latin typeface="Calibri"/>
              </a:rPr>
              <a:t>Partner clinics and district structures; NGO/insurer modules;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89220"/>
            <a:ext cx="5577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89220"/>
            <a:ext cx="91440" cy="112014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34940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2E"/>
                </a:solidFill>
                <a:latin typeface="Calibri"/>
              </a:rPr>
              <a:t>Phase 4 — Scale-up  (Year 3+)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0926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4"/>
                </a:solidFill>
                <a:latin typeface="Calibri"/>
              </a:rPr>
              <a:t>Multi-district Uganda; East Africa entry; policy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14300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D6E6E"/>
                </a:solidFill>
                <a:latin typeface="Calibri"/>
              </a:rPr>
              <a:t>Indicative pilot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545336"/>
            <a:ext cx="5394960" cy="734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618488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F38"/>
                </a:solidFill>
                <a:latin typeface="Calibri"/>
              </a:rPr>
              <a:t>Product &amp;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1618488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Calibri"/>
              </a:rPr>
              <a:t>€70,000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53056"/>
            <a:ext cx="5394960" cy="734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26208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F38"/>
                </a:solidFill>
                <a:latin typeface="Calibri"/>
              </a:rPr>
              <a:t>Field pilot &amp; CHW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426208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Calibri"/>
              </a:rPr>
              <a:t>€45,000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60776"/>
            <a:ext cx="5394960" cy="734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233928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F38"/>
                </a:solidFill>
                <a:latin typeface="Calibri"/>
              </a:rPr>
              <a:t>Data, evaluation &amp; M&amp;E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233928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Calibri"/>
              </a:rPr>
              <a:t>€35,000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968496"/>
            <a:ext cx="5394960" cy="734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041648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F38"/>
                </a:solidFill>
                <a:latin typeface="Calibri"/>
              </a:rPr>
              <a:t>Data governance &amp;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4041648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Calibri"/>
              </a:rPr>
              <a:t>€15,000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776216"/>
            <a:ext cx="5394960" cy="734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849368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F38"/>
                </a:solidFill>
                <a:latin typeface="Calibri"/>
              </a:rPr>
              <a:t>Project management &amp;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849368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Calibri"/>
              </a:rPr>
              <a:t>€35,000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583936"/>
            <a:ext cx="5394960" cy="734568"/>
          </a:xfrm>
          <a:prstGeom prst="rect">
            <a:avLst/>
          </a:prstGeom>
          <a:solidFill>
            <a:srgbClr val="E8F0F0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657088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1F2E"/>
                </a:solidFill>
                <a:latin typeface="Calibri"/>
              </a:rPr>
              <a:t>Total (indicative Pilot Grant)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5657088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Calibri"/>
              </a:rPr>
              <a:t>€200,000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IT FITS FID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Evidence, cost-effectiveness,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658368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22860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Evidence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34440"/>
            <a:ext cx="38862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Clear theory of change, baseline data, and a pathway to counterfactual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658368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8890"/>
            <a:ext cx="22860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Cost &amp; cost-effectiveness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48890"/>
            <a:ext cx="38862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Builds on existing assets; prevention reduces costly late treatment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658368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63340"/>
            <a:ext cx="22860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Scale &amp; sustainability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63340"/>
            <a:ext cx="38862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Portable model; diversified revenue; policy-integration pathway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658368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77790"/>
            <a:ext cx="22860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Poverty &amp; inequality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177790"/>
            <a:ext cx="3886200" cy="113157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Targets underserved communities where health shocks drive poverty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143000"/>
            <a:ext cx="4480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SDG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508760"/>
            <a:ext cx="4480560" cy="4800600"/>
          </a:xfrm>
          <a:prstGeom prst="rect">
            <a:avLst/>
          </a:prstGeom>
          <a:noFill/>
        </p:spPr>
        <p:txBody>
          <a:bodyPr wrap="square" lIns="25400" rIns="50800" tIns="25400" bIns="25400">
            <a:spAutoFit/>
          </a:bodyPr>
          <a:lstStyle/>
          <a:p>
            <a:pPr>
              <a:lnSpc>
                <a:spcPts val="1600"/>
              </a:lnSpc>
              <a:spcAft>
                <a:spcPts val="5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SDG 1 — No Poverty: Prevents health-shock-driven catastrophic spending and lost income</a:t>
            </a:r>
          </a:p>
          <a:p>
            <a:pPr>
              <a:lnSpc>
                <a:spcPts val="1600"/>
              </a:lnSpc>
              <a:spcAft>
                <a:spcPts val="5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SDG 3 — Good Health &amp; Well-Being: Predictive community health; maternal/child/NCD focus</a:t>
            </a:r>
          </a:p>
          <a:p>
            <a:pPr>
              <a:lnSpc>
                <a:spcPts val="1600"/>
              </a:lnSpc>
              <a:spcAft>
                <a:spcPts val="5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SDG 5 — Gender Equality: Women-led venture; maternal health intelligence</a:t>
            </a:r>
          </a:p>
          <a:p>
            <a:pPr>
              <a:lnSpc>
                <a:spcPts val="1600"/>
              </a:lnSpc>
              <a:spcAft>
                <a:spcPts val="5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SDG 10 — Reduced Inequalities: Intelligence and care for underserved communities</a:t>
            </a:r>
          </a:p>
          <a:p>
            <a:pPr>
              <a:lnSpc>
                <a:spcPts val="1600"/>
              </a:lnSpc>
              <a:spcAft>
                <a:spcPts val="5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SDG 17 — Partnerships: Government, NGO, insurer, and academic collaboration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FID Call for Proposals 2026  |  Your health, our mission.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60520"/>
            <a:ext cx="1097280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 Pilot Grant to validate FCHIP in FairBanks' live catchment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0060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and prove the pathway to evaluation and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864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Predictive community health that keeps families out of poverty.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350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