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hero_cinematic_opt.jpg"/>
          <p:cNvPicPr>
            <a:picLocks noChangeAspect="1"/>
          </p:cNvPicPr>
          <p:nvPr/>
        </p:nvPicPr>
        <p:blipFill>
          <a:blip r:embed="rId2"/>
          <a:srcRect l="46" r="46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3337560"/>
            <a:ext cx="12191695" cy="3520440"/>
          </a:xfrm>
          <a:prstGeom prst="rect">
            <a:avLst/>
          </a:prstGeom>
          <a:solidFill>
            <a:srgbClr val="0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611880"/>
            <a:ext cx="10972800" cy="29260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4A3A3"/>
                </a:solidFill>
                <a:latin typeface="Calibri"/>
              </a:rPr>
              <a:t>Fund for Innovation in Development (FID) — Call for Proposals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023360"/>
            <a:ext cx="1097280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FairBanks Community Health Intelligence Platform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709160"/>
            <a:ext cx="109728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(FCHIP)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5303520"/>
            <a:ext cx="109728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F2C79B"/>
                </a:solidFill>
                <a:latin typeface="Calibri"/>
              </a:rPr>
              <a:t>Predictive community health that keeps families out of poverty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5806440"/>
            <a:ext cx="109728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172200"/>
            <a:ext cx="109728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D0E8E8"/>
                </a:solidFill>
                <a:latin typeface="Calibri"/>
              </a:rPr>
              <a:t>Requested stage: Pilot Grant (up to €200,000) — pathway to Impact Evaluation &amp; Scale-Up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960120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47548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A1F2E"/>
                </a:solidFill>
                <a:latin typeface="Calibri"/>
              </a:rPr>
              <a:t>When illness strikes, poverty follows</a:t>
            </a:r>
          </a:p>
        </p:txBody>
      </p:sp>
      <p:pic>
        <p:nvPicPr>
          <p:cNvPr id="6" name="Picture 5" descr="reactive_clinic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34540"/>
            <a:ext cx="5212080" cy="3474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0" y="1280160"/>
            <a:ext cx="5760720" cy="4983480"/>
          </a:xfrm>
          <a:prstGeom prst="rect">
            <a:avLst/>
          </a:prstGeom>
          <a:noFill/>
        </p:spPr>
        <p:txBody>
          <a:bodyPr wrap="square" lIns="25400" rIns="50800" tIns="25400" bIns="25400">
            <a:spAutoFit/>
          </a:bodyPr>
          <a:lstStyle/>
          <a:p>
            <a:pPr>
              <a:lnSpc>
                <a:spcPts val="2700"/>
              </a:lnSpc>
              <a:spcAft>
                <a:spcPts val="900"/>
              </a:spcAft>
            </a:pPr>
            <a:r>
              <a:rPr sz="2200">
                <a:solidFill>
                  <a:srgbClr val="1E2F38"/>
                </a:solidFill>
                <a:latin typeface="Calibri"/>
              </a:rPr>
              <a:t>•  Care starts only after people fall sick — outbreaks caught late</a:t>
            </a:r>
          </a:p>
          <a:p>
            <a:pPr>
              <a:lnSpc>
                <a:spcPts val="2700"/>
              </a:lnSpc>
              <a:spcAft>
                <a:spcPts val="900"/>
              </a:spcAft>
            </a:pPr>
            <a:r>
              <a:rPr sz="2200">
                <a:solidFill>
                  <a:srgbClr val="1E2F38"/>
                </a:solidFill>
                <a:latin typeface="Calibri"/>
              </a:rPr>
              <a:t>•  Community data trapped in paper registers and silos</a:t>
            </a:r>
          </a:p>
          <a:p>
            <a:pPr>
              <a:lnSpc>
                <a:spcPts val="2700"/>
              </a:lnSpc>
              <a:spcAft>
                <a:spcPts val="900"/>
              </a:spcAft>
            </a:pPr>
            <a:r>
              <a:rPr sz="2200">
                <a:solidFill>
                  <a:srgbClr val="1E2F38"/>
                </a:solidFill>
                <a:latin typeface="Calibri"/>
              </a:rPr>
              <a:t>•  High-risk pregnancies and NCDs identified too late</a:t>
            </a:r>
          </a:p>
          <a:p>
            <a:pPr>
              <a:lnSpc>
                <a:spcPts val="2700"/>
              </a:lnSpc>
              <a:spcAft>
                <a:spcPts val="900"/>
              </a:spcAft>
            </a:pPr>
            <a:r>
              <a:rPr sz="2200">
                <a:solidFill>
                  <a:srgbClr val="1E2F38"/>
                </a:solidFill>
                <a:latin typeface="Calibri"/>
              </a:rPr>
              <a:t>•  Medicine stock-outs during seasonal surges</a:t>
            </a:r>
          </a:p>
          <a:p>
            <a:pPr>
              <a:lnSpc>
                <a:spcPts val="2700"/>
              </a:lnSpc>
              <a:spcAft>
                <a:spcPts val="900"/>
              </a:spcAft>
            </a:pPr>
            <a:r>
              <a:rPr sz="2200">
                <a:solidFill>
                  <a:srgbClr val="1E2F38"/>
                </a:solidFill>
                <a:latin typeface="Calibri"/>
              </a:rPr>
              <a:t>•  Health shocks push poor families into catastrophic spending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74536"/>
            <a:ext cx="8229600" cy="2743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 |  FID Call for Proposals 2026  |  Your health, our mission.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574536"/>
            <a:ext cx="731520" cy="2743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960120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THE INNOVATION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47548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A1F2E"/>
                </a:solidFill>
                <a:latin typeface="Calibri"/>
              </a:rPr>
              <a:t>FCHIP: community data becomes prediction</a:t>
            </a:r>
          </a:p>
        </p:txBody>
      </p:sp>
      <p:pic>
        <p:nvPicPr>
          <p:cNvPr id="6" name="Picture 5" descr="data_flow_iso_labeled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07820"/>
            <a:ext cx="6492240" cy="432816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178040" y="1234440"/>
            <a:ext cx="461772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D0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78040" y="1234440"/>
            <a:ext cx="4617720" cy="73152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42632" y="1362456"/>
            <a:ext cx="4288536" cy="43525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D6E6E"/>
                </a:solidFill>
                <a:latin typeface="Calibri"/>
              </a:rPr>
              <a:t>Capture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42632" y="1887321"/>
            <a:ext cx="4288536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3A4A54"/>
                </a:solidFill>
                <a:latin typeface="Calibri"/>
              </a:rPr>
              <a:t>Offline CHW/VHT mobile tools at the household level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78040" y="2953512"/>
            <a:ext cx="461772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D0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78040" y="2953512"/>
            <a:ext cx="4617720" cy="73152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42632" y="3081528"/>
            <a:ext cx="4288536" cy="43525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D6E6E"/>
                </a:solidFill>
                <a:latin typeface="Calibri"/>
              </a:rPr>
              <a:t>Intelligence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42632" y="3606393"/>
            <a:ext cx="4288536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3A4A54"/>
                </a:solidFill>
                <a:latin typeface="Calibri"/>
              </a:rPr>
              <a:t>AI/ML risk scoring, GIS hotspots, decision support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78040" y="4672584"/>
            <a:ext cx="461772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D0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78040" y="4672584"/>
            <a:ext cx="4617720" cy="73152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42632" y="4800600"/>
            <a:ext cx="4288536" cy="43525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D6E6E"/>
                </a:solidFill>
                <a:latin typeface="Calibri"/>
              </a:rPr>
              <a:t>Action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42632" y="5325465"/>
            <a:ext cx="4288536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3A4A54"/>
                </a:solidFill>
                <a:latin typeface="Calibri"/>
              </a:rPr>
              <a:t>Alerts to CHWs, clinics, districts, insurers, partners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6574536"/>
            <a:ext cx="8229600" cy="2743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 |  FID Call for Proposals 2026  |  Your health, our mission.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94415" y="6574536"/>
            <a:ext cx="731520" cy="2743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960120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DEEP TECHNOLOGY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47548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A1F2E"/>
                </a:solidFill>
                <a:latin typeface="Calibri"/>
              </a:rPr>
              <a:t>Substantial engineering, not a light app</a:t>
            </a:r>
          </a:p>
        </p:txBody>
      </p:sp>
      <p:pic>
        <p:nvPicPr>
          <p:cNvPr id="6" name="Picture 5" descr="deep_tech_collage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095500"/>
            <a:ext cx="5029200" cy="33528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760720" y="1197864"/>
            <a:ext cx="5989320" cy="766572"/>
          </a:xfrm>
          <a:prstGeom prst="rect">
            <a:avLst/>
          </a:prstGeom>
          <a:solidFill>
            <a:srgbClr val="FFFFFF"/>
          </a:solidFill>
          <a:ln w="9525">
            <a:solidFill>
              <a:srgbClr val="D0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0" y="1252728"/>
            <a:ext cx="5669280" cy="29260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D6E6E"/>
                </a:solidFill>
                <a:latin typeface="Calibri"/>
              </a:rPr>
              <a:t>Artificial Intelligence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1527048"/>
            <a:ext cx="56692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A4A54"/>
                </a:solidFill>
                <a:latin typeface="Calibri"/>
              </a:rPr>
              <a:t>Outbreak early warning; maternal and NCD risk scoring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5760720" y="2074164"/>
            <a:ext cx="5989320" cy="766572"/>
          </a:xfrm>
          <a:prstGeom prst="rect">
            <a:avLst/>
          </a:prstGeom>
          <a:solidFill>
            <a:srgbClr val="FFFFFF"/>
          </a:solidFill>
          <a:ln w="9525">
            <a:solidFill>
              <a:srgbClr val="D0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2129028"/>
            <a:ext cx="5669280" cy="29260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D6E6E"/>
                </a:solidFill>
                <a:latin typeface="Calibri"/>
              </a:rPr>
              <a:t>Machine Learning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403348"/>
            <a:ext cx="56692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A4A54"/>
                </a:solidFill>
                <a:latin typeface="Calibri"/>
              </a:rPr>
              <a:t>Pattern learning from community data, seasonal trends, outreach outcomes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60720" y="2950464"/>
            <a:ext cx="5989320" cy="766572"/>
          </a:xfrm>
          <a:prstGeom prst="rect">
            <a:avLst/>
          </a:prstGeom>
          <a:solidFill>
            <a:srgbClr val="FFFFFF"/>
          </a:solidFill>
          <a:ln w="9525">
            <a:solidFill>
              <a:srgbClr val="D0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0" y="3005328"/>
            <a:ext cx="5669280" cy="29260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D6E6E"/>
                </a:solidFill>
                <a:latin typeface="Calibri"/>
              </a:rPr>
              <a:t>GIS Mapping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3279648"/>
            <a:ext cx="56692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A4A54"/>
                </a:solidFill>
                <a:latin typeface="Calibri"/>
              </a:rPr>
              <a:t>Disease distribution, hotspots, and resource-gap visualisation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760720" y="3826764"/>
            <a:ext cx="5989320" cy="766572"/>
          </a:xfrm>
          <a:prstGeom prst="rect">
            <a:avLst/>
          </a:prstGeom>
          <a:solidFill>
            <a:srgbClr val="FFFFFF"/>
          </a:solidFill>
          <a:ln w="9525">
            <a:solidFill>
              <a:srgbClr val="D0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0" y="3881628"/>
            <a:ext cx="5669280" cy="29260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D6E6E"/>
                </a:solidFill>
                <a:latin typeface="Calibri"/>
              </a:rPr>
              <a:t>Mobile Data Collection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0" y="4155948"/>
            <a:ext cx="56692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A4A54"/>
                </a:solidFill>
                <a:latin typeface="Calibri"/>
              </a:rPr>
              <a:t>Offline-capable CHW/VHT capture at household level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60720" y="4703064"/>
            <a:ext cx="5989320" cy="766572"/>
          </a:xfrm>
          <a:prstGeom prst="rect">
            <a:avLst/>
          </a:prstGeom>
          <a:solidFill>
            <a:srgbClr val="FFFFFF"/>
          </a:solidFill>
          <a:ln w="9525">
            <a:solidFill>
              <a:srgbClr val="D0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0" y="4757928"/>
            <a:ext cx="5669280" cy="29260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D6E6E"/>
                </a:solidFill>
                <a:latin typeface="Calibri"/>
              </a:rPr>
              <a:t>Cloud Computing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0" y="5032248"/>
            <a:ext cx="56692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A4A54"/>
                </a:solidFill>
                <a:latin typeface="Calibri"/>
              </a:rPr>
              <a:t>Secure sync across facilities, partners, administrative levels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760720" y="5579364"/>
            <a:ext cx="5989320" cy="766572"/>
          </a:xfrm>
          <a:prstGeom prst="rect">
            <a:avLst/>
          </a:prstGeom>
          <a:solidFill>
            <a:srgbClr val="FFFFFF"/>
          </a:solidFill>
          <a:ln w="9525">
            <a:solidFill>
              <a:srgbClr val="D0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0" y="5634228"/>
            <a:ext cx="5669280" cy="29260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D6E6E"/>
                </a:solidFill>
                <a:latin typeface="Calibri"/>
              </a:rPr>
              <a:t>Analytics &amp; NLP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0" y="5908548"/>
            <a:ext cx="56692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A4A54"/>
                </a:solidFill>
                <a:latin typeface="Calibri"/>
              </a:rPr>
              <a:t>Live dashboards; local-language symptom capture where useful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6574536"/>
            <a:ext cx="8229600" cy="2743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 |  FID Call for Proposals 2026  |  Your health, our mission.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94415" y="6574536"/>
            <a:ext cx="731520" cy="2743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960120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THEORY OF CHANGE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47548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A1F2E"/>
                </a:solidFill>
                <a:latin typeface="Calibri"/>
              </a:rPr>
              <a:t>From data to poverty reduction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2212848" cy="4937760"/>
          </a:xfrm>
          <a:prstGeom prst="rect">
            <a:avLst/>
          </a:prstGeom>
          <a:solidFill>
            <a:srgbClr val="FFFFFF"/>
          </a:solidFill>
          <a:ln w="9525">
            <a:solidFill>
              <a:srgbClr val="D0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2212848" cy="502920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444752"/>
            <a:ext cx="2212848" cy="38404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Inputs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011680"/>
            <a:ext cx="1993392" cy="4160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3A4A54"/>
                </a:solidFill>
                <a:latin typeface="Calibri"/>
              </a:rPr>
              <a:t>FID Pilot Grant; FairBanks live operations; CHW/VHT networks; mobile + cloud + AI stack.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79776" y="1371600"/>
            <a:ext cx="2212848" cy="4937760"/>
          </a:xfrm>
          <a:prstGeom prst="rect">
            <a:avLst/>
          </a:prstGeom>
          <a:solidFill>
            <a:srgbClr val="FFFFFF"/>
          </a:solidFill>
          <a:ln w="9525">
            <a:solidFill>
              <a:srgbClr val="D0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79776" y="1371600"/>
            <a:ext cx="2212848" cy="502920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79776" y="1444752"/>
            <a:ext cx="2212848" cy="38404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Activities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89504" y="2011680"/>
            <a:ext cx="1993392" cy="4160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3A4A54"/>
                </a:solidFill>
                <a:latin typeface="Calibri"/>
              </a:rPr>
              <a:t>Build offline capture app, cloud pipeline, AI risk models, GIS layer, and dashboards; train CHWs; run pilot.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02352" y="1371600"/>
            <a:ext cx="2212848" cy="4937760"/>
          </a:xfrm>
          <a:prstGeom prst="rect">
            <a:avLst/>
          </a:prstGeom>
          <a:solidFill>
            <a:srgbClr val="FFFFFF"/>
          </a:solidFill>
          <a:ln w="9525">
            <a:solidFill>
              <a:srgbClr val="D0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02352" y="1371600"/>
            <a:ext cx="2212848" cy="502920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02352" y="1444752"/>
            <a:ext cx="2212848" cy="38404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Outputs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2011680"/>
            <a:ext cx="1993392" cy="4160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3A4A54"/>
                </a:solidFill>
                <a:latin typeface="Calibri"/>
              </a:rPr>
              <a:t>Structured community health data; predictive alerts; facility/district dashboards; referrals triggered.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24928" y="1371600"/>
            <a:ext cx="2212848" cy="4937760"/>
          </a:xfrm>
          <a:prstGeom prst="rect">
            <a:avLst/>
          </a:prstGeom>
          <a:solidFill>
            <a:srgbClr val="FFFFFF"/>
          </a:solidFill>
          <a:ln w="9525">
            <a:solidFill>
              <a:srgbClr val="D0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424928" y="1371600"/>
            <a:ext cx="2212848" cy="502920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24928" y="1444752"/>
            <a:ext cx="2212848" cy="38404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Outcomes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34656" y="2011680"/>
            <a:ext cx="1993392" cy="4160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3A4A54"/>
                </a:solidFill>
                <a:latin typeface="Calibri"/>
              </a:rPr>
              <a:t>Earlier detection and referral; fewer missed high-risk cases; fewer stock-outs; better-targeted outreach.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747504" y="1371600"/>
            <a:ext cx="2212848" cy="4937760"/>
          </a:xfrm>
          <a:prstGeom prst="rect">
            <a:avLst/>
          </a:prstGeom>
          <a:solidFill>
            <a:srgbClr val="FFFFFF"/>
          </a:solidFill>
          <a:ln w="9525">
            <a:solidFill>
              <a:srgbClr val="D0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747504" y="1371600"/>
            <a:ext cx="2212848" cy="502920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47504" y="1444752"/>
            <a:ext cx="2212848" cy="38404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Impact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57232" y="2011680"/>
            <a:ext cx="1993392" cy="4160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3A4A54"/>
                </a:solidFill>
                <a:latin typeface="Calibri"/>
              </a:rPr>
              <a:t>Reduced preventable illness and health-driven poverty; lower inequality for underserved communities.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6574536"/>
            <a:ext cx="8229600" cy="2743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 |  FID Call for Proposals 2026  |  Your health, our mission.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94415" y="6574536"/>
            <a:ext cx="731520" cy="2743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960120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EVIDENCE OF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47548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A1F2E"/>
                </a:solidFill>
                <a:latin typeface="Calibri"/>
              </a:rPr>
              <a:t>Built to be measured and evaluated</a:t>
            </a:r>
          </a:p>
        </p:txBody>
      </p:sp>
      <p:pic>
        <p:nvPicPr>
          <p:cNvPr id="6" name="Picture 5" descr="gis_hotspots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095500"/>
            <a:ext cx="5029200" cy="3352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760720" y="1234440"/>
            <a:ext cx="5943600" cy="5074920"/>
          </a:xfrm>
          <a:prstGeom prst="rect">
            <a:avLst/>
          </a:prstGeom>
          <a:noFill/>
        </p:spPr>
        <p:txBody>
          <a:bodyPr wrap="square" lIns="25400" rIns="50800" tIns="25400" bIns="25400">
            <a:spAutoFit/>
          </a:bodyPr>
          <a:lstStyle/>
          <a:p>
            <a:pPr>
              <a:lnSpc>
                <a:spcPts val="2200"/>
              </a:lnSpc>
              <a:spcAft>
                <a:spcPts val="800"/>
              </a:spcAft>
            </a:pPr>
            <a:r>
              <a:rPr sz="1800">
                <a:solidFill>
                  <a:srgbClr val="1E2F38"/>
                </a:solidFill>
                <a:latin typeface="Calibri"/>
              </a:rPr>
              <a:t>•  Existing evidence: CHW/mHealth programmes and community-based early warning have documented gains in maternal, child, and communicable-disease outcomes across sub-Saharan Africa; FCHIP builds on this base by adding predictive intelligence across multiple data sources.</a:t>
            </a:r>
          </a:p>
          <a:p>
            <a:pPr>
              <a:lnSpc>
                <a:spcPts val="2200"/>
              </a:lnSpc>
              <a:spcAft>
                <a:spcPts val="800"/>
              </a:spcAft>
            </a:pPr>
            <a:r>
              <a:rPr sz="1800">
                <a:solidFill>
                  <a:srgbClr val="1E2F38"/>
                </a:solidFill>
                <a:latin typeface="Calibri"/>
              </a:rPr>
              <a:t>•  Baseline data: FairBanks outreach screening, maternal programmes, pharmacy dispensing, and facility encounters already generate the signals needed to establish a credible pre-intervention baseline.</a:t>
            </a:r>
          </a:p>
          <a:p>
            <a:pPr>
              <a:lnSpc>
                <a:spcPts val="2200"/>
              </a:lnSpc>
              <a:spcAft>
                <a:spcPts val="800"/>
              </a:spcAft>
            </a:pPr>
            <a:r>
              <a:rPr sz="1800">
                <a:solidFill>
                  <a:srgbClr val="1E2F38"/>
                </a:solidFill>
                <a:latin typeface="Calibri"/>
              </a:rPr>
              <a:t>•  Measurable outcomes: alert accuracy, time-to-referral, proportion of high-risk pregnancies identified early, immunisation and screening coverage, and stock-out frequency.</a:t>
            </a:r>
          </a:p>
          <a:p>
            <a:pPr>
              <a:lnSpc>
                <a:spcPts val="2200"/>
              </a:lnSpc>
              <a:spcAft>
                <a:spcPts val="800"/>
              </a:spcAft>
            </a:pPr>
            <a:r>
              <a:rPr sz="1800">
                <a:solidFill>
                  <a:srgbClr val="1E2F38"/>
                </a:solidFill>
                <a:latin typeface="Calibri"/>
              </a:rPr>
              <a:t>•  Evaluation pathway: the pilot is designed so that a subsequent counterfactual impact evaluation (comparison communities) can rigorously test effect sizes — the qualifying step toward FID's Impact Evaluation and Scale-Up stages.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74536"/>
            <a:ext cx="8229600" cy="2743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 |  FID Call for Proposals 2026  |  Your health, our mission.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574536"/>
            <a:ext cx="731520" cy="2743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960120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COST &amp; COST-EFFECTIVENESS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47548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A1F2E"/>
                </a:solidFill>
                <a:latin typeface="Calibri"/>
              </a:rPr>
              <a:t>Prevention costs less than late treatment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34440"/>
            <a:ext cx="5669280" cy="5074920"/>
          </a:xfrm>
          <a:prstGeom prst="rect">
            <a:avLst/>
          </a:prstGeom>
          <a:noFill/>
        </p:spPr>
        <p:txBody>
          <a:bodyPr wrap="square" lIns="25400" rIns="50800" tIns="25400" bIns="25400">
            <a:spAutoFit/>
          </a:bodyPr>
          <a:lstStyle/>
          <a:p>
            <a:pPr>
              <a:lnSpc>
                <a:spcPts val="2200"/>
              </a:lnSpc>
              <a:spcAft>
                <a:spcPts val="800"/>
              </a:spcAft>
            </a:pPr>
            <a:r>
              <a:rPr sz="1800">
                <a:solidFill>
                  <a:srgbClr val="1E2F38"/>
                </a:solidFill>
                <a:latin typeface="Calibri"/>
              </a:rPr>
              <a:t>•  Builds on assets that already exist — a live medical centre, trained CHW/VHT networks, and outreach programmes — so the pilot avoids the cost of standing up field operations from scratch.</a:t>
            </a:r>
          </a:p>
          <a:p>
            <a:pPr>
              <a:lnSpc>
                <a:spcPts val="2200"/>
              </a:lnSpc>
              <a:spcAft>
                <a:spcPts val="800"/>
              </a:spcAft>
            </a:pPr>
            <a:r>
              <a:rPr sz="1800">
                <a:solidFill>
                  <a:srgbClr val="1E2F38"/>
                </a:solidFill>
                <a:latin typeface="Calibri"/>
              </a:rPr>
              <a:t>•  Offline-first, mobile-based capture keeps hardware and connectivity costs low and works in low-bandwidth settings.</a:t>
            </a:r>
          </a:p>
          <a:p>
            <a:pPr>
              <a:lnSpc>
                <a:spcPts val="2200"/>
              </a:lnSpc>
              <a:spcAft>
                <a:spcPts val="800"/>
              </a:spcAft>
            </a:pPr>
            <a:r>
              <a:rPr sz="1800">
                <a:solidFill>
                  <a:srgbClr val="1E2F38"/>
                </a:solidFill>
                <a:latin typeface="Calibri"/>
              </a:rPr>
              <a:t>•  Prevention is cheaper than late treatment: early detection of outbreaks, maternal risk, and NCDs reduces costly emergency care and lost livelihoods.</a:t>
            </a:r>
          </a:p>
          <a:p>
            <a:pPr>
              <a:lnSpc>
                <a:spcPts val="2200"/>
              </a:lnSpc>
              <a:spcAft>
                <a:spcPts val="800"/>
              </a:spcAft>
            </a:pPr>
            <a:r>
              <a:rPr sz="1800">
                <a:solidFill>
                  <a:srgbClr val="1E2F38"/>
                </a:solidFill>
                <a:latin typeface="Calibri"/>
              </a:rPr>
              <a:t>•  A shared platform serves many users (CHWs, clinics, districts, insurers), spreading cost and improving cost per beneficiary as coverage grows.</a:t>
            </a:r>
          </a:p>
        </p:txBody>
      </p:sp>
      <p:pic>
        <p:nvPicPr>
          <p:cNvPr id="7" name="Picture 6" descr="outreach_bp_screening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973580"/>
            <a:ext cx="5394960" cy="35966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74536"/>
            <a:ext cx="8229600" cy="2743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 |  FID Call for Proposals 2026  |  Your health, our mission.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574536"/>
            <a:ext cx="731520" cy="2743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960120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SCALE &amp; SUSTAINABILITY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47548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A1F2E"/>
                </a:solidFill>
                <a:latin typeface="Calibri"/>
              </a:rPr>
              <a:t>A portable model with diversified revenue</a:t>
            </a:r>
          </a:p>
        </p:txBody>
      </p:sp>
      <p:pic>
        <p:nvPicPr>
          <p:cNvPr id="6" name="Picture 5" descr="dashboard_demo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973580"/>
            <a:ext cx="5394960" cy="3596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126480" y="1234440"/>
            <a:ext cx="5669280" cy="5074920"/>
          </a:xfrm>
          <a:prstGeom prst="rect">
            <a:avLst/>
          </a:prstGeom>
          <a:noFill/>
        </p:spPr>
        <p:txBody>
          <a:bodyPr wrap="square" lIns="25400" rIns="50800" tIns="25400" bIns="25400">
            <a:spAutoFit/>
          </a:bodyPr>
          <a:lstStyle/>
          <a:p>
            <a:pPr>
              <a:lnSpc>
                <a:spcPts val="2200"/>
              </a:lnSpc>
              <a:spcAft>
                <a:spcPts val="800"/>
              </a:spcAft>
            </a:pPr>
            <a:r>
              <a:rPr sz="1800">
                <a:solidFill>
                  <a:srgbClr val="1E2F38"/>
                </a:solidFill>
                <a:latin typeface="Calibri"/>
              </a:rPr>
              <a:t>•  Technical scalability: cloud architecture and standard mobile tools extend from one catchment to many districts without redesign.</a:t>
            </a:r>
          </a:p>
          <a:p>
            <a:pPr>
              <a:lnSpc>
                <a:spcPts val="2200"/>
              </a:lnSpc>
              <a:spcAft>
                <a:spcPts val="800"/>
              </a:spcAft>
            </a:pPr>
            <a:r>
              <a:rPr sz="1800">
                <a:solidFill>
                  <a:srgbClr val="1E2F38"/>
                </a:solidFill>
                <a:latin typeface="Calibri"/>
              </a:rPr>
              <a:t>•  Model portability: CHW/VHT systems exist across Uganda and much of Africa, so the approach transfers to other ODA-eligible markets.</a:t>
            </a:r>
          </a:p>
          <a:p>
            <a:pPr>
              <a:lnSpc>
                <a:spcPts val="2200"/>
              </a:lnSpc>
              <a:spcAft>
                <a:spcPts val="800"/>
              </a:spcAft>
            </a:pPr>
            <a:r>
              <a:rPr sz="1800">
                <a:solidFill>
                  <a:srgbClr val="1E2F38"/>
                </a:solidFill>
                <a:latin typeface="Calibri"/>
              </a:rPr>
              <a:t>•  Financial sustainability: diversified revenue — clinic/hospital subscriptions, district and Ministry of Health deployments, NGO programme monitoring, insurer analytics, and partner APIs — reduces reliance on grants over time.</a:t>
            </a:r>
          </a:p>
          <a:p>
            <a:pPr>
              <a:lnSpc>
                <a:spcPts val="2200"/>
              </a:lnSpc>
              <a:spcAft>
                <a:spcPts val="800"/>
              </a:spcAft>
            </a:pPr>
            <a:r>
              <a:rPr sz="1800">
                <a:solidFill>
                  <a:srgbClr val="1E2F38"/>
                </a:solidFill>
                <a:latin typeface="Calibri"/>
              </a:rPr>
              <a:t>•  Policy pathway: evidence generated in the pilot supports integration into public health planning and district decision-making, aligning with FID's public-policy funding streams.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74536"/>
            <a:ext cx="8229600" cy="2743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 |  FID Call for Proposals 2026  |  Your health, our mission.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574536"/>
            <a:ext cx="731520" cy="2743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960120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WHY FAIRBANKS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47548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A1F2E"/>
                </a:solidFill>
                <a:latin typeface="Calibri"/>
              </a:rPr>
              <a:t>A live venture, ready to pilot</a:t>
            </a:r>
          </a:p>
        </p:txBody>
      </p:sp>
      <p:pic>
        <p:nvPicPr>
          <p:cNvPr id="6" name="Picture 5" descr="outreach_facilitator_canopy_01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912620"/>
            <a:ext cx="5577840" cy="37185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309360" y="1234440"/>
            <a:ext cx="5486400" cy="5074920"/>
          </a:xfrm>
          <a:prstGeom prst="rect">
            <a:avLst/>
          </a:prstGeom>
          <a:noFill/>
        </p:spPr>
        <p:txBody>
          <a:bodyPr wrap="square" lIns="25400" rIns="50800" tIns="25400" bIns="25400">
            <a:spAutoFit/>
          </a:bodyPr>
          <a:lstStyle/>
          <a:p>
            <a:pPr>
              <a:lnSpc>
                <a:spcPts val="2200"/>
              </a:lnSpc>
              <a:spcAft>
                <a:spcPts val="800"/>
              </a:spcAft>
            </a:pPr>
            <a:r>
              <a:rPr sz="1800">
                <a:solidFill>
                  <a:srgbClr val="1E2F38"/>
                </a:solidFill>
                <a:latin typeface="Calibri"/>
              </a:rPr>
              <a:t>•  Functioning FairBanks Medical Centre with direct patient and community access</a:t>
            </a:r>
          </a:p>
          <a:p>
            <a:pPr>
              <a:lnSpc>
                <a:spcPts val="2200"/>
              </a:lnSpc>
              <a:spcAft>
                <a:spcPts val="800"/>
              </a:spcAft>
            </a:pPr>
            <a:r>
              <a:rPr sz="1800">
                <a:solidFill>
                  <a:srgbClr val="1E2F38"/>
                </a:solidFill>
                <a:latin typeface="Calibri"/>
              </a:rPr>
              <a:t>•  Active Community Reach outreach in Bukoto, Kyebando, Kisaasi, Kamwokya, Kikaaya, and surrounding areas</a:t>
            </a:r>
          </a:p>
          <a:p>
            <a:pPr>
              <a:lnSpc>
                <a:spcPts val="2200"/>
              </a:lnSpc>
              <a:spcAft>
                <a:spcPts val="800"/>
              </a:spcAft>
            </a:pPr>
            <a:r>
              <a:rPr sz="1800">
                <a:solidFill>
                  <a:srgbClr val="1E2F38"/>
                </a:solidFill>
                <a:latin typeface="Calibri"/>
              </a:rPr>
              <a:t>•  Established CHW and VHT relationships and trust in target communities</a:t>
            </a:r>
          </a:p>
          <a:p>
            <a:pPr>
              <a:lnSpc>
                <a:spcPts val="2200"/>
              </a:lnSpc>
              <a:spcAft>
                <a:spcPts val="800"/>
              </a:spcAft>
            </a:pPr>
            <a:r>
              <a:rPr sz="1800">
                <a:solidFill>
                  <a:srgbClr val="1E2F38"/>
                </a:solidFill>
                <a:latin typeface="Calibri"/>
              </a:rPr>
              <a:t>•  Live programmes: maternal &amp; child health, Gericare, chronic-disease screening, corporate &amp; school health</a:t>
            </a:r>
          </a:p>
          <a:p>
            <a:pPr>
              <a:lnSpc>
                <a:spcPts val="2200"/>
              </a:lnSpc>
              <a:spcAft>
                <a:spcPts val="800"/>
              </a:spcAft>
            </a:pPr>
            <a:r>
              <a:rPr sz="1800">
                <a:solidFill>
                  <a:srgbClr val="1E2F38"/>
                </a:solidFill>
                <a:latin typeface="Calibri"/>
              </a:rPr>
              <a:t>•  Digital health records foundation and pharmacy operations already generating data signals</a:t>
            </a:r>
          </a:p>
          <a:p>
            <a:pPr>
              <a:lnSpc>
                <a:spcPts val="2200"/>
              </a:lnSpc>
              <a:spcAft>
                <a:spcPts val="800"/>
              </a:spcAft>
            </a:pPr>
            <a:r>
              <a:rPr sz="1800">
                <a:solidFill>
                  <a:srgbClr val="1E2F38"/>
                </a:solidFill>
                <a:latin typeface="Calibri"/>
              </a:rPr>
              <a:t>•  Research and community partnerships that support ethical data use and evaluation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74536"/>
            <a:ext cx="8229600" cy="2743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 |  FID Call for Proposals 2026  |  Your health, our mission.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574536"/>
            <a:ext cx="731520" cy="2743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960120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PLAN &amp; BUDGET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47548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A1F2E"/>
                </a:solidFill>
                <a:latin typeface="Calibri"/>
              </a:rPr>
              <a:t>Pilot first, then evaluate and scale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54864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D6E6E"/>
                </a:solidFill>
                <a:latin typeface="Calibri"/>
              </a:rPr>
              <a:t>Roadmap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5577840" cy="11201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554480"/>
            <a:ext cx="91440" cy="1120140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600200"/>
            <a:ext cx="52120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A1F2E"/>
                </a:solidFill>
                <a:latin typeface="Calibri"/>
              </a:rPr>
              <a:t>Phase 1 — Pilot  (0–12 mo)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874520"/>
            <a:ext cx="52120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3A4A54"/>
                </a:solidFill>
                <a:latin typeface="Calibri"/>
              </a:rPr>
              <a:t>MVP live with FairBanks CHWs/VHTs; validate 3 use cases; establish baseline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766060"/>
            <a:ext cx="5577840" cy="11201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766060"/>
            <a:ext cx="91440" cy="1120140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811780"/>
            <a:ext cx="52120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A1F2E"/>
                </a:solidFill>
                <a:latin typeface="Calibri"/>
              </a:rPr>
              <a:t>Phase 2 — Impact evaluation prep  (12–18 mo)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086100"/>
            <a:ext cx="52120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3A4A54"/>
                </a:solidFill>
                <a:latin typeface="Calibri"/>
              </a:rPr>
              <a:t>Counterfactual design; comparison communities; measurement framework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977640"/>
            <a:ext cx="5577840" cy="11201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977640"/>
            <a:ext cx="91440" cy="1120140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4023360"/>
            <a:ext cx="52120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A1F2E"/>
                </a:solidFill>
                <a:latin typeface="Calibri"/>
              </a:rPr>
              <a:t>Phase 3 — District scale  (18–36 mo)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297680"/>
            <a:ext cx="52120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3A4A54"/>
                </a:solidFill>
                <a:latin typeface="Calibri"/>
              </a:rPr>
              <a:t>Partner clinics and district structures; NGO/insurer modules; APIs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5189220"/>
            <a:ext cx="5577840" cy="11201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5189220"/>
            <a:ext cx="91440" cy="1120140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234940"/>
            <a:ext cx="52120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A1F2E"/>
                </a:solidFill>
                <a:latin typeface="Calibri"/>
              </a:rPr>
              <a:t>Phase 4 — Scale-up  (Year 3+)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5509260"/>
            <a:ext cx="52120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3A4A54"/>
                </a:solidFill>
                <a:latin typeface="Calibri"/>
              </a:rPr>
              <a:t>Multi-district Uganda; East Africa entry; policy integration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1143000"/>
            <a:ext cx="54864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D6E6E"/>
                </a:solidFill>
                <a:latin typeface="Calibri"/>
              </a:rPr>
              <a:t>Indicative pilot budget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1545336"/>
            <a:ext cx="5394960" cy="734568"/>
          </a:xfrm>
          <a:prstGeom prst="rect">
            <a:avLst/>
          </a:prstGeom>
          <a:solidFill>
            <a:srgbClr val="FFFFFF"/>
          </a:solidFill>
          <a:ln w="9525">
            <a:solidFill>
              <a:srgbClr val="D0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0" y="1618488"/>
            <a:ext cx="393192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E2F38"/>
                </a:solidFill>
                <a:latin typeface="Calibri"/>
              </a:rPr>
              <a:t>Product &amp; engineering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24160" y="1618488"/>
            <a:ext cx="123444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45C26"/>
                </a:solidFill>
                <a:latin typeface="Calibri"/>
              </a:rPr>
              <a:t>€70,000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0" y="2353056"/>
            <a:ext cx="5394960" cy="734568"/>
          </a:xfrm>
          <a:prstGeom prst="rect">
            <a:avLst/>
          </a:prstGeom>
          <a:solidFill>
            <a:srgbClr val="FFFFFF"/>
          </a:solidFill>
          <a:ln w="9525">
            <a:solidFill>
              <a:srgbClr val="D0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2426208"/>
            <a:ext cx="393192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E2F38"/>
                </a:solidFill>
                <a:latin typeface="Calibri"/>
              </a:rPr>
              <a:t>Field pilot &amp; CHW training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0" y="2426208"/>
            <a:ext cx="123444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45C26"/>
                </a:solidFill>
                <a:latin typeface="Calibri"/>
              </a:rPr>
              <a:t>€45,000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0" y="3160776"/>
            <a:ext cx="5394960" cy="734568"/>
          </a:xfrm>
          <a:prstGeom prst="rect">
            <a:avLst/>
          </a:prstGeom>
          <a:solidFill>
            <a:srgbClr val="FFFFFF"/>
          </a:solidFill>
          <a:ln w="9525">
            <a:solidFill>
              <a:srgbClr val="D0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0" y="3233928"/>
            <a:ext cx="393192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E2F38"/>
                </a:solidFill>
                <a:latin typeface="Calibri"/>
              </a:rPr>
              <a:t>Data, evaluation &amp; M&amp;E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24160" y="3233928"/>
            <a:ext cx="123444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45C26"/>
                </a:solidFill>
                <a:latin typeface="Calibri"/>
              </a:rPr>
              <a:t>€35,000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3968496"/>
            <a:ext cx="5394960" cy="734568"/>
          </a:xfrm>
          <a:prstGeom prst="rect">
            <a:avLst/>
          </a:prstGeom>
          <a:solidFill>
            <a:srgbClr val="FFFFFF"/>
          </a:solidFill>
          <a:ln w="9525">
            <a:solidFill>
              <a:srgbClr val="D0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83680" y="4041648"/>
            <a:ext cx="393192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E2F38"/>
                </a:solidFill>
                <a:latin typeface="Calibri"/>
              </a:rPr>
              <a:t>Data governance &amp; compliance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24160" y="4041648"/>
            <a:ext cx="123444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45C26"/>
                </a:solidFill>
                <a:latin typeface="Calibri"/>
              </a:rPr>
              <a:t>€15,000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0" y="4776216"/>
            <a:ext cx="5394960" cy="734568"/>
          </a:xfrm>
          <a:prstGeom prst="rect">
            <a:avLst/>
          </a:prstGeom>
          <a:solidFill>
            <a:srgbClr val="FFFFFF"/>
          </a:solidFill>
          <a:ln w="9525">
            <a:solidFill>
              <a:srgbClr val="D0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0" y="4849368"/>
            <a:ext cx="393192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E2F38"/>
                </a:solidFill>
                <a:latin typeface="Calibri"/>
              </a:rPr>
              <a:t>Project management &amp; operations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24160" y="4849368"/>
            <a:ext cx="123444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45C26"/>
                </a:solidFill>
                <a:latin typeface="Calibri"/>
              </a:rPr>
              <a:t>€35,000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0" y="5583936"/>
            <a:ext cx="5394960" cy="734568"/>
          </a:xfrm>
          <a:prstGeom prst="rect">
            <a:avLst/>
          </a:prstGeom>
          <a:solidFill>
            <a:srgbClr val="E8F0F0"/>
          </a:solidFill>
          <a:ln w="9525">
            <a:solidFill>
              <a:srgbClr val="D0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83680" y="5657088"/>
            <a:ext cx="393192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A1F2E"/>
                </a:solidFill>
                <a:latin typeface="Calibri"/>
              </a:rPr>
              <a:t>Total (indicative Pilot Grant)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424160" y="5657088"/>
            <a:ext cx="123444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45C26"/>
                </a:solidFill>
                <a:latin typeface="Calibri"/>
              </a:rPr>
              <a:t>€200,000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65760" y="6574536"/>
            <a:ext cx="8229600" cy="2743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 |  FID Call for Proposals 2026  |  Your health, our mission.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094415" y="6574536"/>
            <a:ext cx="731520" cy="2743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960120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WHY IT FITS FID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47548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A1F2E"/>
                </a:solidFill>
                <a:latin typeface="Calibri"/>
              </a:rPr>
              <a:t>Evidence, cost-effectiveness, scale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188720"/>
            <a:ext cx="6583680" cy="1223010"/>
          </a:xfrm>
          <a:prstGeom prst="rect">
            <a:avLst/>
          </a:prstGeom>
          <a:solidFill>
            <a:srgbClr val="FFFFFF"/>
          </a:solidFill>
          <a:ln w="9525">
            <a:solidFill>
              <a:srgbClr val="D0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234440"/>
            <a:ext cx="2286000" cy="113157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D6E6E"/>
                </a:solidFill>
                <a:latin typeface="Calibri"/>
              </a:rPr>
              <a:t>Evidence of impact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1234440"/>
            <a:ext cx="3886200" cy="113157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A4A54"/>
                </a:solidFill>
                <a:latin typeface="Calibri"/>
              </a:rPr>
              <a:t>Clear theory of change, baseline data, and a pathway to counterfactual evaluation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2503170"/>
            <a:ext cx="6583680" cy="1223010"/>
          </a:xfrm>
          <a:prstGeom prst="rect">
            <a:avLst/>
          </a:prstGeom>
          <a:solidFill>
            <a:srgbClr val="FFFFFF"/>
          </a:solidFill>
          <a:ln w="9525">
            <a:solidFill>
              <a:srgbClr val="D0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548890"/>
            <a:ext cx="2286000" cy="113157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D6E6E"/>
                </a:solidFill>
                <a:latin typeface="Calibri"/>
              </a:rPr>
              <a:t>Cost &amp; cost-effectiveness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2548890"/>
            <a:ext cx="3886200" cy="113157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A4A54"/>
                </a:solidFill>
                <a:latin typeface="Calibri"/>
              </a:rPr>
              <a:t>Builds on existing assets; prevention reduces costly late treatment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3817620"/>
            <a:ext cx="6583680" cy="1223010"/>
          </a:xfrm>
          <a:prstGeom prst="rect">
            <a:avLst/>
          </a:prstGeom>
          <a:solidFill>
            <a:srgbClr val="FFFFFF"/>
          </a:solidFill>
          <a:ln w="9525">
            <a:solidFill>
              <a:srgbClr val="D0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3863340"/>
            <a:ext cx="2286000" cy="113157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D6E6E"/>
                </a:solidFill>
                <a:latin typeface="Calibri"/>
              </a:rPr>
              <a:t>Scale &amp; sustainability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3863340"/>
            <a:ext cx="3886200" cy="113157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A4A54"/>
                </a:solidFill>
                <a:latin typeface="Calibri"/>
              </a:rPr>
              <a:t>Portable model; diversified revenue; policy-integration pathway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5132070"/>
            <a:ext cx="6583680" cy="1223010"/>
          </a:xfrm>
          <a:prstGeom prst="rect">
            <a:avLst/>
          </a:prstGeom>
          <a:solidFill>
            <a:srgbClr val="FFFFFF"/>
          </a:solidFill>
          <a:ln w="9525">
            <a:solidFill>
              <a:srgbClr val="D0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5177790"/>
            <a:ext cx="2286000" cy="113157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D6E6E"/>
                </a:solidFill>
                <a:latin typeface="Calibri"/>
              </a:rPr>
              <a:t>Poverty &amp; inequality focus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0" y="5177790"/>
            <a:ext cx="3886200" cy="113157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A4A54"/>
                </a:solidFill>
                <a:latin typeface="Calibri"/>
              </a:rPr>
              <a:t>Targets underserved communities where health shocks drive poverty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0" y="1143000"/>
            <a:ext cx="448056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D6E6E"/>
                </a:solidFill>
                <a:latin typeface="Calibri"/>
              </a:rPr>
              <a:t>SDG alignment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0" y="1508760"/>
            <a:ext cx="4480560" cy="4800600"/>
          </a:xfrm>
          <a:prstGeom prst="rect">
            <a:avLst/>
          </a:prstGeom>
          <a:noFill/>
        </p:spPr>
        <p:txBody>
          <a:bodyPr wrap="square" lIns="25400" rIns="50800" tIns="25400" bIns="25400">
            <a:spAutoFit/>
          </a:bodyPr>
          <a:lstStyle/>
          <a:p>
            <a:pPr>
              <a:lnSpc>
                <a:spcPts val="1600"/>
              </a:lnSpc>
              <a:spcAft>
                <a:spcPts val="500"/>
              </a:spcAft>
            </a:pPr>
            <a:r>
              <a:rPr sz="1300">
                <a:solidFill>
                  <a:srgbClr val="1E2F38"/>
                </a:solidFill>
                <a:latin typeface="Calibri"/>
              </a:rPr>
              <a:t>•  SDG 1 — No Poverty: Prevents health-shock-driven catastrophic spending and lost income</a:t>
            </a:r>
          </a:p>
          <a:p>
            <a:pPr>
              <a:lnSpc>
                <a:spcPts val="1600"/>
              </a:lnSpc>
              <a:spcAft>
                <a:spcPts val="500"/>
              </a:spcAft>
            </a:pPr>
            <a:r>
              <a:rPr sz="1300">
                <a:solidFill>
                  <a:srgbClr val="1E2F38"/>
                </a:solidFill>
                <a:latin typeface="Calibri"/>
              </a:rPr>
              <a:t>•  SDG 3 — Good Health &amp; Well-Being: Predictive community health; maternal/child/NCD focus</a:t>
            </a:r>
          </a:p>
          <a:p>
            <a:pPr>
              <a:lnSpc>
                <a:spcPts val="1600"/>
              </a:lnSpc>
              <a:spcAft>
                <a:spcPts val="500"/>
              </a:spcAft>
            </a:pPr>
            <a:r>
              <a:rPr sz="1300">
                <a:solidFill>
                  <a:srgbClr val="1E2F38"/>
                </a:solidFill>
                <a:latin typeface="Calibri"/>
              </a:rPr>
              <a:t>•  SDG 5 — Gender Equality: Women-led venture; maternal health intelligence</a:t>
            </a:r>
          </a:p>
          <a:p>
            <a:pPr>
              <a:lnSpc>
                <a:spcPts val="1600"/>
              </a:lnSpc>
              <a:spcAft>
                <a:spcPts val="500"/>
              </a:spcAft>
            </a:pPr>
            <a:r>
              <a:rPr sz="1300">
                <a:solidFill>
                  <a:srgbClr val="1E2F38"/>
                </a:solidFill>
                <a:latin typeface="Calibri"/>
              </a:rPr>
              <a:t>•  SDG 10 — Reduced Inequalities: Intelligence and care for underserved communities</a:t>
            </a:r>
          </a:p>
          <a:p>
            <a:pPr>
              <a:lnSpc>
                <a:spcPts val="1600"/>
              </a:lnSpc>
              <a:spcAft>
                <a:spcPts val="500"/>
              </a:spcAft>
            </a:pPr>
            <a:r>
              <a:rPr sz="1300">
                <a:solidFill>
                  <a:srgbClr val="1E2F38"/>
                </a:solidFill>
                <a:latin typeface="Calibri"/>
              </a:rPr>
              <a:t>•  SDG 17 — Partnerships: Government, NGO, insurer, and academic collaboration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6574536"/>
            <a:ext cx="8229600" cy="2743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 |  FID Call for Proposals 2026  |  Your health, our mission.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94415" y="6574536"/>
            <a:ext cx="731520" cy="2743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utreach_audience_full_group_01_opt.jpg"/>
          <p:cNvPicPr>
            <a:picLocks noChangeAspect="1"/>
          </p:cNvPicPr>
          <p:nvPr/>
        </p:nvPicPr>
        <p:blipFill>
          <a:blip r:embed="rId2"/>
          <a:srcRect t="7811" b="781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3474720"/>
            <a:ext cx="12191695" cy="3383280"/>
          </a:xfrm>
          <a:prstGeom prst="rect">
            <a:avLst/>
          </a:prstGeom>
          <a:solidFill>
            <a:srgbClr val="0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749040"/>
            <a:ext cx="10972800" cy="29260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4A3A3"/>
                </a:solidFill>
                <a:latin typeface="Calibri"/>
              </a:rPr>
              <a:t>The 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160520"/>
            <a:ext cx="10972800" cy="5943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A Pilot Grant to validate FCHIP in FairBanks' live catchment 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800600"/>
            <a:ext cx="1097280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and prove the pathway to evaluation and scale.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5486400"/>
            <a:ext cx="109728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F2C79B"/>
                </a:solidFill>
                <a:latin typeface="Calibri"/>
              </a:rPr>
              <a:t>Predictive community health that keeps families out of poverty.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6035040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Your health, our mission.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