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cover_hero_cinematic_opt.jpg"/>
          <p:cNvPicPr>
            <a:picLocks noChangeAspect="1"/>
          </p:cNvPicPr>
          <p:nvPr/>
        </p:nvPicPr>
        <p:blipFill>
          <a:blip r:embed="rId2"/>
          <a:srcRect l="46" r="46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337560"/>
            <a:ext cx="12191695" cy="352044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61188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Fund for Innovation in Development (FID) — Call for Proposals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023360"/>
            <a:ext cx="10972800" cy="6400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709160"/>
            <a:ext cx="109728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(FCHIP)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30352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i="1">
                <a:solidFill>
                  <a:srgbClr val="F2C79B"/>
                </a:solidFill>
                <a:latin typeface="Calibri"/>
              </a:rPr>
              <a:t>Predictive community health that keeps families out of poverty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806440"/>
            <a:ext cx="1097280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1722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0E8E8"/>
                </a:solidFill>
                <a:latin typeface="Calibri"/>
              </a:rPr>
              <a:t>Requested stage: Pilot Grant (up to €200,000) — pathway to Impact Evaluation &amp; Scale-Up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When illness strikes, poverty follows</a:t>
            </a:r>
          </a:p>
        </p:txBody>
      </p:sp>
      <p:pic>
        <p:nvPicPr>
          <p:cNvPr id="6" name="Picture 5" descr="reactive_clinic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34540"/>
            <a:ext cx="5212080" cy="3474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943600" y="1280160"/>
            <a:ext cx="5760720" cy="498348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2100"/>
              </a:lnSpc>
              <a:spcAft>
                <a:spcPts val="700"/>
              </a:spcAft>
            </a:pPr>
            <a:r>
              <a:rPr sz="1700">
                <a:solidFill>
                  <a:srgbClr val="1E2F38"/>
                </a:solidFill>
                <a:latin typeface="Calibri"/>
              </a:rPr>
              <a:t>•  Care starts only after people fall sick — outbreaks caught late</a:t>
            </a:r>
          </a:p>
          <a:p>
            <a:pPr>
              <a:lnSpc>
                <a:spcPts val="2100"/>
              </a:lnSpc>
              <a:spcAft>
                <a:spcPts val="700"/>
              </a:spcAft>
            </a:pPr>
            <a:r>
              <a:rPr sz="1700">
                <a:solidFill>
                  <a:srgbClr val="1E2F38"/>
                </a:solidFill>
                <a:latin typeface="Calibri"/>
              </a:rPr>
              <a:t>•  Community data trapped in paper registers and silos</a:t>
            </a:r>
          </a:p>
          <a:p>
            <a:pPr>
              <a:lnSpc>
                <a:spcPts val="2100"/>
              </a:lnSpc>
              <a:spcAft>
                <a:spcPts val="700"/>
              </a:spcAft>
            </a:pPr>
            <a:r>
              <a:rPr sz="1700">
                <a:solidFill>
                  <a:srgbClr val="1E2F38"/>
                </a:solidFill>
                <a:latin typeface="Calibri"/>
              </a:rPr>
              <a:t>•  High-risk pregnancies and NCDs identified too late</a:t>
            </a:r>
          </a:p>
          <a:p>
            <a:pPr>
              <a:lnSpc>
                <a:spcPts val="2100"/>
              </a:lnSpc>
              <a:spcAft>
                <a:spcPts val="700"/>
              </a:spcAft>
            </a:pPr>
            <a:r>
              <a:rPr sz="1700">
                <a:solidFill>
                  <a:srgbClr val="1E2F38"/>
                </a:solidFill>
                <a:latin typeface="Calibri"/>
              </a:rPr>
              <a:t>•  Medicine stock-outs during seasonal surges</a:t>
            </a:r>
          </a:p>
          <a:p>
            <a:pPr>
              <a:lnSpc>
                <a:spcPts val="2100"/>
              </a:lnSpc>
              <a:spcAft>
                <a:spcPts val="700"/>
              </a:spcAft>
            </a:pPr>
            <a:r>
              <a:rPr sz="1700">
                <a:solidFill>
                  <a:srgbClr val="1E2F38"/>
                </a:solidFill>
                <a:latin typeface="Calibri"/>
              </a:rPr>
              <a:t>•  Health shocks push poor families into catastrophic spending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 INNOVATION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FCHIP: community data becomes prediction</a:t>
            </a:r>
          </a:p>
        </p:txBody>
      </p:sp>
      <p:pic>
        <p:nvPicPr>
          <p:cNvPr id="6" name="Picture 5" descr="data_flow_iso_labeled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07820"/>
            <a:ext cx="6492240" cy="432816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78040" y="1234440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78040" y="1234440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42632" y="1362456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Capture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42632" y="1887321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Offline CHW/VHT mobile tools at the household level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78040" y="2953512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78040" y="2953512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42632" y="3081528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42632" y="3606393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AI/ML risk scoring, GIS hotspots, decision support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178040" y="4672584"/>
            <a:ext cx="4617720" cy="155448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178040" y="4672584"/>
            <a:ext cx="4617720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42632" y="4800600"/>
            <a:ext cx="4288536" cy="435254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0D6E6E"/>
                </a:solidFill>
                <a:latin typeface="Calibri"/>
              </a:rPr>
              <a:t>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42632" y="5325465"/>
            <a:ext cx="4288536" cy="7772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Alerts to CHWs, clinics, districts, insurers, partners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DEEP TECHNOLOGY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Substantial engineering, not a light app</a:t>
            </a:r>
          </a:p>
        </p:txBody>
      </p:sp>
      <p:pic>
        <p:nvPicPr>
          <p:cNvPr id="6" name="Picture 5" descr="deep_tech_collage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95500"/>
            <a:ext cx="5029200" cy="33528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60720" y="11978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0" y="12527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Artificial Intelligence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0" y="15270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Outbreak early warning; maternal and NCD risk scoring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720" y="20741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1290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Machine Learning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0" y="24033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Pattern learning from community data, seasonal trends, outreach outcomes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29504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0" y="30053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GIS Mapping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0" y="32796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Disease distribution, hotspots, and resource-gap visualisation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720" y="38267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0" y="38816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Mobile Data Collection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43600" y="41559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Offline-capable CHW/VHT capture at household 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47030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0" y="47579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Cloud Computing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0" y="50322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Secure sync across facilities, partners, administrative levels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60720" y="5579364"/>
            <a:ext cx="5989320" cy="766572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0" y="5634228"/>
            <a:ext cx="566928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Analytics &amp; NLP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5908548"/>
            <a:ext cx="566928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Live dashboards; local-language symptom capture where useful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THEORY OF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From data to poverty reduction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Inputs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FID Pilot Grant; FairBanks live operations; CHW/VHT networks; mobile + cloud + AI stack.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79776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79776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79776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Activities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9504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Build offline capture app, cloud pipeline, AI risk models, GIS layer, and dashboards; train CHWs; run pilot.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02352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102352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02352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Outputs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12080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Structured community health data; predictive alerts; facility/district dashboards; referrals triggered.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424928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24928" y="1371600"/>
            <a:ext cx="2212848" cy="5029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24928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Outcomes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34656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Earlier detection and referral; fewer missed high-risk cases; fewer stock-outs; better-targeted outreach.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47504" y="1371600"/>
            <a:ext cx="2212848" cy="493776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747504" y="1371600"/>
            <a:ext cx="2212848" cy="50292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4" y="1444752"/>
            <a:ext cx="2212848" cy="38404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Impact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57232" y="2011680"/>
            <a:ext cx="1993392" cy="4160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3A4A54"/>
                </a:solidFill>
                <a:latin typeface="Calibri"/>
              </a:rPr>
              <a:t>Reduced preventable illness and health-driven poverty; lower inequality for underserved communities.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EVIDENCE OF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Built to be measured and evaluated</a:t>
            </a:r>
          </a:p>
        </p:txBody>
      </p:sp>
      <p:pic>
        <p:nvPicPr>
          <p:cNvPr id="6" name="Picture 5" descr="gis_hotspots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95500"/>
            <a:ext cx="5029200" cy="3352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760720" y="1234440"/>
            <a:ext cx="594360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Existing evidence: CHW/mHealth programmes and community-based early warning have documented gains in maternal, child, and communicable-disease outcomes across sub-Saharan Africa; FCHIP builds on this base by adding predictive intelligence across multiple data sources.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Baseline data: FairBanks outreach screening, maternal programmes, pharmacy dispensing, and facility encounters already generate the signals needed to establish a credible pre-intervention baseline.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Measurable outcomes: alert accuracy, time-to-referral, proportion of high-risk pregnancies identified early, immunisation and screening coverage, and stock-out frequency.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Evaluation pathway: the pilot is designed so that a subsequent counterfactual impact evaluation (comparison communities) can rigorously test effect sizes — the qualifying step toward FID's Impact Evaluation and Scale-Up stages.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COST &amp; COST-EFFECTIVENESS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Prevention costs less than late treatment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234440"/>
            <a:ext cx="566928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Builds on assets that already exist — a live medical centre, trained CHW/VHT networks, and outreach programmes — so the pilot avoids the cost of standing up field operations from scratch.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Offline-first, mobile-based capture keeps hardware and connectivity costs low and works in low-bandwidth settings.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Prevention is cheaper than late treatment: early detection of outbreaks, maternal risk, and NCDs reduces costly emergency care and lost livelihoods.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A shared platform serves many users (CHWs, clinics, districts, insurers), spreading cost and improving cost per beneficiary as coverage grows.</a:t>
            </a:r>
          </a:p>
        </p:txBody>
      </p:sp>
      <p:pic>
        <p:nvPicPr>
          <p:cNvPr id="7" name="Picture 6" descr="outreach_bp_screening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973580"/>
            <a:ext cx="5394960" cy="35966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SCALE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portable model with diversified revenue</a:t>
            </a:r>
          </a:p>
        </p:txBody>
      </p:sp>
      <p:pic>
        <p:nvPicPr>
          <p:cNvPr id="6" name="Picture 5" descr="dashboard_demo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73580"/>
            <a:ext cx="5394960" cy="3596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26480" y="1234440"/>
            <a:ext cx="566928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Technical scalability: cloud architecture and standard mobile tools extend from one catchment to many districts without redesign.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Model portability: CHW/VHT systems exist across Uganda and much of Africa, so the approach transfers to other ODA-eligible markets.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Financial sustainability: diversified revenue — clinic/hospital subscriptions, district and Ministry of Health deployments, NGO programme monitoring, insurer analytics, and partner APIs — reduces reliance on grants over time.</a:t>
            </a:r>
          </a:p>
          <a:p>
            <a:pPr>
              <a:lnSpc>
                <a:spcPts val="1800"/>
              </a:lnSpc>
              <a:spcAft>
                <a:spcPts val="600"/>
              </a:spcAft>
            </a:pPr>
            <a:r>
              <a:rPr sz="1500">
                <a:solidFill>
                  <a:srgbClr val="1E2F38"/>
                </a:solidFill>
                <a:latin typeface="Calibri"/>
              </a:rPr>
              <a:t>•  Policy pathway: evidence generated in the pilot supports integration into public health planning and district decision-making, aligning with FID's public-policy funding streams.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FAIRBANKS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A live venture, ready to pilot</a:t>
            </a:r>
          </a:p>
        </p:txBody>
      </p:sp>
      <p:pic>
        <p:nvPicPr>
          <p:cNvPr id="6" name="Picture 5" descr="outreach_facilitator_canopy_01_op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912620"/>
            <a:ext cx="5577840" cy="37185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9360" y="1234440"/>
            <a:ext cx="5486400" cy="507492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Functioning FairBanks Medical Centre with direct patient and community access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Active Community Reach outreach in Bukoto, Kyebando, Kisaasi, Kamwokya, Kikaaya, and surrounding areas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Established CHW and VHT relationships and trust in target communities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Live programmes: maternal &amp; child health, Gericare, chronic-disease screening, corporate &amp; school health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Digital health records foundation and pharmacy operations already generating data signals</a:t>
            </a:r>
          </a:p>
          <a:p>
            <a:pPr>
              <a:lnSpc>
                <a:spcPts val="1700"/>
              </a:lnSpc>
              <a:spcAft>
                <a:spcPts val="600"/>
              </a:spcAft>
            </a:pPr>
            <a:r>
              <a:rPr sz="1400">
                <a:solidFill>
                  <a:srgbClr val="1E2F38"/>
                </a:solidFill>
                <a:latin typeface="Calibri"/>
              </a:rPr>
              <a:t>•  Research and community partnerships that support ethical data use and evaluation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PLAN &amp;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Pilot first, then evaluate and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Roadmap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55448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5448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0020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1 — Pilot  (0–12 mo)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87452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MVP live with FairBanks CHWs/VHTs; validate 3 use cases; establish baseline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6606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76606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81178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2 — Impact evaluation prep  (12–18 mo)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08610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Counterfactual design; comparison communities; measurement framework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97764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3977640"/>
            <a:ext cx="91440" cy="11201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402336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3 — District scale  (18–36 mo)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429768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Partner clinics and district structures; NGO/insurer modules; APIs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5189220"/>
            <a:ext cx="5577840" cy="112014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5189220"/>
            <a:ext cx="91440" cy="112014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5234940"/>
            <a:ext cx="5212080" cy="274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A1F2E"/>
                </a:solidFill>
                <a:latin typeface="Calibri"/>
              </a:rPr>
              <a:t>Phase 4 — Scale-up  (Year 3+)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5509260"/>
            <a:ext cx="52120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3A4A54"/>
                </a:solidFill>
                <a:latin typeface="Calibri"/>
              </a:rPr>
              <a:t>Multi-district Uganda; East Africa entry; policy integration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1143000"/>
            <a:ext cx="54864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0D6E6E"/>
                </a:solidFill>
                <a:latin typeface="Calibri"/>
              </a:rPr>
              <a:t>Indicative pilot budget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0800" y="154533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161848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Product &amp; engineering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24160" y="161848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€70,000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0" y="235305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242620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Field pilot &amp; CHW training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424160" y="242620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€45,000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0" y="316077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323392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Data, evaluation &amp; M&amp;E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424160" y="323392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€35,000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0" y="396849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0" y="404164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Data governance &amp; compliance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24160" y="404164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€15,000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0" y="4776216"/>
            <a:ext cx="5394960" cy="734568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83680" y="484936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1E2F38"/>
                </a:solidFill>
                <a:latin typeface="Calibri"/>
              </a:rPr>
              <a:t>Project management &amp; operations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484936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€35,000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5583936"/>
            <a:ext cx="5394960" cy="734568"/>
          </a:xfrm>
          <a:prstGeom prst="rect">
            <a:avLst/>
          </a:prstGeom>
          <a:solidFill>
            <a:srgbClr val="E8F0F0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83680" y="5657088"/>
            <a:ext cx="393192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0A1F2E"/>
                </a:solidFill>
                <a:latin typeface="Calibri"/>
              </a:rPr>
              <a:t>Total (indicative Pilot Grant)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424160" y="5657088"/>
            <a:ext cx="1234440" cy="36576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C45C26"/>
                </a:solidFill>
                <a:latin typeface="Calibri"/>
              </a:rPr>
              <a:t>€200,000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96012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256032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C45C26"/>
                </a:solidFill>
                <a:latin typeface="Calibri"/>
              </a:rPr>
              <a:t>WHY IT FITS FID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"/>
            <a:ext cx="11247120" cy="47548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0A1F2E"/>
                </a:solidFill>
                <a:latin typeface="Calibri"/>
              </a:rPr>
              <a:t>Evidence, cost-effectiveness, scale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18872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23444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Evidence of 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123444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Clear theory of change, baseline data, and a pathway to counterfactual evaluation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0317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54889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Cost &amp; cost-effectiveness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254889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Builds on existing assets; prevention reduces costly late treatment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81762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86334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Scale &amp; sustainability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386334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Portable model; diversified revenue; policy-integration pathway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132070"/>
            <a:ext cx="6583680" cy="1223010"/>
          </a:xfrm>
          <a:prstGeom prst="rect">
            <a:avLst/>
          </a:prstGeom>
          <a:solidFill>
            <a:srgbClr val="FFFFFF"/>
          </a:solidFill>
          <a:ln w="9525">
            <a:solidFill>
              <a:srgbClr val="D0DC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5177790"/>
            <a:ext cx="22860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0D6E6E"/>
                </a:solidFill>
                <a:latin typeface="Calibri"/>
              </a:rPr>
              <a:t>Poverty &amp; inequality focus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26080" y="5177790"/>
            <a:ext cx="3886200" cy="113157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3A4A54"/>
                </a:solidFill>
                <a:latin typeface="Calibri"/>
              </a:rPr>
              <a:t>Targets underserved communities where health shocks drive poverty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1143000"/>
            <a:ext cx="448056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0D6E6E"/>
                </a:solidFill>
                <a:latin typeface="Calibri"/>
              </a:rPr>
              <a:t>SDG alignment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0" y="1508760"/>
            <a:ext cx="4480560" cy="4800600"/>
          </a:xfrm>
          <a:prstGeom prst="rect">
            <a:avLst/>
          </a:prstGeom>
          <a:noFill/>
        </p:spPr>
        <p:txBody>
          <a:bodyPr wrap="square" lIns="25400" rIns="50800" tIns="25400" bIns="25400">
            <a:spAutoFit/>
          </a:bodyPr>
          <a:lstStyle/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 — No Poverty: Prevents health-shock-driven catastrophic spending and lost income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3 — Good Health &amp; Well-Being: Predictive community health; maternal/child/NCD focus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5 — Gender Equality: Women-led venture; maternal health intelligence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10 — Reduced Inequalities: Intelligence and care for underserved communities</a:t>
            </a:r>
          </a:p>
          <a:p>
            <a:pPr>
              <a:lnSpc>
                <a:spcPts val="1600"/>
              </a:lnSpc>
              <a:spcAft>
                <a:spcPts val="500"/>
              </a:spcAft>
            </a:pPr>
            <a:r>
              <a:rPr sz="1300">
                <a:solidFill>
                  <a:srgbClr val="1E2F38"/>
                </a:solidFill>
                <a:latin typeface="Calibri"/>
              </a:rPr>
              <a:t>•  SDG 17 — Partnerships: Government, NGO, insurer, and academic collaboration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" y="6574536"/>
            <a:ext cx="822960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FairBanks FCHIP  |  FID Call for Proposals 2026  |  Your health, our mission.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74536"/>
            <a:ext cx="731520" cy="274320"/>
          </a:xfrm>
          <a:prstGeom prst="rect">
            <a:avLst/>
          </a:prstGeom>
          <a:noFill/>
        </p:spPr>
        <p:txBody>
          <a:bodyPr wrap="square" anchor="ctr" lIns="25400" rIns="25400" tIns="25400" bIns="254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utreach_audience_full_group_01_opt.jpg"/>
          <p:cNvPicPr>
            <a:picLocks noChangeAspect="1"/>
          </p:cNvPicPr>
          <p:nvPr/>
        </p:nvPicPr>
        <p:blipFill>
          <a:blip r:embed="rId2"/>
          <a:srcRect t="7811" b="781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3474720"/>
            <a:ext cx="12191695" cy="338328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749040"/>
            <a:ext cx="10972800" cy="292608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4A3A3"/>
                </a:solidFill>
                <a:latin typeface="Calibri"/>
              </a:rP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160520"/>
            <a:ext cx="10972800" cy="5943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 Pilot Grant to validate FCHIP in FairBanks' live catchment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800600"/>
            <a:ext cx="10972800" cy="5029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Calibri"/>
              </a:rPr>
              <a:t>and prove the pathway to evaluation and scale.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486400"/>
            <a:ext cx="109728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1">
                <a:solidFill>
                  <a:srgbClr val="F2C79B"/>
                </a:solidFill>
                <a:latin typeface="Calibri"/>
              </a:rPr>
              <a:t>Predictive community health that keeps families out of poverty.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035040"/>
            <a:ext cx="10972800" cy="3200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Your health, our mission.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