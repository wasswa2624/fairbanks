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hero_cinematic_opt.jpg"/>
          <p:cNvPicPr>
            <a:picLocks noChangeAspect="1"/>
          </p:cNvPicPr>
          <p:nvPr/>
        </p:nvPicPr>
        <p:blipFill>
          <a:blip r:embed="rId2"/>
          <a:stretch>
            <a:fillRect/>
          </a:stretch>
        </p:blipFill>
        <p:spPr>
          <a:xfrm>
            <a:off x="0" y="2263"/>
            <a:ext cx="12191695" cy="6853474"/>
          </a:xfrm>
          <a:prstGeom prst="rect">
            <a:avLst/>
          </a:prstGeom>
        </p:spPr>
      </p:pic>
      <p:sp>
        <p:nvSpPr>
          <p:cNvPr id="3" name="Rectangle 2"/>
          <p:cNvSpPr/>
          <p:nvPr/>
        </p:nvSpPr>
        <p:spPr>
          <a:xfrm>
            <a:off x="0" y="3566160"/>
            <a:ext cx="12191695" cy="3291840"/>
          </a:xfrm>
          <a:prstGeom prst="rect">
            <a:avLst/>
          </a:prstGeom>
          <a:solidFill>
            <a:srgbClr val="0A1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840480"/>
            <a:ext cx="10972800" cy="274320"/>
          </a:xfrm>
          <a:prstGeom prst="rect">
            <a:avLst/>
          </a:prstGeom>
          <a:noFill/>
        </p:spPr>
        <p:txBody>
          <a:bodyPr wrap="square">
            <a:spAutoFit/>
          </a:bodyPr>
          <a:lstStyle/>
          <a:p>
            <a:pPr algn="l">
              <a:lnSpc>
                <a:spcPct val="115000"/>
              </a:lnSpc>
              <a:spcBef>
                <a:spcPts val="0"/>
              </a:spcBef>
              <a:spcAft>
                <a:spcPts val="200"/>
              </a:spcAft>
            </a:pPr>
            <a:r>
              <a:rPr sz="1100" b="1" i="0">
                <a:solidFill>
                  <a:srgbClr val="0D6E6E"/>
                </a:solidFill>
                <a:latin typeface="Calibri"/>
              </a:rPr>
              <a:t>U.S. Department of State / GHSD — Advancing Global Health (DFOP0017890)</a:t>
            </a:r>
          </a:p>
        </p:txBody>
      </p:sp>
      <p:sp>
        <p:nvSpPr>
          <p:cNvPr id="5" name="TextBox 4"/>
          <p:cNvSpPr txBox="1"/>
          <p:nvPr/>
        </p:nvSpPr>
        <p:spPr>
          <a:xfrm>
            <a:off x="502920" y="4251960"/>
            <a:ext cx="10972800" cy="502920"/>
          </a:xfrm>
          <a:prstGeom prst="rect">
            <a:avLst/>
          </a:prstGeom>
          <a:noFill/>
        </p:spPr>
        <p:txBody>
          <a:bodyPr wrap="square">
            <a:spAutoFit/>
          </a:bodyPr>
          <a:lstStyle/>
          <a:p>
            <a:pPr algn="l">
              <a:lnSpc>
                <a:spcPct val="115000"/>
              </a:lnSpc>
              <a:spcBef>
                <a:spcPts val="0"/>
              </a:spcBef>
              <a:spcAft>
                <a:spcPts val="200"/>
              </a:spcAft>
            </a:pPr>
            <a:r>
              <a:rPr sz="2600" b="1" i="0">
                <a:solidFill>
                  <a:srgbClr val="FFFFFF"/>
                </a:solidFill>
                <a:latin typeface="Calibri"/>
              </a:rPr>
              <a:t>Statement of Interest — Phase 1</a:t>
            </a:r>
          </a:p>
        </p:txBody>
      </p:sp>
      <p:sp>
        <p:nvSpPr>
          <p:cNvPr id="6" name="TextBox 5"/>
          <p:cNvSpPr txBox="1"/>
          <p:nvPr/>
        </p:nvSpPr>
        <p:spPr>
          <a:xfrm>
            <a:off x="502920" y="4846320"/>
            <a:ext cx="10972800" cy="320040"/>
          </a:xfrm>
          <a:prstGeom prst="rect">
            <a:avLst/>
          </a:prstGeom>
          <a:noFill/>
        </p:spPr>
        <p:txBody>
          <a:bodyPr wrap="square">
            <a:spAutoFit/>
          </a:bodyPr>
          <a:lstStyle/>
          <a:p>
            <a:pPr algn="l">
              <a:lnSpc>
                <a:spcPct val="115000"/>
              </a:lnSpc>
              <a:spcBef>
                <a:spcPts val="0"/>
              </a:spcBef>
              <a:spcAft>
                <a:spcPts val="200"/>
              </a:spcAft>
            </a:pPr>
            <a:r>
              <a:rPr sz="1300" b="1" i="1">
                <a:solidFill>
                  <a:srgbClr val="F2C79B"/>
                </a:solidFill>
                <a:latin typeface="Calibri"/>
              </a:rPr>
              <a:t>FairBanks Medical Centre  ·  FairBanks Community Reach  ·  FCHIP</a:t>
            </a:r>
          </a:p>
        </p:txBody>
      </p:sp>
      <p:sp>
        <p:nvSpPr>
          <p:cNvPr id="7" name="TextBox 6"/>
          <p:cNvSpPr txBox="1"/>
          <p:nvPr/>
        </p:nvSpPr>
        <p:spPr>
          <a:xfrm>
            <a:off x="502920" y="5303520"/>
            <a:ext cx="10972800" cy="411480"/>
          </a:xfrm>
          <a:prstGeom prst="rect">
            <a:avLst/>
          </a:prstGeom>
          <a:noFill/>
        </p:spPr>
        <p:txBody>
          <a:bodyPr wrap="square">
            <a:spAutoFit/>
          </a:bodyPr>
          <a:lstStyle/>
          <a:p>
            <a:pPr algn="l">
              <a:lnSpc>
                <a:spcPct val="115000"/>
              </a:lnSpc>
              <a:spcBef>
                <a:spcPts val="0"/>
              </a:spcBef>
              <a:spcAft>
                <a:spcPts val="200"/>
              </a:spcAft>
            </a:pPr>
            <a:r>
              <a:rPr sz="1200" b="0" i="1">
                <a:solidFill>
                  <a:srgbClr val="D0E8E8"/>
                </a:solidFill>
                <a:latin typeface="Calibri"/>
              </a:rPr>
              <a:t>Objective 4 — Helping community visit data reach eCHIS, clinic records, and DHIS2/eIDSR</a:t>
            </a:r>
          </a:p>
        </p:txBody>
      </p:sp>
      <p:sp>
        <p:nvSpPr>
          <p:cNvPr id="8" name="TextBox 7"/>
          <p:cNvSpPr txBox="1"/>
          <p:nvPr/>
        </p:nvSpPr>
        <p:spPr>
          <a:xfrm>
            <a:off x="502920" y="5852160"/>
            <a:ext cx="10972800" cy="274320"/>
          </a:xfrm>
          <a:prstGeom prst="rect">
            <a:avLst/>
          </a:prstGeom>
          <a:noFill/>
        </p:spPr>
        <p:txBody>
          <a:bodyPr wrap="square">
            <a:spAutoFit/>
          </a:bodyPr>
          <a:lstStyle/>
          <a:p>
            <a:pPr algn="l">
              <a:lnSpc>
                <a:spcPct val="115000"/>
              </a:lnSpc>
              <a:spcBef>
                <a:spcPts val="0"/>
              </a:spcBef>
              <a:spcAft>
                <a:spcPts val="200"/>
              </a:spcAft>
            </a:pPr>
            <a:r>
              <a:rPr sz="1200" b="0" i="0">
                <a:solidFill>
                  <a:srgbClr val="FFFFFF"/>
                </a:solidFill>
                <a:latin typeface="Calibri"/>
              </a:rPr>
              <a:t>Phase 1 Statement of Interest  |  $1,850,000  |  36 months  |  Due 31 July 2026</a:t>
            </a:r>
          </a:p>
        </p:txBody>
      </p:sp>
      <p:sp>
        <p:nvSpPr>
          <p:cNvPr id="9" name="TextBox 8"/>
          <p:cNvSpPr txBox="1"/>
          <p:nvPr/>
        </p:nvSpPr>
        <p:spPr>
          <a:xfrm>
            <a:off x="502920" y="6217920"/>
            <a:ext cx="10972800" cy="274320"/>
          </a:xfrm>
          <a:prstGeom prst="rect">
            <a:avLst/>
          </a:prstGeom>
          <a:noFill/>
        </p:spPr>
        <p:txBody>
          <a:bodyPr wrap="square">
            <a:spAutoFit/>
          </a:bodyPr>
          <a:lstStyle/>
          <a:p>
            <a:pPr algn="l">
              <a:lnSpc>
                <a:spcPct val="115000"/>
              </a:lnSpc>
              <a:spcBef>
                <a:spcPts val="0"/>
              </a:spcBef>
              <a:spcAft>
                <a:spcPts val="200"/>
              </a:spcAft>
            </a:pPr>
            <a:r>
              <a:rPr sz="1300" b="1" i="0">
                <a:solidFill>
                  <a:srgbClr val="FFFFFF"/>
                </a:solidFill>
                <a:latin typeface="Calibri"/>
              </a:rPr>
              <a:t>Your health, our mission.</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The Problem</a:t>
            </a:r>
          </a:p>
        </p:txBody>
      </p:sp>
      <p:pic>
        <p:nvPicPr>
          <p:cNvPr id="5" name="Picture 4" descr="outreach_outdoor_clinic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500" b="0" i="0">
                <a:solidFill>
                  <a:srgbClr val="1E2F38"/>
                </a:solidFill>
                <a:latin typeface="Calibri"/>
              </a:rPr>
              <a:t>Uganda is moving through a five-year health transition (April 2026 to December 2030). Clinics, districts, and communities must keep HIV, TB, malaria, maternal and child health, immunisation, and outbreak services running well while more work shifts to government-led programmes. That only works if leaders can see what is happening in communities in time to act - not weeks later from paper books.</a:t>
            </a:r>
          </a:p>
          <a:p>
            <a:pPr algn="l">
              <a:lnSpc>
                <a:spcPct val="128000"/>
              </a:lnSpc>
              <a:spcBef>
                <a:spcPts val="0"/>
              </a:spcBef>
              <a:spcAft>
                <a:spcPts val="200"/>
              </a:spcAft>
            </a:pPr>
            <a:r>
              <a:rPr sz="1500" b="0" i="0">
                <a:solidFill>
                  <a:srgbClr val="1E2F38"/>
                </a:solidFill>
                <a:latin typeface="Calibri"/>
              </a:rPr>
              <a:t>Community Health Workers and Village Health Teams already visit homes and send people for care. Too often, what they record never reaches eCHIS, clinic records, DHIS2/eIDSR, or the National Data Warehouse in a form people can use. Then national systems miss rising fever cases, missed antenatal visits, gaps in immunisation, and medicine pressure. Care stays reactive, follow-up is weak, and hard-won gains can slip.</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2</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What We Propose</a:t>
            </a:r>
          </a:p>
        </p:txBody>
      </p:sp>
      <p:pic>
        <p:nvPicPr>
          <p:cNvPr id="5" name="Picture 4" descr="data_flow_iso_labeled_opt.jpg"/>
          <p:cNvPicPr>
            <a:picLocks noChangeAspect="1"/>
          </p:cNvPicPr>
          <p:nvPr/>
        </p:nvPicPr>
        <p:blipFill>
          <a:blip r:embed="rId2"/>
          <a:stretch>
            <a:fillRect/>
          </a:stretch>
        </p:blipFill>
        <p:spPr>
          <a:xfrm>
            <a:off x="411480" y="1890391"/>
            <a:ext cx="5303520" cy="3534417"/>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200" b="0" i="0">
                <a:solidFill>
                  <a:srgbClr val="1E2F38"/>
                </a:solidFill>
                <a:latin typeface="Calibri"/>
              </a:rPr>
              <a:t>We want to trial, then hand over, a practical tool - the FairBanks Community Health Intelligence Platform (FCHIP) - that lets CHWs and VHTs record household and visit information on phones even offline, sync it safely, match it to national reporting needs, and help the clinic and district act. FCHIP is not meant to replace Uganda's national systems. It is a bridge so community work shows up where it should and helps prevent problems earlier.</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3</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Who Gains What</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1300"/>
              </a:spcAft>
            </a:pPr>
            <a:r>
              <a:rPr sz="2500" b="0" i="0">
                <a:solidFill>
                  <a:srgbClr val="1E2F38"/>
                </a:solidFill>
                <a:latin typeface="Calibri"/>
              </a:rPr>
              <a:t>• Uganda / Ministry of Health: More complete community data in eCHIS, DHIS2/eIDSR, and related national systems; clearer proof...</a:t>
            </a:r>
          </a:p>
          <a:p>
            <a:pPr algn="l">
              <a:lnSpc>
                <a:spcPct val="128000"/>
              </a:lnSpc>
              <a:spcBef>
                <a:spcPts val="0"/>
              </a:spcBef>
              <a:spcAft>
                <a:spcPts val="1300"/>
              </a:spcAft>
            </a:pPr>
            <a:r>
              <a:rPr sz="2500" b="0" i="0">
                <a:solidFill>
                  <a:srgbClr val="1E2F38"/>
                </a:solidFill>
                <a:latin typeface="Calibri"/>
              </a:rPr>
              <a:t>• U.S. Department of State / GHSD: A Ugandan partner with a working clinic and community network that keeps essential services goi...</a:t>
            </a:r>
          </a:p>
          <a:p>
            <a:pPr algn="l">
              <a:lnSpc>
                <a:spcPct val="128000"/>
              </a:lnSpc>
              <a:spcBef>
                <a:spcPts val="0"/>
              </a:spcBef>
              <a:spcAft>
                <a:spcPts val="1300"/>
              </a:spcAft>
            </a:pPr>
            <a:r>
              <a:rPr sz="2500" b="0" i="0">
                <a:solidFill>
                  <a:srgbClr val="1E2F38"/>
                </a:solidFill>
                <a:latin typeface="Calibri"/>
              </a:rPr>
              <a:t>• Districts &amp; facilities: Simple screens to plan outreach, follow referrals, and track programmes; maps that show hotspot...</a:t>
            </a:r>
          </a:p>
          <a:p>
            <a:pPr algn="l">
              <a:lnSpc>
                <a:spcPct val="128000"/>
              </a:lnSpc>
              <a:spcBef>
                <a:spcPts val="0"/>
              </a:spcBef>
              <a:spcAft>
                <a:spcPts val="1300"/>
              </a:spcAft>
            </a:pPr>
            <a:r>
              <a:rPr sz="2500" b="0" i="0">
                <a:solidFill>
                  <a:srgbClr val="1E2F38"/>
                </a:solidFill>
                <a:latin typeface="Calibri"/>
              </a:rPr>
              <a:t>• Communities &amp; CHWs/VHTs: Easy tools that work offline, quicker support from the medical centre, and care that reaches mo...</a:t>
            </a:r>
          </a:p>
          <a:p>
            <a:pPr algn="l">
              <a:lnSpc>
                <a:spcPct val="128000"/>
              </a:lnSpc>
              <a:spcBef>
                <a:spcPts val="0"/>
              </a:spcBef>
              <a:spcAft>
                <a:spcPts val="200"/>
              </a:spcAft>
            </a:pPr>
            <a:r>
              <a:rPr sz="2500" b="0" i="0">
                <a:solidFill>
                  <a:srgbClr val="1E2F38"/>
                </a:solidFill>
                <a:latin typeface="Calibri"/>
              </a:rPr>
              <a:t>• FairBanks / FCHIP: A real place to test and write down a working data-sharing approach, then share the guides, tra...</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4</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IV</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What We Will Do</a:t>
            </a:r>
          </a:p>
        </p:txBody>
      </p:sp>
      <p:pic>
        <p:nvPicPr>
          <p:cNvPr id="5" name="Picture 4" descr="outreach_mobile_phone_demo_01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100"/>
              </a:spcAft>
            </a:pPr>
            <a:r>
              <a:rPr sz="2000" b="0" i="0">
                <a:solidFill>
                  <a:srgbClr val="1E2F38"/>
                </a:solidFill>
                <a:latin typeface="Calibri"/>
              </a:rPr>
              <a:t>• A1. Put simple offline phone tools in the hands of CHWs and VHTs so household and visit records match eCHIS ideas a...</a:t>
            </a:r>
          </a:p>
          <a:p>
            <a:pPr algn="l">
              <a:lnSpc>
                <a:spcPct val="128000"/>
              </a:lnSpc>
              <a:spcBef>
                <a:spcPts val="0"/>
              </a:spcBef>
              <a:spcAft>
                <a:spcPts val="1100"/>
              </a:spcAft>
            </a:pPr>
            <a:r>
              <a:rPr sz="2000" b="0" i="0">
                <a:solidFill>
                  <a:srgbClr val="1E2F38"/>
                </a:solidFill>
                <a:latin typeface="Calibri"/>
              </a:rPr>
              <a:t>• A2. Set up safe syncing and clear access rules so community records reach FairBanks Medical Centre work and authori...</a:t>
            </a:r>
          </a:p>
          <a:p>
            <a:pPr algn="l">
              <a:lnSpc>
                <a:spcPct val="128000"/>
              </a:lnSpc>
              <a:spcBef>
                <a:spcPts val="0"/>
              </a:spcBef>
              <a:spcAft>
                <a:spcPts val="1100"/>
              </a:spcAft>
            </a:pPr>
            <a:r>
              <a:rPr sz="2000" b="0" i="0">
                <a:solidFill>
                  <a:srgbClr val="1E2F38"/>
                </a:solidFill>
                <a:latin typeface="Calibri"/>
              </a:rPr>
              <a:t>• A3. Match community indicators to DHIS2 reports and show how summary data can move for maternal and child health, i...</a:t>
            </a:r>
          </a:p>
          <a:p>
            <a:pPr algn="l">
              <a:lnSpc>
                <a:spcPct val="128000"/>
              </a:lnSpc>
              <a:spcBef>
                <a:spcPts val="0"/>
              </a:spcBef>
              <a:spcAft>
                <a:spcPts val="200"/>
              </a:spcAft>
            </a:pPr>
            <a:r>
              <a:rPr sz="2000" b="0" i="0">
                <a:solidFill>
                  <a:srgbClr val="1E2F38"/>
                </a:solidFill>
                <a:latin typeface="Calibri"/>
              </a:rPr>
              <a:t>• A4. Give clinics and programmes clear dashboards and hotspot maps that help trigger outreach, referrals, and supply...</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5</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How We Will Work</a:t>
            </a:r>
          </a:p>
        </p:txBody>
      </p:sp>
      <p:pic>
        <p:nvPicPr>
          <p:cNvPr id="5" name="Picture 4" descr="dashboard_demo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Community visits → safe sync → links to eCHIS, clinic records, and DHIS2/eIDSR → dashboards and maps → clear handoff plan for the Ministry of Health.</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6</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What Success Looks Like</a:t>
            </a:r>
          </a:p>
        </p:txBody>
      </p:sp>
      <p:pic>
        <p:nvPicPr>
          <p:cNvPr id="5" name="Picture 4" descr="gis_hotspots_opt.jpg"/>
          <p:cNvPicPr>
            <a:picLocks noChangeAspect="1"/>
          </p:cNvPicPr>
          <p:nvPr/>
        </p:nvPicPr>
        <p:blipFill>
          <a:blip r:embed="rId2"/>
          <a:stretch>
            <a:fillRect/>
          </a:stretch>
        </p:blipFill>
        <p:spPr>
          <a:xfrm>
            <a:off x="411480" y="1890391"/>
            <a:ext cx="5303520" cy="3534417"/>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600" b="0" i="0">
                <a:solidFill>
                  <a:srgbClr val="1E2F38"/>
                </a:solidFill>
                <a:latin typeface="Calibri"/>
              </a:rPr>
              <a:t>• Save lives — Earlier notice of missed antenatal visits, immunisation gaps, fever clusters, and los</a:t>
            </a:r>
          </a:p>
          <a:p>
            <a:pPr algn="l">
              <a:lnSpc>
                <a:spcPct val="128000"/>
              </a:lnSpc>
              <a:spcBef>
                <a:spcPts val="0"/>
              </a:spcBef>
              <a:spcAft>
                <a:spcPts val="1000"/>
              </a:spcAft>
            </a:pPr>
            <a:r>
              <a:rPr sz="1600" b="0" i="0">
                <a:solidFill>
                  <a:srgbClr val="1E2F38"/>
                </a:solidFill>
                <a:latin typeface="Calibri"/>
              </a:rPr>
              <a:t>• Strengthen systems — Working links and sample exports for eCHIS-style records and DHIS2/eIDSR summaries, w</a:t>
            </a:r>
          </a:p>
          <a:p>
            <a:pPr algn="l">
              <a:lnSpc>
                <a:spcPct val="128000"/>
              </a:lnSpc>
              <a:spcBef>
                <a:spcPts val="0"/>
              </a:spcBef>
              <a:spcAft>
                <a:spcPts val="1000"/>
              </a:spcAft>
            </a:pPr>
            <a:r>
              <a:rPr sz="1600" b="0" i="0">
                <a:solidFill>
                  <a:srgbClr val="1E2F38"/>
                </a:solidFill>
                <a:latin typeface="Calibri"/>
              </a:rPr>
              <a:t>• Work more efficiently — Less double entry and less waiting on paper; screens that help teams move from a comm</a:t>
            </a:r>
          </a:p>
          <a:p>
            <a:pPr algn="l">
              <a:lnSpc>
                <a:spcPct val="128000"/>
              </a:lnSpc>
              <a:spcBef>
                <a:spcPts val="0"/>
              </a:spcBef>
              <a:spcAft>
                <a:spcPts val="1000"/>
              </a:spcAft>
            </a:pPr>
            <a:r>
              <a:rPr sz="1600" b="0" i="0">
                <a:solidFill>
                  <a:srgbClr val="1E2F38"/>
                </a:solidFill>
                <a:latin typeface="Calibri"/>
              </a:rPr>
              <a:t>• Build self-reliance — A handoff package with guides, standard procedures, training, hosting options, and a </a:t>
            </a:r>
          </a:p>
          <a:p>
            <a:pPr algn="l">
              <a:lnSpc>
                <a:spcPct val="128000"/>
              </a:lnSpc>
              <a:spcBef>
                <a:spcPts val="0"/>
              </a:spcBef>
              <a:spcAft>
                <a:spcPts val="200"/>
              </a:spcAft>
            </a:pPr>
            <a:r>
              <a:rPr sz="1600" b="0" i="0">
                <a:solidFill>
                  <a:srgbClr val="1E2F38"/>
                </a:solidFill>
                <a:latin typeface="Calibri"/>
              </a:rPr>
              <a:t>• Support U.S. interest — A clear contribution to the MOU digital shift: community data that connects under gov</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7</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Our Capacity</a:t>
            </a:r>
          </a:p>
        </p:txBody>
      </p:sp>
      <p:pic>
        <p:nvPicPr>
          <p:cNvPr id="5" name="Picture 4" descr="facility_exterior_sign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700" b="0" i="0">
                <a:solidFill>
                  <a:srgbClr val="1E2F38"/>
                </a:solidFill>
                <a:latin typeface="Calibri"/>
              </a:rPr>
              <a:t>• We are a Ugandan organisation with a working medical centre - clinic care, tests, pharmacy, and referrals already running every day.</a:t>
            </a:r>
          </a:p>
          <a:p>
            <a:pPr algn="l">
              <a:lnSpc>
                <a:spcPct val="128000"/>
              </a:lnSpc>
              <a:spcBef>
                <a:spcPts val="0"/>
              </a:spcBef>
              <a:spcAft>
                <a:spcPts val="1000"/>
              </a:spcAft>
            </a:pPr>
            <a:r>
              <a:rPr sz="1700" b="0" i="0">
                <a:solidFill>
                  <a:srgbClr val="1E2F38"/>
                </a:solidFill>
                <a:latin typeface="Calibri"/>
              </a:rPr>
              <a:t>• FairBanks Community Reach is active in maternal and child health, Gericare, chronic disease screening, and school and workplace outreach.</a:t>
            </a:r>
          </a:p>
          <a:p>
            <a:pPr algn="l">
              <a:lnSpc>
                <a:spcPct val="128000"/>
              </a:lnSpc>
              <a:spcBef>
                <a:spcPts val="0"/>
              </a:spcBef>
              <a:spcAft>
                <a:spcPts val="1000"/>
              </a:spcAft>
            </a:pPr>
            <a:r>
              <a:rPr sz="1700" b="0" i="0">
                <a:solidFill>
                  <a:srgbClr val="1E2F38"/>
                </a:solidFill>
                <a:latin typeface="Calibri"/>
              </a:rPr>
              <a:t>• We already work with CHWs and VHTs in the Kampala-area communities named above. This is not starting from zero.</a:t>
            </a:r>
          </a:p>
          <a:p>
            <a:pPr algn="l">
              <a:lnSpc>
                <a:spcPct val="128000"/>
              </a:lnSpc>
              <a:spcBef>
                <a:spcPts val="0"/>
              </a:spcBef>
              <a:spcAft>
                <a:spcPts val="200"/>
              </a:spcAft>
            </a:pPr>
            <a:r>
              <a:rPr sz="1700" b="0" i="0">
                <a:solidFill>
                  <a:srgbClr val="1E2F38"/>
                </a:solidFill>
                <a:latin typeface="Calibri"/>
              </a:rPr>
              <a:t>• We already keep digital clinic records and pharmacy dispensing data that support day-to-day facility work.</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8</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How Systems Connect</a:t>
            </a:r>
          </a:p>
        </p:txBody>
      </p:sp>
      <p:pic>
        <p:nvPicPr>
          <p:cNvPr id="5" name="Picture 4" descr="pharmacy_staff_laptop_01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Phone tools for eCHIS-style household visits → clinic records (eAfya/ClinicMaster) → DHIS2/eIDSR summaries → National Data Warehouse when ready → CHW/VHT lists that can align with iHRIS. A bridge — not a replacement. Built to follow NDHA / OpenHIE sharing rules.</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9</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IX</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Ownership Over Time</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1400"/>
              </a:spcAft>
            </a:pPr>
            <a:r>
              <a:rPr sz="2600" b="0" i="0">
                <a:solidFill>
                  <a:srgbClr val="1E2F38"/>
                </a:solidFill>
                <a:latin typeface="Calibri"/>
              </a:rPr>
              <a:t>By project close, write down how staff roles and running costs move to government ownership.</a:t>
            </a:r>
          </a:p>
          <a:p>
            <a:pPr algn="l">
              <a:lnSpc>
                <a:spcPct val="128000"/>
              </a:lnSpc>
              <a:spcBef>
                <a:spcPts val="0"/>
              </a:spcBef>
              <a:spcAft>
                <a:spcPts val="1400"/>
              </a:spcAft>
            </a:pPr>
            <a:r>
              <a:rPr sz="2600" b="0" i="0">
                <a:solidFill>
                  <a:srgbClr val="1E2F38"/>
                </a:solidFill>
                <a:latin typeface="Calibri"/>
              </a:rPr>
              <a:t>Train Ugandan developers, CHW supervisors, and data staff.</a:t>
            </a:r>
          </a:p>
          <a:p>
            <a:pPr algn="l">
              <a:lnSpc>
                <a:spcPct val="128000"/>
              </a:lnSpc>
              <a:spcBef>
                <a:spcPts val="0"/>
              </a:spcBef>
              <a:spcAft>
                <a:spcPts val="200"/>
              </a:spcAft>
            </a:pPr>
            <a:r>
              <a:rPr sz="2600" b="0" i="0">
                <a:solidFill>
                  <a:srgbClr val="1E2F38"/>
                </a:solidFill>
                <a:latin typeface="Calibri"/>
              </a:rPr>
              <a:t>The clinic and outreach keep running as FairBanks work. The grant helps connect the data and prepare the handoff.</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10</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X</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Ready for Phase 2</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With this Statement of Interest, FairBanks asks to move Track 2, Objective 4 forward through a digital health approach rooted in community work, built to connect with government systems, and designed for Ugandan ownership. We hope to be invited to Phase 2 (full proposal) or joint programme design, where we will set out workplans, budgets, monitoring, partner letters, and a clear plan to hand over staffing and running costs.</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11</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