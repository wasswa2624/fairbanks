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63"/>
            <a:ext cx="12191695" cy="685347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6E6E"/>
                </a:solidFill>
                <a:latin typeface="Calibri"/>
              </a:rPr>
              <a:t>U.S.–Uganda Health MOU — Funding Opportunity DFOP0017890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434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Statement of Interest — Objective 4 Digital Health Scale-Up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74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D0E8E8"/>
                </a:solidFill>
                <a:latin typeface="Calibri"/>
              </a:rPr>
              <a:t>Community-to-facility intelligence interoperable with eCHIS and DHIS2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989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45C26"/>
                </a:solidFill>
                <a:latin typeface="Calibri"/>
              </a:rP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1F2E"/>
                </a:solidFill>
                <a:latin typeface="Calibri"/>
              </a:rPr>
              <a:t>Statement of Interest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E2F38"/>
                </a:solidFill>
                <a:latin typeface="Calibri"/>
              </a:rPr>
              <a:t>FairBanks Medical Centre and FairBanks Community Reach respectfully submit this Statement of Interest under Objective 4: scaling digital health systems in Uganda. We propose to extend and interoperate community-generated health data — captured by Community Health Workers and Village Health Teams — with national platforms (eCHIS, DHIS2, facility EMRs) through FairBanks Community Health Intelligence Platform (FCHIP).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45C26"/>
                </a:solidFill>
                <a:latin typeface="Calibri"/>
              </a:rPr>
              <a:t>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1F2E"/>
                </a:solidFill>
                <a:latin typeface="Calibri"/>
              </a:rPr>
              <a:t>Organizational Capacity</a:t>
            </a:r>
          </a:p>
        </p:txBody>
      </p:sp>
      <p:pic>
        <p:nvPicPr>
          <p:cNvPr id="5" name="Picture 4" descr="facility_exterior_sign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Operating medical centre with pharmacy, diagnostics, and referral pathways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Community Reach programmes: maternal &amp; child health, Gericare, NCD screening, school health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Active CHW/VHT networks in Bukoto, Kyebando, Kisaasi, Kamwokya, Kikaaya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Digital health records foundation and pharmacy dispensing data already in 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45C26"/>
                </a:solidFill>
                <a:latin typeface="Calibri"/>
              </a:rPr>
              <a:t>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1F2E"/>
                </a:solidFill>
                <a:latin typeface="Calibri"/>
              </a:rPr>
              <a:t>Objective 4 Alignment</a:t>
            </a:r>
          </a:p>
        </p:txBody>
      </p:sp>
      <p:pic>
        <p:nvPicPr>
          <p:cNvPr id="5" name="Picture 4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9039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FCHIP extends last-mile capture and feeds structured community data upstream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45C26"/>
                </a:solidFill>
                <a:latin typeface="Calibri"/>
              </a:rPr>
              <a:t>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1F2E"/>
                </a:solidFill>
                <a:latin typeface="Calibri"/>
              </a:rPr>
              <a:t>Interoperability</a:t>
            </a:r>
          </a:p>
        </p:txBody>
      </p:sp>
      <p:pic>
        <p:nvPicPr>
          <p:cNvPr id="5" name="Picture 4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eCHIS household capture → DHIS2 aggregates → facility EMR referrals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45C26"/>
                </a:solidFill>
                <a:latin typeface="Calibri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1F2E"/>
                </a:solidFill>
                <a:latin typeface="Calibri"/>
              </a:rPr>
              <a:t>Geographic Focus</a:t>
            </a:r>
          </a:p>
        </p:txBody>
      </p:sp>
      <p:pic>
        <p:nvPicPr>
          <p:cNvPr id="5" name="Picture 4" descr="outreach_outdoor_clin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Primary pilot: FairBanks catchment — Kampala-area communities with live CHW operations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45C26"/>
                </a:solidFill>
                <a:latin typeface="Calibri"/>
              </a:rPr>
              <a:t>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1F2E"/>
                </a:solidFill>
                <a:latin typeface="Calibri"/>
              </a:rPr>
              <a:t>Sustainability</a:t>
            </a:r>
          </a:p>
        </p:txBody>
      </p:sp>
      <p:pic>
        <p:nvPicPr>
          <p:cNvPr id="5" name="Picture 4" descr="pharmacy_staff_lapto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976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FairBanks operates the medical centre and outreach without grant dependency for core 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45C26"/>
                </a:solidFill>
                <a:latin typeface="Calibri"/>
              </a:rPr>
              <a:t>VII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1F2E"/>
                </a:solidFill>
                <a:latin typeface="Calibri"/>
              </a:rPr>
              <a:t>Next Step</a:t>
            </a:r>
          </a:p>
        </p:txBody>
      </p:sp>
      <p:pic>
        <p:nvPicPr>
          <p:cNvPr id="5" name="Picture 4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9039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515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Ready to develop full proposal with partners and MoH-aligned reviewers.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E2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20256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SOI  |  DFOP0017890 Objective 4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6202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