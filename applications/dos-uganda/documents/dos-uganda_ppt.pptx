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hero_cinematic_opt.jpg"/>
          <p:cNvPicPr>
            <a:picLocks noChangeAspect="1"/>
          </p:cNvPicPr>
          <p:nvPr/>
        </p:nvPicPr>
        <p:blipFill>
          <a:blip r:embed="rId2"/>
          <a:stretch>
            <a:fillRect/>
          </a:stretch>
        </p:blipFill>
        <p:spPr>
          <a:xfrm>
            <a:off x="0" y="2263"/>
            <a:ext cx="12191695" cy="6853474"/>
          </a:xfrm>
          <a:prstGeom prst="rect">
            <a:avLst/>
          </a:prstGeom>
        </p:spPr>
      </p:pic>
      <p:sp>
        <p:nvSpPr>
          <p:cNvPr id="3" name="Rectangle 2"/>
          <p:cNvSpPr/>
          <p:nvPr/>
        </p:nvSpPr>
        <p:spPr>
          <a:xfrm>
            <a:off x="0" y="3566160"/>
            <a:ext cx="12191695" cy="3291840"/>
          </a:xfrm>
          <a:prstGeom prst="rect">
            <a:avLst/>
          </a:prstGeom>
          <a:solidFill>
            <a:srgbClr val="0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0"/>
            <a:ext cx="10972800" cy="274320"/>
          </a:xfrm>
          <a:prstGeom prst="rect">
            <a:avLst/>
          </a:prstGeom>
          <a:noFill/>
        </p:spPr>
        <p:txBody>
          <a:bodyPr wrap="square">
            <a:spAutoFit/>
          </a:bodyPr>
          <a:lstStyle/>
          <a:p>
            <a:pPr algn="l">
              <a:lnSpc>
                <a:spcPct val="115000"/>
              </a:lnSpc>
              <a:spcBef>
                <a:spcPts val="0"/>
              </a:spcBef>
              <a:spcAft>
                <a:spcPts val="200"/>
              </a:spcAft>
            </a:pPr>
            <a:r>
              <a:rPr sz="1100" b="1" i="0">
                <a:solidFill>
                  <a:srgbClr val="0D6E6E"/>
                </a:solidFill>
                <a:latin typeface="Calibri"/>
              </a:rPr>
              <a:t>U.S. Department of State / GHSD — Advancing Global Health (DFOP0017890)</a:t>
            </a:r>
          </a:p>
        </p:txBody>
      </p:sp>
      <p:sp>
        <p:nvSpPr>
          <p:cNvPr id="5" name="TextBox 4"/>
          <p:cNvSpPr txBox="1"/>
          <p:nvPr/>
        </p:nvSpPr>
        <p:spPr>
          <a:xfrm>
            <a:off x="502920" y="4251960"/>
            <a:ext cx="10972800" cy="502920"/>
          </a:xfrm>
          <a:prstGeom prst="rect">
            <a:avLst/>
          </a:prstGeom>
          <a:noFill/>
        </p:spPr>
        <p:txBody>
          <a:bodyPr wrap="square">
            <a:spAutoFit/>
          </a:bodyPr>
          <a:lstStyle/>
          <a:p>
            <a:pPr algn="l">
              <a:lnSpc>
                <a:spcPct val="115000"/>
              </a:lnSpc>
              <a:spcBef>
                <a:spcPts val="0"/>
              </a:spcBef>
              <a:spcAft>
                <a:spcPts val="200"/>
              </a:spcAft>
            </a:pPr>
            <a:r>
              <a:rPr sz="2600" b="1" i="0">
                <a:solidFill>
                  <a:srgbClr val="FFFFFF"/>
                </a:solidFill>
                <a:latin typeface="Calibri"/>
              </a:rPr>
              <a:t>Statement of Interest — Phase 1</a:t>
            </a:r>
          </a:p>
        </p:txBody>
      </p:sp>
      <p:sp>
        <p:nvSpPr>
          <p:cNvPr id="6" name="TextBox 5"/>
          <p:cNvSpPr txBox="1"/>
          <p:nvPr/>
        </p:nvSpPr>
        <p:spPr>
          <a:xfrm>
            <a:off x="502920" y="4846320"/>
            <a:ext cx="10972800" cy="320040"/>
          </a:xfrm>
          <a:prstGeom prst="rect">
            <a:avLst/>
          </a:prstGeom>
          <a:noFill/>
        </p:spPr>
        <p:txBody>
          <a:bodyPr wrap="square">
            <a:spAutoFit/>
          </a:bodyPr>
          <a:lstStyle/>
          <a:p>
            <a:pPr algn="l">
              <a:lnSpc>
                <a:spcPct val="115000"/>
              </a:lnSpc>
              <a:spcBef>
                <a:spcPts val="0"/>
              </a:spcBef>
              <a:spcAft>
                <a:spcPts val="200"/>
              </a:spcAft>
            </a:pPr>
            <a:r>
              <a:rPr sz="1300" b="1" i="1">
                <a:solidFill>
                  <a:srgbClr val="F2C79B"/>
                </a:solidFill>
                <a:latin typeface="Calibri"/>
              </a:rPr>
              <a:t>FairBanks Medical Centre  ·  FairBanks Community Reach  ·  FCHIP</a:t>
            </a:r>
          </a:p>
        </p:txBody>
      </p:sp>
      <p:sp>
        <p:nvSpPr>
          <p:cNvPr id="7" name="TextBox 6"/>
          <p:cNvSpPr txBox="1"/>
          <p:nvPr/>
        </p:nvSpPr>
        <p:spPr>
          <a:xfrm>
            <a:off x="502920" y="5303520"/>
            <a:ext cx="10972800" cy="411480"/>
          </a:xfrm>
          <a:prstGeom prst="rect">
            <a:avLst/>
          </a:prstGeom>
          <a:noFill/>
        </p:spPr>
        <p:txBody>
          <a:bodyPr wrap="square">
            <a:spAutoFit/>
          </a:bodyPr>
          <a:lstStyle/>
          <a:p>
            <a:pPr algn="l">
              <a:lnSpc>
                <a:spcPct val="115000"/>
              </a:lnSpc>
              <a:spcBef>
                <a:spcPts val="0"/>
              </a:spcBef>
              <a:spcAft>
                <a:spcPts val="200"/>
              </a:spcAft>
            </a:pPr>
            <a:r>
              <a:rPr sz="1200" b="0" i="1">
                <a:solidFill>
                  <a:srgbClr val="D0E8E8"/>
                </a:solidFill>
                <a:latin typeface="Calibri"/>
              </a:rPr>
              <a:t>Objective 4 — Last-mile bridge into eCHIS, EMR, DHIS2/eIDSR, and NDHA</a:t>
            </a:r>
          </a:p>
        </p:txBody>
      </p:sp>
      <p:sp>
        <p:nvSpPr>
          <p:cNvPr id="8" name="TextBox 7"/>
          <p:cNvSpPr txBox="1"/>
          <p:nvPr/>
        </p:nvSpPr>
        <p:spPr>
          <a:xfrm>
            <a:off x="502920" y="5852160"/>
            <a:ext cx="10972800" cy="274320"/>
          </a:xfrm>
          <a:prstGeom prst="rect">
            <a:avLst/>
          </a:prstGeom>
          <a:noFill/>
        </p:spPr>
        <p:txBody>
          <a:bodyPr wrap="square">
            <a:spAutoFit/>
          </a:bodyPr>
          <a:lstStyle/>
          <a:p>
            <a:pPr algn="l">
              <a:lnSpc>
                <a:spcPct val="115000"/>
              </a:lnSpc>
              <a:spcBef>
                <a:spcPts val="0"/>
              </a:spcBef>
              <a:spcAft>
                <a:spcPts val="200"/>
              </a:spcAft>
            </a:pPr>
            <a:r>
              <a:rPr sz="1200" b="0" i="0">
                <a:solidFill>
                  <a:srgbClr val="FFFFFF"/>
                </a:solidFill>
                <a:latin typeface="Calibri"/>
              </a:rPr>
              <a:t>Win-win Phase 1 SOI  |  $1,850,000  |  36 months  |  Due 31 July 2026</a:t>
            </a:r>
          </a:p>
        </p:txBody>
      </p:sp>
      <p:sp>
        <p:nvSpPr>
          <p:cNvPr id="9" name="TextBox 8"/>
          <p:cNvSpPr txBox="1"/>
          <p:nvPr/>
        </p:nvSpPr>
        <p:spPr>
          <a:xfrm>
            <a:off x="502920" y="6217920"/>
            <a:ext cx="10972800" cy="274320"/>
          </a:xfrm>
          <a:prstGeom prst="rect">
            <a:avLst/>
          </a:prstGeom>
          <a:noFill/>
        </p:spPr>
        <p:txBody>
          <a:bodyPr wrap="square">
            <a:spAutoFit/>
          </a:bodyPr>
          <a:lstStyle/>
          <a:p>
            <a:pPr algn="l">
              <a:lnSpc>
                <a:spcPct val="115000"/>
              </a:lnSpc>
              <a:spcBef>
                <a:spcPts val="0"/>
              </a:spcBef>
              <a:spcAft>
                <a:spcPts val="200"/>
              </a:spcAft>
            </a:pPr>
            <a:r>
              <a:rPr sz="1300" b="1" i="0">
                <a:solidFill>
                  <a:srgbClr val="FFFFFF"/>
                </a:solidFill>
                <a:latin typeface="Calibri"/>
              </a:rPr>
              <a:t>Your health, our mission.</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I</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The Problem</a:t>
            </a:r>
          </a:p>
        </p:txBody>
      </p:sp>
      <p:pic>
        <p:nvPicPr>
          <p:cNvPr id="5" name="Picture 4" descr="outreach_outdoor_clinic_opt.jpg"/>
          <p:cNvPicPr>
            <a:picLocks noChangeAspect="1"/>
          </p:cNvPicPr>
          <p:nvPr/>
        </p:nvPicPr>
        <p:blipFill>
          <a:blip r:embed="rId2"/>
          <a:stretch>
            <a:fillRect/>
          </a:stretch>
        </p:blipFill>
        <p:spPr>
          <a:xfrm>
            <a:off x="411480" y="1889760"/>
            <a:ext cx="5303520" cy="3535680"/>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1000"/>
              </a:spcAft>
            </a:pPr>
            <a:r>
              <a:rPr sz="1500" b="0" i="0">
                <a:solidFill>
                  <a:srgbClr val="1E2F38"/>
                </a:solidFill>
                <a:latin typeface="Calibri"/>
              </a:rPr>
              <a:t>Uganda's five-year health transition (April 2026-December 2030) asks facilities, districts, and communities to keep HIV, TB, malaria, maternal and child health, immunisation, and outbreak services strong while shifting toward government-led, performance-based programming. That shift only works if decision-makers see what is happening at the last mile - not weeks later in paper registers.</a:t>
            </a:r>
          </a:p>
          <a:p>
            <a:pPr algn="l">
              <a:lnSpc>
                <a:spcPct val="128000"/>
              </a:lnSpc>
              <a:spcBef>
                <a:spcPts val="0"/>
              </a:spcBef>
              <a:spcAft>
                <a:spcPts val="200"/>
              </a:spcAft>
            </a:pPr>
            <a:r>
              <a:rPr sz="1500" b="0" i="0">
                <a:solidFill>
                  <a:srgbClr val="1E2F38"/>
                </a:solidFill>
                <a:latin typeface="Calibri"/>
              </a:rPr>
              <a:t>Community Health Workers and Village Health Teams already walk households and refer patients. Too often their work never reaches eCHIS, facility EMRs, DHIS2/eIDSR, or the National Data Warehouse in a usable form. National digital systems then miss early fever clusters, missed antenatal visits, immunisation gaps, and stock pressure. The result is reactive care, weak accountability, and higher risk that transition gains reverse.</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2</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II</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Statement of Interest</a:t>
            </a:r>
          </a:p>
        </p:txBody>
      </p:sp>
      <p:pic>
        <p:nvPicPr>
          <p:cNvPr id="5" name="Picture 4" descr="data_flow_iso_labeled_opt.jpg"/>
          <p:cNvPicPr>
            <a:picLocks noChangeAspect="1"/>
          </p:cNvPicPr>
          <p:nvPr/>
        </p:nvPicPr>
        <p:blipFill>
          <a:blip r:embed="rId2"/>
          <a:stretch>
            <a:fillRect/>
          </a:stretch>
        </p:blipFill>
        <p:spPr>
          <a:xfrm>
            <a:off x="411480" y="1890391"/>
            <a:ext cx="5303520" cy="3534417"/>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200"/>
              </a:spcAft>
            </a:pPr>
            <a:r>
              <a:rPr sz="2000" b="0" i="0">
                <a:solidFill>
                  <a:srgbClr val="1E2F38"/>
                </a:solidFill>
                <a:latin typeface="Calibri"/>
              </a:rPr>
              <a:t>We propose to pilot and then transfer a community-to-facility intelligence layer - the FairBanks Community Health Intelligence Platform (FCHIP) - that captures CHW/VHT household and visit data offline, syncs securely, maps indicators to national reporting elements, and feeds facility and district action. FCHIP is not a parallel national system. It is a bridge that makes Uganda's existing digital stack more complete at community level and more useful for prevention.</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3</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III</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Win-Win Value</a:t>
            </a:r>
          </a:p>
        </p:txBody>
      </p:sp>
      <p:sp>
        <p:nvSpPr>
          <p:cNvPr id="5" name="TextBox 4"/>
          <p:cNvSpPr txBox="1"/>
          <p:nvPr/>
        </p:nvSpPr>
        <p:spPr>
          <a:xfrm>
            <a:off x="502920" y="1051560"/>
            <a:ext cx="11155680" cy="5303520"/>
          </a:xfrm>
          <a:prstGeom prst="rect">
            <a:avLst/>
          </a:prstGeom>
          <a:noFill/>
        </p:spPr>
        <p:txBody>
          <a:bodyPr wrap="square">
            <a:spAutoFit/>
          </a:bodyPr>
          <a:lstStyle/>
          <a:p>
            <a:pPr algn="l">
              <a:lnSpc>
                <a:spcPct val="128000"/>
              </a:lnSpc>
              <a:spcBef>
                <a:spcPts val="0"/>
              </a:spcBef>
              <a:spcAft>
                <a:spcPts val="1300"/>
              </a:spcAft>
            </a:pPr>
            <a:r>
              <a:rPr sz="2500" b="0" i="0">
                <a:solidFill>
                  <a:srgbClr val="1E2F38"/>
                </a:solidFill>
                <a:latin typeface="Calibri"/>
              </a:rPr>
              <a:t>• Uganda / Ministry of Health: Richer last-mile data into eCHIS, DHIS2/eIDSR, and related national platforms; clearer referral...</a:t>
            </a:r>
          </a:p>
          <a:p>
            <a:pPr algn="l">
              <a:lnSpc>
                <a:spcPct val="128000"/>
              </a:lnSpc>
              <a:spcBef>
                <a:spcPts val="0"/>
              </a:spcBef>
              <a:spcAft>
                <a:spcPts val="1300"/>
              </a:spcAft>
            </a:pPr>
            <a:r>
              <a:rPr sz="2500" b="0" i="0">
                <a:solidFill>
                  <a:srgbClr val="1E2F38"/>
                </a:solidFill>
                <a:latin typeface="Calibri"/>
              </a:rPr>
              <a:t>• U.S. Department of State / GHSD: A Ugandan implementer with a live clinic and community network that protects essential services...</a:t>
            </a:r>
          </a:p>
          <a:p>
            <a:pPr algn="l">
              <a:lnSpc>
                <a:spcPct val="128000"/>
              </a:lnSpc>
              <a:spcBef>
                <a:spcPts val="0"/>
              </a:spcBef>
              <a:spcAft>
                <a:spcPts val="1300"/>
              </a:spcAft>
            </a:pPr>
            <a:r>
              <a:rPr sz="2500" b="0" i="0">
                <a:solidFill>
                  <a:srgbClr val="1E2F38"/>
                </a:solidFill>
                <a:latin typeface="Calibri"/>
              </a:rPr>
              <a:t>• Districts &amp; facilities: Dashboards for outreach targeting, referral follow-up, and programme monitoring; GIS hotspot vi...</a:t>
            </a:r>
          </a:p>
          <a:p>
            <a:pPr algn="l">
              <a:lnSpc>
                <a:spcPct val="128000"/>
              </a:lnSpc>
              <a:spcBef>
                <a:spcPts val="0"/>
              </a:spcBef>
              <a:spcAft>
                <a:spcPts val="1300"/>
              </a:spcAft>
            </a:pPr>
            <a:r>
              <a:rPr sz="2500" b="0" i="0">
                <a:solidFill>
                  <a:srgbClr val="1E2F38"/>
                </a:solidFill>
                <a:latin typeface="Calibri"/>
              </a:rPr>
              <a:t>• Communities &amp; CHWs/VHTs: Simple offline tools, faster support from the medical centre, and care that reaches mothers, ch...</a:t>
            </a:r>
          </a:p>
          <a:p>
            <a:pPr algn="l">
              <a:lnSpc>
                <a:spcPct val="128000"/>
              </a:lnSpc>
              <a:spcBef>
                <a:spcPts val="0"/>
              </a:spcBef>
              <a:spcAft>
                <a:spcPts val="200"/>
              </a:spcAft>
            </a:pPr>
            <a:r>
              <a:rPr sz="2500" b="0" i="0">
                <a:solidFill>
                  <a:srgbClr val="1E2F38"/>
                </a:solidFill>
                <a:latin typeface="Calibri"/>
              </a:rPr>
              <a:t>• FairBanks / FCHIP: Room to refine and document a production-grade interoperability model inside a real catchment -...</a:t>
            </a:r>
          </a:p>
        </p:txBody>
      </p:sp>
      <p:sp>
        <p:nvSpPr>
          <p:cNvPr id="6" name="Rectangle 5"/>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8" name="TextBox 7"/>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4</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IV</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Core Activities</a:t>
            </a:r>
          </a:p>
        </p:txBody>
      </p:sp>
      <p:pic>
        <p:nvPicPr>
          <p:cNvPr id="5" name="Picture 4" descr="outreach_mobile_phone_demo_01_opt.jpg"/>
          <p:cNvPicPr>
            <a:picLocks noChangeAspect="1"/>
          </p:cNvPicPr>
          <p:nvPr/>
        </p:nvPicPr>
        <p:blipFill>
          <a:blip r:embed="rId2"/>
          <a:stretch>
            <a:fillRect/>
          </a:stretch>
        </p:blipFill>
        <p:spPr>
          <a:xfrm>
            <a:off x="411480" y="1889760"/>
            <a:ext cx="5303520" cy="3535680"/>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1100"/>
              </a:spcAft>
            </a:pPr>
            <a:r>
              <a:rPr sz="2000" b="0" i="0">
                <a:solidFill>
                  <a:srgbClr val="1E2F38"/>
                </a:solidFill>
                <a:latin typeface="Calibri"/>
              </a:rPr>
              <a:t>• A1. Deploy offline-capable CHW/VHT capture aligned with eCHIS household and visit concepts across FairBanks Communi...</a:t>
            </a:r>
          </a:p>
          <a:p>
            <a:pPr algn="l">
              <a:lnSpc>
                <a:spcPct val="128000"/>
              </a:lnSpc>
              <a:spcBef>
                <a:spcPts val="0"/>
              </a:spcBef>
              <a:spcAft>
                <a:spcPts val="1100"/>
              </a:spcAft>
            </a:pPr>
            <a:r>
              <a:rPr sz="2000" b="0" i="0">
                <a:solidFill>
                  <a:srgbClr val="1E2F38"/>
                </a:solidFill>
                <a:latin typeface="Calibri"/>
              </a:rPr>
              <a:t>• A2. Establish a secure sync and role-based access pipeline linking community records to FairBanks Medical Centre wo...</a:t>
            </a:r>
          </a:p>
          <a:p>
            <a:pPr algn="l">
              <a:lnSpc>
                <a:spcPct val="128000"/>
              </a:lnSpc>
              <a:spcBef>
                <a:spcPts val="0"/>
              </a:spcBef>
              <a:spcAft>
                <a:spcPts val="1100"/>
              </a:spcAft>
            </a:pPr>
            <a:r>
              <a:rPr sz="2000" b="0" i="0">
                <a:solidFill>
                  <a:srgbClr val="1E2F38"/>
                </a:solidFill>
                <a:latin typeface="Calibri"/>
              </a:rPr>
              <a:t>• A3. Map community indicators to DHIS2 reporting elements and demonstrate aggregate submission pathways for MNCH, im...</a:t>
            </a:r>
          </a:p>
          <a:p>
            <a:pPr algn="l">
              <a:lnSpc>
                <a:spcPct val="128000"/>
              </a:lnSpc>
              <a:spcBef>
                <a:spcPts val="0"/>
              </a:spcBef>
              <a:spcAft>
                <a:spcPts val="200"/>
              </a:spcAft>
            </a:pPr>
            <a:r>
              <a:rPr sz="2000" b="0" i="0">
                <a:solidFill>
                  <a:srgbClr val="1E2F38"/>
                </a:solidFill>
                <a:latin typeface="Calibri"/>
              </a:rPr>
              <a:t>• A4. Deliver facility and programme dashboards plus GIS hotspot views that trigger outreach, referrals, and supply p...</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5</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V</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Project Approach</a:t>
            </a:r>
          </a:p>
        </p:txBody>
      </p:sp>
      <p:pic>
        <p:nvPicPr>
          <p:cNvPr id="5" name="Picture 4" descr="dashboard_demo_opt.jpg"/>
          <p:cNvPicPr>
            <a:picLocks noChangeAspect="1"/>
          </p:cNvPicPr>
          <p:nvPr/>
        </p:nvPicPr>
        <p:blipFill>
          <a:blip r:embed="rId2"/>
          <a:stretch>
            <a:fillRect/>
          </a:stretch>
        </p:blipFill>
        <p:spPr>
          <a:xfrm>
            <a:off x="411480" y="1889760"/>
            <a:ext cx="5303520" cy="3535680"/>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200"/>
              </a:spcAft>
            </a:pPr>
            <a:r>
              <a:rPr sz="2600" b="0" i="0">
                <a:solidFill>
                  <a:srgbClr val="1E2F38"/>
                </a:solidFill>
                <a:latin typeface="Calibri"/>
              </a:rPr>
              <a:t>Cascade-rooted capture → secure sync → eCHIS / EMR / DHIS2-eIDSR interoperability → dashboards &amp; GIS → MoH/NDHA-aligned transfer package.</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6</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VI</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Expected Outcomes</a:t>
            </a:r>
          </a:p>
        </p:txBody>
      </p:sp>
      <p:pic>
        <p:nvPicPr>
          <p:cNvPr id="5" name="Picture 4" descr="gis_hotspots_opt.jpg"/>
          <p:cNvPicPr>
            <a:picLocks noChangeAspect="1"/>
          </p:cNvPicPr>
          <p:nvPr/>
        </p:nvPicPr>
        <p:blipFill>
          <a:blip r:embed="rId2"/>
          <a:stretch>
            <a:fillRect/>
          </a:stretch>
        </p:blipFill>
        <p:spPr>
          <a:xfrm>
            <a:off x="411480" y="1890391"/>
            <a:ext cx="5303520" cy="3534417"/>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1000"/>
              </a:spcAft>
            </a:pPr>
            <a:r>
              <a:rPr sz="1600" b="0" i="0">
                <a:solidFill>
                  <a:srgbClr val="1E2F38"/>
                </a:solidFill>
                <a:latin typeface="Calibri"/>
              </a:rPr>
              <a:t>• Save lives — Earlier alerts for missed ANC, immunisation gaps, fever clusters, and referral drop-o</a:t>
            </a:r>
          </a:p>
          <a:p>
            <a:pPr algn="l">
              <a:lnSpc>
                <a:spcPct val="128000"/>
              </a:lnSpc>
              <a:spcBef>
                <a:spcPts val="0"/>
              </a:spcBef>
              <a:spcAft>
                <a:spcPts val="1000"/>
              </a:spcAft>
            </a:pPr>
            <a:r>
              <a:rPr sz="1600" b="0" i="0">
                <a:solidFill>
                  <a:srgbClr val="1E2F38"/>
                </a:solidFill>
                <a:latin typeface="Calibri"/>
              </a:rPr>
              <a:t>• Strengthen systems — Working mappings and demo exports for eCHIS-aligned records and DHIS2/eIDSR aggregate</a:t>
            </a:r>
          </a:p>
          <a:p>
            <a:pPr algn="l">
              <a:lnSpc>
                <a:spcPct val="128000"/>
              </a:lnSpc>
              <a:spcBef>
                <a:spcPts val="0"/>
              </a:spcBef>
              <a:spcAft>
                <a:spcPts val="1000"/>
              </a:spcAft>
            </a:pPr>
            <a:r>
              <a:rPr sz="1600" b="0" i="0">
                <a:solidFill>
                  <a:srgbClr val="1E2F38"/>
                </a:solidFill>
                <a:latin typeface="Calibri"/>
              </a:rPr>
              <a:t>• Enhance efficiency — Less double entry and paper lag; role-based dashboards that shorten the path from com</a:t>
            </a:r>
          </a:p>
          <a:p>
            <a:pPr algn="l">
              <a:lnSpc>
                <a:spcPct val="128000"/>
              </a:lnSpc>
              <a:spcBef>
                <a:spcPts val="0"/>
              </a:spcBef>
              <a:spcAft>
                <a:spcPts val="1000"/>
              </a:spcAft>
            </a:pPr>
            <a:r>
              <a:rPr sz="1600" b="0" i="0">
                <a:solidFill>
                  <a:srgbClr val="1E2F38"/>
                </a:solidFill>
                <a:latin typeface="Calibri"/>
              </a:rPr>
              <a:t>• Foster self-reliance — Handoff package: source documentation, SOPs, training, hosting options, and a costed </a:t>
            </a:r>
          </a:p>
          <a:p>
            <a:pPr algn="l">
              <a:lnSpc>
                <a:spcPct val="128000"/>
              </a:lnSpc>
              <a:spcBef>
                <a:spcPts val="0"/>
              </a:spcBef>
              <a:spcAft>
                <a:spcPts val="200"/>
              </a:spcAft>
            </a:pPr>
            <a:r>
              <a:rPr sz="1600" b="0" i="0">
                <a:solidFill>
                  <a:srgbClr val="1E2F38"/>
                </a:solidFill>
                <a:latin typeface="Calibri"/>
              </a:rPr>
              <a:t>• Advance U.S. interest — Measurable contribution to MOU digital transition: interoperable last-mile data under</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7</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VII</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Organizational Capacity</a:t>
            </a:r>
          </a:p>
        </p:txBody>
      </p:sp>
      <p:pic>
        <p:nvPicPr>
          <p:cNvPr id="5" name="Picture 4" descr="facility_exterior_sign_opt.jpg"/>
          <p:cNvPicPr>
            <a:picLocks noChangeAspect="1"/>
          </p:cNvPicPr>
          <p:nvPr/>
        </p:nvPicPr>
        <p:blipFill>
          <a:blip r:embed="rId2"/>
          <a:stretch>
            <a:fillRect/>
          </a:stretch>
        </p:blipFill>
        <p:spPr>
          <a:xfrm>
            <a:off x="411480" y="1889760"/>
            <a:ext cx="5303520" cy="3535680"/>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1000"/>
              </a:spcAft>
            </a:pPr>
            <a:r>
              <a:rPr sz="1700" b="0" i="0">
                <a:solidFill>
                  <a:srgbClr val="1E2F38"/>
                </a:solidFill>
                <a:latin typeface="Calibri"/>
              </a:rPr>
              <a:t>• Ugandan social enterprise with a functioning medical centre - clinical care, diagnostics, pharmacy, and referral pathways already in daily use.</a:t>
            </a:r>
          </a:p>
          <a:p>
            <a:pPr algn="l">
              <a:lnSpc>
                <a:spcPct val="128000"/>
              </a:lnSpc>
              <a:spcBef>
                <a:spcPts val="0"/>
              </a:spcBef>
              <a:spcAft>
                <a:spcPts val="1000"/>
              </a:spcAft>
            </a:pPr>
            <a:r>
              <a:rPr sz="1700" b="0" i="0">
                <a:solidFill>
                  <a:srgbClr val="1E2F38"/>
                </a:solidFill>
                <a:latin typeface="Calibri"/>
              </a:rPr>
              <a:t>• Active FairBanks Community Reach programmes: maternal and child health, Gericare, chronic disease screening, school and corporate health outreach.</a:t>
            </a:r>
          </a:p>
          <a:p>
            <a:pPr algn="l">
              <a:lnSpc>
                <a:spcPct val="128000"/>
              </a:lnSpc>
              <a:spcBef>
                <a:spcPts val="0"/>
              </a:spcBef>
              <a:spcAft>
                <a:spcPts val="1000"/>
              </a:spcAft>
            </a:pPr>
            <a:r>
              <a:rPr sz="1700" b="0" i="0">
                <a:solidFill>
                  <a:srgbClr val="1E2F38"/>
                </a:solidFill>
                <a:latin typeface="Calibri"/>
              </a:rPr>
              <a:t>• Established CHW/VHT relationships in Kampala-area communities named above - real users, not a greenfield pilot.</a:t>
            </a:r>
          </a:p>
          <a:p>
            <a:pPr algn="l">
              <a:lnSpc>
                <a:spcPct val="128000"/>
              </a:lnSpc>
              <a:spcBef>
                <a:spcPts val="0"/>
              </a:spcBef>
              <a:spcAft>
                <a:spcPts val="200"/>
              </a:spcAft>
            </a:pPr>
            <a:r>
              <a:rPr sz="1700" b="0" i="0">
                <a:solidFill>
                  <a:srgbClr val="1E2F38"/>
                </a:solidFill>
                <a:latin typeface="Calibri"/>
              </a:rPr>
              <a:t>• Digital health records foundation and pharmacy dispensing data already supporting facility operations.</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8</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VIII</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Interoperability</a:t>
            </a:r>
          </a:p>
        </p:txBody>
      </p:sp>
      <p:pic>
        <p:nvPicPr>
          <p:cNvPr id="5" name="Picture 4" descr="pharmacy_staff_laptop_01_opt.jpg"/>
          <p:cNvPicPr>
            <a:picLocks noChangeAspect="1"/>
          </p:cNvPicPr>
          <p:nvPr/>
        </p:nvPicPr>
        <p:blipFill>
          <a:blip r:embed="rId2"/>
          <a:stretch>
            <a:fillRect/>
          </a:stretch>
        </p:blipFill>
        <p:spPr>
          <a:xfrm>
            <a:off x="411480" y="1889760"/>
            <a:ext cx="5303520" cy="3535680"/>
          </a:xfrm>
          <a:prstGeom prst="rect">
            <a:avLst/>
          </a:prstGeom>
        </p:spPr>
      </p:pic>
      <p:sp>
        <p:nvSpPr>
          <p:cNvPr id="6" name="TextBox 5"/>
          <p:cNvSpPr txBox="1"/>
          <p:nvPr/>
        </p:nvSpPr>
        <p:spPr>
          <a:xfrm>
            <a:off x="5943600" y="1051560"/>
            <a:ext cx="5852160" cy="5120640"/>
          </a:xfrm>
          <a:prstGeom prst="rect">
            <a:avLst/>
          </a:prstGeom>
          <a:noFill/>
        </p:spPr>
        <p:txBody>
          <a:bodyPr wrap="square">
            <a:spAutoFit/>
          </a:bodyPr>
          <a:lstStyle/>
          <a:p>
            <a:pPr algn="l">
              <a:lnSpc>
                <a:spcPct val="128000"/>
              </a:lnSpc>
              <a:spcBef>
                <a:spcPts val="0"/>
              </a:spcBef>
              <a:spcAft>
                <a:spcPts val="200"/>
              </a:spcAft>
            </a:pPr>
            <a:r>
              <a:rPr sz="2600" b="0" i="0">
                <a:solidFill>
                  <a:srgbClr val="1E2F38"/>
                </a:solidFill>
                <a:latin typeface="Calibri"/>
              </a:rPr>
              <a:t>eCHIS household capture → facility EMR (eAfya/ClinicMaster) → DHIS2/eIDSR → National Data Warehouse readiness → iHRIS-aware workforce. Bridge layer — not a replacement silo. Aligned with NDHA / OpenHIE.</a:t>
            </a:r>
          </a:p>
        </p:txBody>
      </p:sp>
      <p:sp>
        <p:nvSpPr>
          <p:cNvPr id="7" name="Rectangle 6"/>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9" name="TextBox 8"/>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9</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IX</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Sustainability &amp; Ownership</a:t>
            </a:r>
          </a:p>
        </p:txBody>
      </p:sp>
      <p:sp>
        <p:nvSpPr>
          <p:cNvPr id="5" name="TextBox 4"/>
          <p:cNvSpPr txBox="1"/>
          <p:nvPr/>
        </p:nvSpPr>
        <p:spPr>
          <a:xfrm>
            <a:off x="502920" y="1051560"/>
            <a:ext cx="11155680" cy="5303520"/>
          </a:xfrm>
          <a:prstGeom prst="rect">
            <a:avLst/>
          </a:prstGeom>
          <a:noFill/>
        </p:spPr>
        <p:txBody>
          <a:bodyPr wrap="square">
            <a:spAutoFit/>
          </a:bodyPr>
          <a:lstStyle/>
          <a:p>
            <a:pPr algn="l">
              <a:lnSpc>
                <a:spcPct val="128000"/>
              </a:lnSpc>
              <a:spcBef>
                <a:spcPts val="0"/>
              </a:spcBef>
              <a:spcAft>
                <a:spcPts val="1400"/>
              </a:spcAft>
            </a:pPr>
            <a:r>
              <a:rPr sz="2600" b="0" i="0">
                <a:solidFill>
                  <a:srgbClr val="1E2F38"/>
                </a:solidFill>
                <a:latin typeface="Calibri"/>
              </a:rPr>
              <a:t>Documented transition of staffing and recurrent costs toward GOU ownership by project close.</a:t>
            </a:r>
          </a:p>
          <a:p>
            <a:pPr algn="l">
              <a:lnSpc>
                <a:spcPct val="128000"/>
              </a:lnSpc>
              <a:spcBef>
                <a:spcPts val="0"/>
              </a:spcBef>
              <a:spcAft>
                <a:spcPts val="1400"/>
              </a:spcAft>
            </a:pPr>
            <a:r>
              <a:rPr sz="2600" b="0" i="0">
                <a:solidFill>
                  <a:srgbClr val="1E2F38"/>
                </a:solidFill>
                <a:latin typeface="Calibri"/>
              </a:rPr>
              <a:t>Train Ugandan developers, CHW supervisors, and data stewards.</a:t>
            </a:r>
          </a:p>
          <a:p>
            <a:pPr algn="l">
              <a:lnSpc>
                <a:spcPct val="128000"/>
              </a:lnSpc>
              <a:spcBef>
                <a:spcPts val="0"/>
              </a:spcBef>
              <a:spcAft>
                <a:spcPts val="200"/>
              </a:spcAft>
            </a:pPr>
            <a:r>
              <a:rPr sz="2600" b="0" i="0">
                <a:solidFill>
                  <a:srgbClr val="1E2F38"/>
                </a:solidFill>
                <a:latin typeface="Calibri"/>
              </a:rPr>
              <a:t>Clinic and outreach continue as FairBanks operations — the grant accelerates interoperable intelligence and transfer.</a:t>
            </a:r>
          </a:p>
        </p:txBody>
      </p:sp>
      <p:sp>
        <p:nvSpPr>
          <p:cNvPr id="6" name="Rectangle 5"/>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8" name="TextBox 7"/>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10</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D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 cy="457200"/>
          </a:xfrm>
          <a:prstGeom prst="rect">
            <a:avLst/>
          </a:prstGeom>
          <a:noFill/>
        </p:spPr>
        <p:txBody>
          <a:bodyPr wrap="square">
            <a:spAutoFit/>
          </a:bodyPr>
          <a:lstStyle/>
          <a:p>
            <a:pPr algn="l">
              <a:lnSpc>
                <a:spcPct val="115000"/>
              </a:lnSpc>
              <a:spcBef>
                <a:spcPts val="0"/>
              </a:spcBef>
              <a:spcAft>
                <a:spcPts val="200"/>
              </a:spcAft>
            </a:pPr>
            <a:r>
              <a:rPr sz="2800" b="1" i="0">
                <a:solidFill>
                  <a:srgbClr val="C45C26"/>
                </a:solidFill>
                <a:latin typeface="Calibri"/>
              </a:rPr>
              <a:t>X</a:t>
            </a:r>
          </a:p>
        </p:txBody>
      </p:sp>
      <p:sp>
        <p:nvSpPr>
          <p:cNvPr id="4" name="TextBox 3"/>
          <p:cNvSpPr txBox="1"/>
          <p:nvPr/>
        </p:nvSpPr>
        <p:spPr>
          <a:xfrm>
            <a:off x="1463040" y="201168"/>
            <a:ext cx="10058400" cy="502920"/>
          </a:xfrm>
          <a:prstGeom prst="rect">
            <a:avLst/>
          </a:prstGeom>
          <a:noFill/>
        </p:spPr>
        <p:txBody>
          <a:bodyPr wrap="square">
            <a:spAutoFit/>
          </a:bodyPr>
          <a:lstStyle/>
          <a:p>
            <a:pPr algn="l">
              <a:lnSpc>
                <a:spcPct val="115000"/>
              </a:lnSpc>
              <a:spcBef>
                <a:spcPts val="0"/>
              </a:spcBef>
              <a:spcAft>
                <a:spcPts val="200"/>
              </a:spcAft>
            </a:pPr>
            <a:r>
              <a:rPr sz="2200" b="1" i="0">
                <a:solidFill>
                  <a:srgbClr val="0A1F2E"/>
                </a:solidFill>
                <a:latin typeface="Calibri"/>
              </a:rPr>
              <a:t>Readiness for Phase 2</a:t>
            </a:r>
          </a:p>
        </p:txBody>
      </p:sp>
      <p:sp>
        <p:nvSpPr>
          <p:cNvPr id="5" name="TextBox 4"/>
          <p:cNvSpPr txBox="1"/>
          <p:nvPr/>
        </p:nvSpPr>
        <p:spPr>
          <a:xfrm>
            <a:off x="502920" y="1051560"/>
            <a:ext cx="11155680" cy="5303520"/>
          </a:xfrm>
          <a:prstGeom prst="rect">
            <a:avLst/>
          </a:prstGeom>
          <a:noFill/>
        </p:spPr>
        <p:txBody>
          <a:bodyPr wrap="square">
            <a:spAutoFit/>
          </a:bodyPr>
          <a:lstStyle/>
          <a:p>
            <a:pPr algn="l">
              <a:lnSpc>
                <a:spcPct val="128000"/>
              </a:lnSpc>
              <a:spcBef>
                <a:spcPts val="0"/>
              </a:spcBef>
              <a:spcAft>
                <a:spcPts val="200"/>
              </a:spcAft>
            </a:pPr>
            <a:r>
              <a:rPr sz="2600" b="0" i="0">
                <a:solidFill>
                  <a:srgbClr val="1E2F38"/>
                </a:solidFill>
                <a:latin typeface="Calibri"/>
              </a:rPr>
              <a:t>This Statement of Interest confirms FairBanks' intent to advance Track 2, Objective 4 with a community-rooted, interoperable, government-aligned digital health proposal. We seek invitation to Phase 2 (full proposal) and/or consultative program design, where we will detail workplans, budgets, M&amp;E, partnership letters, and a clear transition of staffing and recurrent costs toward sustainable Ugandan ownership.</a:t>
            </a:r>
          </a:p>
        </p:txBody>
      </p:sp>
      <p:sp>
        <p:nvSpPr>
          <p:cNvPr id="6" name="Rectangle 5"/>
          <p:cNvSpPr/>
          <p:nvPr/>
        </p:nvSpPr>
        <p:spPr>
          <a:xfrm>
            <a:off x="0" y="6601968"/>
            <a:ext cx="12191695" cy="256032"/>
          </a:xfrm>
          <a:prstGeom prst="rect">
            <a:avLst/>
          </a:prstGeom>
          <a:solidFill>
            <a:srgbClr val="1E2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20256"/>
            <a:ext cx="10058400" cy="201168"/>
          </a:xfrm>
          <a:prstGeom prst="rect">
            <a:avLst/>
          </a:prstGeom>
          <a:noFill/>
        </p:spPr>
        <p:txBody>
          <a:bodyPr wrap="square">
            <a:spAutoFit/>
          </a:bodyPr>
          <a:lstStyle/>
          <a:p>
            <a:pPr algn="l">
              <a:lnSpc>
                <a:spcPct val="115000"/>
              </a:lnSpc>
              <a:spcBef>
                <a:spcPts val="0"/>
              </a:spcBef>
              <a:spcAft>
                <a:spcPts val="200"/>
              </a:spcAft>
            </a:pPr>
            <a:r>
              <a:rPr sz="900" b="0" i="0">
                <a:solidFill>
                  <a:srgbClr val="FFFFFF"/>
                </a:solidFill>
                <a:latin typeface="Calibri"/>
              </a:rPr>
              <a:t>FairBanks SOI  |  DFOP0017890 Objective 4  |  Your health, our mission.</a:t>
            </a:r>
          </a:p>
        </p:txBody>
      </p:sp>
      <p:sp>
        <p:nvSpPr>
          <p:cNvPr id="8" name="TextBox 7"/>
          <p:cNvSpPr txBox="1"/>
          <p:nvPr/>
        </p:nvSpPr>
        <p:spPr>
          <a:xfrm>
            <a:off x="11460175" y="6620256"/>
            <a:ext cx="457200" cy="201168"/>
          </a:xfrm>
          <a:prstGeom prst="rect">
            <a:avLst/>
          </a:prstGeom>
          <a:noFill/>
        </p:spPr>
        <p:txBody>
          <a:bodyPr wrap="square">
            <a:spAutoFit/>
          </a:bodyPr>
          <a:lstStyle/>
          <a:p>
            <a:pPr algn="r">
              <a:lnSpc>
                <a:spcPct val="115000"/>
              </a:lnSpc>
              <a:spcBef>
                <a:spcPts val="0"/>
              </a:spcBef>
              <a:spcAft>
                <a:spcPts val="200"/>
              </a:spcAft>
            </a:pPr>
            <a:r>
              <a:rPr sz="900" b="0" i="0">
                <a:solidFill>
                  <a:srgbClr val="FFFFFF"/>
                </a:solidFill>
                <a:latin typeface="Calibri"/>
              </a:rPr>
              <a:t>11</a:t>
            </a:r>
          </a:p>
        </p:txBody>
      </p:sp>
    </p:spTree>
  </p:cSld>
  <p:clrMapOvr>
    <a:masterClrMapping/>
  </p:clrMapOvr>
  <p:timing>
    <p:tnLst>
      <p:par>
        <p:cTn id="1" dur="indefinite" restart="never" nodeType="tmRoot">
          <p:childTnLst>
            <p:seq concurrent="true" nextAc="seek">
              <p:cTn id="2" dur="indefinite" nodeType="mainSeq">
                <p:childTnLst>
                  <p:par>
                    <p:cTn id="9" fill="hold">
                      <p:stCondLst>
                        <p:cond delay="0"/>
                      </p:stCondLst>
                      <p:childTnLst>
                        <p:par>
                          <p:cTn id="3" presetID="10" presetClass="entr" presetSubtype="0" fill="hold" nodeType="withEffect">
                            <p:stCondLst>
                              <p:cond delay="0"/>
                            </p:stCondLst>
                            <p:childTnLst>
                              <p:animEffect transition="in" filter="fade">
                                <p:cBhvr>
                                  <p:cTn id="4" dur="450"/>
                                  <p:tgtEl>
                                    <p:spTgt spid="2"/>
                                  </p:tgtEl>
                                </p:cBhvr>
                              </p:animEffect>
                            </p:childTnLst>
                          </p:cTn>
                        </p:par>
                        <p:par>
                          <p:cTn id="5" presetID="10" presetClass="entr" presetSubtype="0" fill="hold" nodeType="withEffect">
                            <p:stCondLst>
                              <p:cond delay="200"/>
                            </p:stCondLst>
                            <p:childTnLst>
                              <p:animEffect transition="in" filter="fade">
                                <p:cBhvr>
                                  <p:cTn id="6" dur="450"/>
                                  <p:tgtEl>
                                    <p:spTgt spid="3"/>
                                  </p:tgtEl>
                                </p:cBhvr>
                              </p:animEffect>
                            </p:childTnLst>
                          </p:cTn>
                        </p:par>
                        <p:par>
                          <p:cTn id="7" presetID="10" presetClass="entr" presetSubtype="0" fill="hold" nodeType="withEffect">
                            <p:stCondLst>
                              <p:cond delay="200"/>
                            </p:stCondLst>
                            <p:childTnLst>
                              <p:animEffect transition="in" filter="fade">
                                <p:cBhvr>
                                  <p:cTn id="8" dur="4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