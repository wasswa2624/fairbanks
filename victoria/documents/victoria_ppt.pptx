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cility_exterior_branded_entrance_01.jpeg"/>
          <p:cNvPicPr>
            <a:picLocks noChangeAspect="1"/>
          </p:cNvPicPr>
          <p:nvPr/>
        </p:nvPicPr>
        <p:blipFill>
          <a:blip r:embed="rId2"/>
          <a:srcRect t="12499" b="12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7178040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78040" y="0"/>
            <a:ext cx="109728" cy="6858000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9768" y="182880"/>
            <a:ext cx="1071749" cy="58521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airbanks_log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56032"/>
            <a:ext cx="1168983" cy="4389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960120"/>
            <a:ext cx="6400800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9A2B"/>
                </a:solidFill>
                <a:latin typeface="Calibri"/>
              </a:rPr>
              <a:t>INSTITUTIONAL PARTNERSHIP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98448"/>
            <a:ext cx="6400800" cy="3657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D6E6E"/>
                </a:solidFill>
                <a:latin typeface="Calibri"/>
              </a:rPr>
              <a:t>FairBanks Medical Centre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74519"/>
            <a:ext cx="6400800" cy="5943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University–Community 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14600"/>
            <a:ext cx="6400800" cy="5943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D99A2B"/>
                </a:solidFill>
                <a:latin typeface="Calibri"/>
              </a:rPr>
              <a:t>Partnership Proposal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200400"/>
            <a:ext cx="2560320" cy="8229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474720"/>
            <a:ext cx="6400800" cy="3657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E8DC"/>
                </a:solidFill>
                <a:latin typeface="Calibri"/>
              </a:rPr>
              <a:t>Building the FairBanks Community Health Intelligence Platform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931920"/>
            <a:ext cx="6400800" cy="38404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D99A2B"/>
                </a:solidFill>
                <a:latin typeface="Calibri"/>
              </a:rPr>
              <a:t>(FCHIP) with Victoria University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526280"/>
            <a:ext cx="6400800" cy="38404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D99A2B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5760720"/>
            <a:ext cx="7178040" cy="109728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5943600"/>
            <a:ext cx="6400800" cy="34747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Prepared for Victoria University leadership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355080"/>
            <a:ext cx="6400800" cy="3200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E8DC"/>
                </a:solidFill>
                <a:latin typeface="Calibri"/>
              </a:rPr>
              <a:t>Kyebando–Kisalosalo, Kampala  ·  Institutional briefing</a:t>
            </a:r>
          </a:p>
        </p:txBody>
      </p:sp>
    </p:spTree>
  </p:cSld>
  <p:transition spd="med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4457" y="182880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609" y="256032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74320"/>
            <a:ext cx="9711769" cy="5029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1F2E"/>
                </a:solidFill>
                <a:latin typeface="Calibri"/>
              </a:rPr>
              <a:t>Slide Contents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188720"/>
            <a:ext cx="5387187" cy="10835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417320"/>
            <a:ext cx="73152" cy="626364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1538478"/>
            <a:ext cx="640080" cy="38404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538478"/>
            <a:ext cx="4061307" cy="38404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Executive summary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5867" y="1188720"/>
            <a:ext cx="5387187" cy="10835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38747" y="1417320"/>
            <a:ext cx="73152" cy="6263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39915" y="1538478"/>
            <a:ext cx="640080" cy="38404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53147" y="1538478"/>
            <a:ext cx="4061307" cy="38404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About FairBanks Medical Centre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2473452"/>
            <a:ext cx="5387187" cy="10835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2702052"/>
            <a:ext cx="73152" cy="626364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2823210"/>
            <a:ext cx="640080" cy="38404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2823210"/>
            <a:ext cx="4061307" cy="38404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What FCHIP 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55867" y="2473452"/>
            <a:ext cx="5387187" cy="10835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38747" y="2702052"/>
            <a:ext cx="73152" cy="6263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9915" y="2823210"/>
            <a:ext cx="640080" cy="38404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53147" y="2823210"/>
            <a:ext cx="4061307" cy="38404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How we work together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3758184"/>
            <a:ext cx="5387187" cy="10835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3986784"/>
            <a:ext cx="73152" cy="626364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" y="4107942"/>
            <a:ext cx="640080" cy="38404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4107942"/>
            <a:ext cx="4061307" cy="38404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Why Victoria University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55867" y="3758184"/>
            <a:ext cx="5387187" cy="10835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38747" y="3986784"/>
            <a:ext cx="73152" cy="6263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39915" y="4107942"/>
            <a:ext cx="640080" cy="38404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53147" y="4107942"/>
            <a:ext cx="4061307" cy="38404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Partnership network and outcomes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5042916"/>
            <a:ext cx="5387187" cy="10835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5271516"/>
            <a:ext cx="73152" cy="626364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8408" y="5392674"/>
            <a:ext cx="640080" cy="38404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91640" y="5392674"/>
            <a:ext cx="4061307" cy="38404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Roadmap and long-term vision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55867" y="5042916"/>
            <a:ext cx="5387187" cy="10835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38747" y="5271516"/>
            <a:ext cx="73152" cy="6263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39915" y="5392674"/>
            <a:ext cx="640080" cy="38404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53147" y="5392674"/>
            <a:ext cx="4061307" cy="38404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Invitation to partner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" y="6473952"/>
            <a:ext cx="1104869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6547104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54335" y="6547104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2  /  17</a:t>
            </a:r>
          </a:p>
        </p:txBody>
      </p:sp>
    </p:spTree>
  </p:cSld>
  <p:transition spd="med">
    <p:fade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4457" y="182880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609" y="256032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01168"/>
            <a:ext cx="9711769" cy="237744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EXECUTIVE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8912"/>
            <a:ext cx="9711769" cy="45720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A partnership for health, learning, and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97280"/>
            <a:ext cx="11048695" cy="64008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FairBanks Medical Centre proposes a partnership with Victoria University to integrate healthcare service delivery, academic excellence, research, innovation, and community engagement.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874519"/>
            <a:ext cx="11048695" cy="13075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8952" y="2057400"/>
            <a:ext cx="73152" cy="941831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2039112"/>
            <a:ext cx="10408615" cy="3200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FCHIP at the centre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2377439"/>
            <a:ext cx="10408615" cy="66751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The FairBanks Community Health Intelligence Platform is the deep-tech platform for predictive community health — using community and facility data to support prevention, outreach, research, skills development, and partnerships.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346703"/>
            <a:ext cx="11048695" cy="13075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8952" y="3529584"/>
            <a:ext cx="73152" cy="941831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3511296"/>
            <a:ext cx="10408615" cy="3200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Shared strengths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" y="3849624"/>
            <a:ext cx="10408615" cy="66751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Victoria University brings education, innovation, and research. FairBanks brings a practical healthcare platform and community presence.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818888"/>
            <a:ext cx="11048695" cy="13075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8952" y="5001768"/>
            <a:ext cx="73152" cy="941831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4983479"/>
            <a:ext cx="10408615" cy="3200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Shared goal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5321807"/>
            <a:ext cx="10408615" cy="66751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Build a replicable University–Community Health Partnership Model that advances healthcare, education, innovation, and sustainable development in Uganda.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6473952"/>
            <a:ext cx="1104869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6547104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54335" y="6547104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3  /  17</a:t>
            </a:r>
          </a:p>
        </p:txBody>
      </p:sp>
    </p:spTree>
  </p:cSld>
  <p:transition spd="med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4457" y="182880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609" y="256032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01168"/>
            <a:ext cx="9711769" cy="237744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WHO WE 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8912"/>
            <a:ext cx="9711769" cy="45720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About FairBanks Medical Centre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097280"/>
            <a:ext cx="6400800" cy="5029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53312"/>
            <a:ext cx="5760720" cy="34747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Community-based primary healthcare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737360"/>
            <a:ext cx="5760720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45C26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94560"/>
            <a:ext cx="5760720" cy="3657600"/>
          </a:xfrm>
          <a:prstGeom prst="rect">
            <a:avLst/>
          </a:prstGeom>
          <a:noFill/>
        </p:spPr>
        <p:txBody>
          <a:bodyPr wrap="square" lIns="18000" rIns="18000" tIns="4000" bIns="4000">
            <a:spAutoFit/>
          </a:bodyPr>
          <a:lstStyle/>
          <a:p>
            <a:pPr algn="l">
              <a:spcAft>
                <a:spcPts val="1100"/>
              </a:spcAft>
            </a:pPr>
            <a:r>
              <a:rPr sz="1500" b="0">
                <a:solidFill>
                  <a:srgbClr val="1E2F38"/>
                </a:solidFill>
                <a:latin typeface="Calibri"/>
              </a:rPr>
              <a:t>•  Located in Kyebando–Kisalosalo, Kampala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E2F38"/>
                </a:solidFill>
                <a:latin typeface="Calibri"/>
              </a:rPr>
              <a:t>•  Accessible, affordable, quality healthcare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E2F38"/>
                </a:solidFill>
                <a:latin typeface="Calibri"/>
              </a:rPr>
              <a:t>•  Strong focus on preventive health and community well-being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E2F38"/>
                </a:solidFill>
                <a:latin typeface="Calibri"/>
              </a:rPr>
              <a:t>•  Committed to social determinants of health through partnerships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E2F38"/>
                </a:solidFill>
                <a:latin typeface="Calibri"/>
              </a:rPr>
              <a:t>•  Active in innovation, research, and community engagement</a:t>
            </a:r>
          </a:p>
        </p:txBody>
      </p:sp>
      <p:pic>
        <p:nvPicPr>
          <p:cNvPr id="13" name="Picture 12" descr="facility_exterior_entrance_01.jpg"/>
          <p:cNvPicPr>
            <a:picLocks noChangeAspect="1"/>
          </p:cNvPicPr>
          <p:nvPr/>
        </p:nvPicPr>
        <p:blipFill>
          <a:blip r:embed="rId3"/>
          <a:srcRect t="192" b="192"/>
          <a:stretch>
            <a:fillRect/>
          </a:stretch>
        </p:blipFill>
        <p:spPr>
          <a:xfrm>
            <a:off x="7251192" y="1097280"/>
            <a:ext cx="4391863" cy="291693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251192" y="4160520"/>
            <a:ext cx="4391863" cy="1965960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79792" y="4416552"/>
            <a:ext cx="3934663" cy="3200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9A2B"/>
                </a:solidFill>
                <a:latin typeface="Calibri"/>
              </a:rPr>
              <a:t>FairBanks Medical Centre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792" y="4800600"/>
            <a:ext cx="3934663" cy="109728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A trusted community health home — care close to where families live.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6473952"/>
            <a:ext cx="1104869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547104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4335" y="6547104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4  /  17</a:t>
            </a:r>
          </a:p>
        </p:txBody>
      </p:sp>
    </p:spTree>
  </p:cSld>
  <p:transition spd="med">
    <p:fade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4457" y="182880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609" y="256032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74320"/>
            <a:ext cx="9711769" cy="5029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1F2E"/>
                </a:solidFill>
                <a:latin typeface="Calibri"/>
              </a:rPr>
              <a:t>What is FCHIP?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097280"/>
            <a:ext cx="11048695" cy="2286000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298448"/>
            <a:ext cx="10317175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9A2B"/>
                </a:solidFill>
                <a:latin typeface="Calibri"/>
              </a:rPr>
              <a:t>FCHIP stands for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627631"/>
            <a:ext cx="10317175" cy="41148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FairBanks Community Health Intelligence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148839"/>
            <a:ext cx="10317175" cy="10515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E8DC"/>
                </a:solidFill>
                <a:latin typeface="Calibri"/>
              </a:rPr>
              <a:t>FCHIP is a deep-technology platform that turns community and facility health data into useful predictions. It connects community members, CHWs and VHTs, schools, outreach programmes, clinics, and hospitals — and uses AI, GIS mapping, and climate signals to spot risks early so partners can act before crises escalate.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47872"/>
            <a:ext cx="11048695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What FCHIP focuses 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886200"/>
            <a:ext cx="2063435" cy="10469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22376" y="4014215"/>
            <a:ext cx="1807403" cy="6400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160520"/>
            <a:ext cx="1880555" cy="66294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Disease early warning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40675" y="3886200"/>
            <a:ext cx="2063435" cy="10469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8691" y="4014215"/>
            <a:ext cx="1807403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32115" y="4160520"/>
            <a:ext cx="1880555" cy="66294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Maternal health risk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86990" y="3886200"/>
            <a:ext cx="2063435" cy="10469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15006" y="4014215"/>
            <a:ext cx="1807403" cy="64008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78430" y="4160520"/>
            <a:ext cx="1880555" cy="66294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NCD hotspots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33305" y="3886200"/>
            <a:ext cx="2063435" cy="10469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61321" y="4014215"/>
            <a:ext cx="1807403" cy="6400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24745" y="4160520"/>
            <a:ext cx="1880555" cy="66294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Child health signals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79620" y="3886200"/>
            <a:ext cx="2063435" cy="10469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07636" y="4014215"/>
            <a:ext cx="1807403" cy="6400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71060" y="4160520"/>
            <a:ext cx="1880555" cy="66294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Medicine demand forecasts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5079492"/>
            <a:ext cx="2063435" cy="10469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2376" y="5207507"/>
            <a:ext cx="1807403" cy="6400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353812"/>
            <a:ext cx="1880555" cy="66294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CHW / VHT mobile tools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840675" y="5079492"/>
            <a:ext cx="2063435" cy="10469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968691" y="5207507"/>
            <a:ext cx="1807403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32115" y="5353812"/>
            <a:ext cx="1880555" cy="66294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GIS risk mapping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86990" y="5079492"/>
            <a:ext cx="2063435" cy="10469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215006" y="5207507"/>
            <a:ext cx="1807403" cy="64008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78430" y="5353812"/>
            <a:ext cx="1880555" cy="66294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Climate–health fusion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33305" y="5079492"/>
            <a:ext cx="2063435" cy="10469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461321" y="5207507"/>
            <a:ext cx="1807403" cy="6400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24745" y="5353812"/>
            <a:ext cx="1880555" cy="66294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EMR / HMS data APIs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579620" y="5079492"/>
            <a:ext cx="2063435" cy="10469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707636" y="5207507"/>
            <a:ext cx="1807403" cy="6400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71060" y="5353812"/>
            <a:ext cx="1880555" cy="66294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Facility dashboards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4360" y="6473952"/>
            <a:ext cx="1104869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4360" y="6547104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54335" y="6547104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5  /  17</a:t>
            </a:r>
          </a:p>
        </p:txBody>
      </p:sp>
    </p:spTree>
  </p:cSld>
  <p:transition spd="med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4457" y="182880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609" y="256032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74320"/>
            <a:ext cx="9711769" cy="5029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1F2E"/>
                </a:solidFill>
                <a:latin typeface="Calibri"/>
              </a:rPr>
              <a:t>How we work together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97280"/>
            <a:ext cx="11048695" cy="34747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Five key areas of collaboration between Victoria University and FairBanks Medical Centre.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536192"/>
            <a:ext cx="11048695" cy="80101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5528" y="1685239"/>
            <a:ext cx="502920" cy="502920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685239"/>
            <a:ext cx="502920" cy="50292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1653235"/>
            <a:ext cx="9832543" cy="2743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Student Experiential Learning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1927555"/>
            <a:ext cx="9832543" cy="2743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Structured placements across health and related fields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483510"/>
            <a:ext cx="11048695" cy="80101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95528" y="2632557"/>
            <a:ext cx="502920" cy="502920"/>
          </a:xfrm>
          <a:prstGeom prst="roundRect">
            <a:avLst>
              <a:gd name="adj" fmla="val 9000"/>
            </a:avLst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632557"/>
            <a:ext cx="502920" cy="50292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600553"/>
            <a:ext cx="9832543" cy="2743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Research and Innovation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874873"/>
            <a:ext cx="9832543" cy="2743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Joint studies, publications, and evidence for policy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430828"/>
            <a:ext cx="11048695" cy="80101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95528" y="3579876"/>
            <a:ext cx="502920" cy="502920"/>
          </a:xfrm>
          <a:prstGeom prst="roundRect">
            <a:avLst>
              <a:gd name="adj" fmla="val 9000"/>
            </a:avLst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3579876"/>
            <a:ext cx="502920" cy="50292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547872"/>
            <a:ext cx="9832543" cy="2743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Community Engagement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22191"/>
            <a:ext cx="9832543" cy="2743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Camps, schools, screening, and volunteer programmes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378147"/>
            <a:ext cx="11048695" cy="80101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95528" y="4527194"/>
            <a:ext cx="502920" cy="502920"/>
          </a:xfrm>
          <a:prstGeom prst="roundRect">
            <a:avLst>
              <a:gd name="adj" fmla="val 9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4527194"/>
            <a:ext cx="502920" cy="50292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495190"/>
            <a:ext cx="9832543" cy="2743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Digital Health &amp; Innovation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4769510"/>
            <a:ext cx="9832543" cy="2743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AI, EMRs, telemedicine, and predictive analytics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5325465"/>
            <a:ext cx="11048695" cy="80101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5528" y="5474512"/>
            <a:ext cx="502920" cy="502920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5474512"/>
            <a:ext cx="502920" cy="50292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442508"/>
            <a:ext cx="9832543" cy="2743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Resource Mobilisation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54480" y="5716828"/>
            <a:ext cx="9832543" cy="2743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Shared pursuit of grants and development partnerships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6473952"/>
            <a:ext cx="1104869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6547104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54335" y="6547104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6  /  17</a:t>
            </a:r>
          </a:p>
        </p:txBody>
      </p:sp>
    </p:spTree>
  </p:cSld>
  <p:transition spd="med">
    <p:fade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4457" y="182880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609" y="256032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74320"/>
            <a:ext cx="9711769" cy="5029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1F2E"/>
                </a:solidFill>
                <a:latin typeface="Calibri"/>
              </a:rPr>
              <a:t>Why Victoria University?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97280"/>
            <a:ext cx="11048695" cy="5486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E2F38"/>
                </a:solidFill>
                <a:latin typeface="Calibri"/>
              </a:rPr>
              <a:t>Victoria University is committed to practical learning, innovation, entrepreneurship, and community transformation — values that closely align with FairBanks Medical Centre.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783080"/>
            <a:ext cx="3530498" cy="4343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2376" y="1984248"/>
            <a:ext cx="73152" cy="3941063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039112"/>
            <a:ext cx="3000146" cy="5486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What the University contributes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743200"/>
            <a:ext cx="3055010" cy="3200400"/>
          </a:xfrm>
          <a:prstGeom prst="rect">
            <a:avLst/>
          </a:prstGeom>
          <a:noFill/>
        </p:spPr>
        <p:txBody>
          <a:bodyPr wrap="square" lIns="18000" rIns="18000" tIns="4000" bIns="40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Academic expertise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Research capacity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Student engagement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Innovation culture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3458" y="1783080"/>
            <a:ext cx="3530498" cy="4343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1474" y="1984248"/>
            <a:ext cx="73152" cy="3941063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0930" y="2039112"/>
            <a:ext cx="3000146" cy="5486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What the University gains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6066" y="2743200"/>
            <a:ext cx="3055010" cy="3200400"/>
          </a:xfrm>
          <a:prstGeom prst="rect">
            <a:avLst/>
          </a:prstGeom>
          <a:noFill/>
        </p:spPr>
        <p:txBody>
          <a:bodyPr wrap="square" lIns="18000" rIns="18000" tIns="4000" bIns="40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Real-world experiential learning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Applied research environment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Community impact pathways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Visible institutional leadership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2556" y="1783080"/>
            <a:ext cx="3530498" cy="4343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40572" y="1984248"/>
            <a:ext cx="73152" cy="3941063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60028" y="2039112"/>
            <a:ext cx="3000146" cy="5486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Proposed role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5164" y="2743200"/>
            <a:ext cx="3055010" cy="3200400"/>
          </a:xfrm>
          <a:prstGeom prst="rect">
            <a:avLst/>
          </a:prstGeom>
          <a:noFill/>
        </p:spPr>
        <p:txBody>
          <a:bodyPr wrap="square" lIns="18000" rIns="18000" tIns="4000" bIns="40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Founding academic partner for FCHIP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Co-shaper of a national partnership model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Bridge between campus and community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Partner in grants and innovation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6473952"/>
            <a:ext cx="1104869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6547104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54335" y="6547104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7  /  17</a:t>
            </a:r>
          </a:p>
        </p:txBody>
      </p:sp>
    </p:spTree>
  </p:cSld>
  <p:transition spd="med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4457" y="182880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609" y="256032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01168"/>
            <a:ext cx="9711769" cy="237744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COLLABORATION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8912"/>
            <a:ext cx="9711769" cy="45720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Student experiential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1048695" cy="3200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Students gain practical experience while contributing to community healthcare.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17320"/>
            <a:ext cx="2597581" cy="224485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73110" y="1828800"/>
            <a:ext cx="64008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057400"/>
            <a:ext cx="2323261" cy="1330452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Nursing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1397" y="1417320"/>
            <a:ext cx="2597581" cy="224485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90148" y="1828800"/>
            <a:ext cx="64008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48557" y="2057400"/>
            <a:ext cx="2323261" cy="1330452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Public Health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8435" y="1417320"/>
            <a:ext cx="2597581" cy="224485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7186" y="1828800"/>
            <a:ext cx="64008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5595" y="2057400"/>
            <a:ext cx="2323261" cy="1330452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Human Resource Management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45473" y="1417320"/>
            <a:ext cx="2597581" cy="224485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024224" y="1828800"/>
            <a:ext cx="64008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2633" y="2057400"/>
            <a:ext cx="2323261" cy="1330452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Business Administration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881628"/>
            <a:ext cx="2597581" cy="224485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573110" y="4293108"/>
            <a:ext cx="64008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521708"/>
            <a:ext cx="2323261" cy="1330452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Information Technology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11397" y="3881628"/>
            <a:ext cx="2597581" cy="224485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90148" y="4293108"/>
            <a:ext cx="64008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48557" y="4521708"/>
            <a:ext cx="2323261" cy="1330452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Social Work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8435" y="3881628"/>
            <a:ext cx="2597581" cy="224485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07186" y="4293108"/>
            <a:ext cx="64008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5595" y="4521708"/>
            <a:ext cx="2323261" cy="1330452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Community Development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45473" y="3881628"/>
            <a:ext cx="2597581" cy="224485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24224" y="4293108"/>
            <a:ext cx="64008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82633" y="4521708"/>
            <a:ext cx="2323261" cy="1330452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Marketing and Communications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6473952"/>
            <a:ext cx="1104869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6547104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54335" y="6547104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8  /  17</a:t>
            </a:r>
          </a:p>
        </p:txBody>
      </p:sp>
    </p:spTree>
  </p:cSld>
  <p:transition spd="med">
    <p:fade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4457" y="182880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609" y="256032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01168"/>
            <a:ext cx="9711769" cy="237744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COLLABORATION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8912"/>
            <a:ext cx="9711769" cy="45720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Research and innovation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1048695" cy="3200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Joint programmes, publications, conferences, and evidence-based policy development.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17320"/>
            <a:ext cx="3536594" cy="14599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8952" y="1618488"/>
            <a:ext cx="73152" cy="1057656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618488"/>
            <a:ext cx="2987954" cy="1057656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Community Health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0410" y="1417320"/>
            <a:ext cx="3536594" cy="14599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15002" y="1618488"/>
            <a:ext cx="73152" cy="1057656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6170" y="1618488"/>
            <a:ext cx="2987954" cy="1057656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Health Systems Strengthening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6460" y="1417320"/>
            <a:ext cx="3536594" cy="14599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71052" y="1618488"/>
            <a:ext cx="73152" cy="1057656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2220" y="1618488"/>
            <a:ext cx="2987954" cy="1057656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Artificial Intelligence in Healthcare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041904"/>
            <a:ext cx="3536594" cy="14599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3243072"/>
            <a:ext cx="73152" cy="105765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243072"/>
            <a:ext cx="2987954" cy="1057656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Digital Health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50410" y="3041904"/>
            <a:ext cx="3536594" cy="14599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15002" y="3243072"/>
            <a:ext cx="73152" cy="105765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16170" y="3243072"/>
            <a:ext cx="2987954" cy="1057656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Occupational Burnout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06460" y="3041904"/>
            <a:ext cx="3536594" cy="14599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71052" y="3243072"/>
            <a:ext cx="73152" cy="105765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72220" y="3243072"/>
            <a:ext cx="2987954" cy="1057656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Maternal and Child Health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4666488"/>
            <a:ext cx="3536594" cy="14599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58952" y="4867656"/>
            <a:ext cx="73152" cy="1057656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4867656"/>
            <a:ext cx="2987954" cy="1057656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Non-Communicable Diseases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50410" y="4666488"/>
            <a:ext cx="3536594" cy="14599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15002" y="4867656"/>
            <a:ext cx="73152" cy="1057656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6170" y="4867656"/>
            <a:ext cx="2987954" cy="1057656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Preventive Healthcare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06460" y="4666488"/>
            <a:ext cx="3536594" cy="14599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71052" y="4867656"/>
            <a:ext cx="73152" cy="1057656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72220" y="4867656"/>
            <a:ext cx="2987954" cy="1057656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Healthcare Quality Improvement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4360" y="6473952"/>
            <a:ext cx="1104869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6547104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54335" y="6547104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9  /  17</a:t>
            </a:r>
          </a:p>
        </p:txBody>
      </p:sp>
    </p:spTree>
  </p:cSld>
  <p:transition spd="med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4457" y="182880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609" y="256032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01168"/>
            <a:ext cx="9711769" cy="237744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COLLABORATION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8912"/>
            <a:ext cx="9711769" cy="45720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Community engagement through FCHIP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1048695" cy="3200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Measurable social impact with meaningful practical learning.</a:t>
            </a:r>
          </a:p>
        </p:txBody>
      </p:sp>
      <p:pic>
        <p:nvPicPr>
          <p:cNvPr id="10" name="Picture 9" descr="outreach_bp_screening.jpeg"/>
          <p:cNvPicPr>
            <a:picLocks noChangeAspect="1"/>
          </p:cNvPicPr>
          <p:nvPr/>
        </p:nvPicPr>
        <p:blipFill>
          <a:blip r:embed="rId3"/>
          <a:srcRect t="20046" b="20046"/>
          <a:stretch>
            <a:fillRect/>
          </a:stretch>
        </p:blipFill>
        <p:spPr>
          <a:xfrm>
            <a:off x="594360" y="1417320"/>
            <a:ext cx="3548786" cy="1417320"/>
          </a:xfrm>
          <a:prstGeom prst="rect">
            <a:avLst/>
          </a:prstGeom>
        </p:spPr>
      </p:pic>
      <p:pic>
        <p:nvPicPr>
          <p:cNvPr id="11" name="Picture 10" descr="outreach_medical_camp_01.jpg"/>
          <p:cNvPicPr>
            <a:picLocks noChangeAspect="1"/>
          </p:cNvPicPr>
          <p:nvPr/>
        </p:nvPicPr>
        <p:blipFill>
          <a:blip r:embed="rId4"/>
          <a:srcRect t="20029" b="20029"/>
          <a:stretch>
            <a:fillRect/>
          </a:stretch>
        </p:blipFill>
        <p:spPr>
          <a:xfrm>
            <a:off x="4344314" y="1417320"/>
            <a:ext cx="3548786" cy="1417320"/>
          </a:xfrm>
          <a:prstGeom prst="rect">
            <a:avLst/>
          </a:prstGeom>
        </p:spPr>
      </p:pic>
      <p:pic>
        <p:nvPicPr>
          <p:cNvPr id="12" name="Picture 11" descr="outreach_audience_full_group_01.jpg"/>
          <p:cNvPicPr>
            <a:picLocks noChangeAspect="1"/>
          </p:cNvPicPr>
          <p:nvPr/>
        </p:nvPicPr>
        <p:blipFill>
          <a:blip r:embed="rId5"/>
          <a:srcRect t="20046" b="20046"/>
          <a:stretch>
            <a:fillRect/>
          </a:stretch>
        </p:blipFill>
        <p:spPr>
          <a:xfrm>
            <a:off x="8094268" y="1417320"/>
            <a:ext cx="3548786" cy="14173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94360" y="3035808"/>
            <a:ext cx="3548786" cy="944879"/>
          </a:xfrm>
          <a:prstGeom prst="roundRect">
            <a:avLst>
              <a:gd name="adj" fmla="val 9000"/>
            </a:avLst>
          </a:prstGeom>
          <a:solidFill>
            <a:srgbClr val="E8F3F2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127248"/>
            <a:ext cx="3219602" cy="76199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Community medical camps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4314" y="3035808"/>
            <a:ext cx="3548786" cy="944879"/>
          </a:xfrm>
          <a:prstGeom prst="roundRect">
            <a:avLst>
              <a:gd name="adj" fmla="val 9000"/>
            </a:avLst>
          </a:prstGeom>
          <a:solidFill>
            <a:srgbClr val="E8F3F2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8906" y="3127248"/>
            <a:ext cx="3219602" cy="76199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School health programmes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4268" y="3035808"/>
            <a:ext cx="3548786" cy="944879"/>
          </a:xfrm>
          <a:prstGeom prst="roundRect">
            <a:avLst>
              <a:gd name="adj" fmla="val 9000"/>
            </a:avLst>
          </a:prstGeom>
          <a:solidFill>
            <a:srgbClr val="E8F3F2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8860" y="3127248"/>
            <a:ext cx="3219602" cy="76199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Corporate wellness initiatives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108704"/>
            <a:ext cx="3548786" cy="94487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4200144"/>
            <a:ext cx="3219602" cy="76199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Community disease screening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4314" y="4108704"/>
            <a:ext cx="3548786" cy="94487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08906" y="4200144"/>
            <a:ext cx="3219602" cy="76199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Health promotion campaigns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4268" y="4108704"/>
            <a:ext cx="3548786" cy="94487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8860" y="4200144"/>
            <a:ext cx="3219602" cy="76199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Maternal and child health outreach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5181600"/>
            <a:ext cx="3548786" cy="944879"/>
          </a:xfrm>
          <a:prstGeom prst="roundRect">
            <a:avLst>
              <a:gd name="adj" fmla="val 9000"/>
            </a:avLst>
          </a:prstGeom>
          <a:solidFill>
            <a:srgbClr val="E8F3F2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" y="5273040"/>
            <a:ext cx="3219602" cy="76199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Elderly care programmes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4314" y="5181600"/>
            <a:ext cx="3548786" cy="944879"/>
          </a:xfrm>
          <a:prstGeom prst="roundRect">
            <a:avLst>
              <a:gd name="adj" fmla="val 9000"/>
            </a:avLst>
          </a:prstGeom>
          <a:solidFill>
            <a:srgbClr val="E8F3F2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8906" y="5273040"/>
            <a:ext cx="3219602" cy="76199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Student volunteer programmes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94268" y="5181600"/>
            <a:ext cx="3548786" cy="944879"/>
          </a:xfrm>
          <a:prstGeom prst="roundRect">
            <a:avLst>
              <a:gd name="adj" fmla="val 9000"/>
            </a:avLst>
          </a:prstGeom>
          <a:solidFill>
            <a:srgbClr val="E8F3F2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58860" y="5273040"/>
            <a:ext cx="3219602" cy="76199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Community-based research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360" y="6473952"/>
            <a:ext cx="1104869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6547104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547104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10  /  17</a:t>
            </a:r>
          </a:p>
        </p:txBody>
      </p:sp>
    </p:spTree>
  </p:cSld>
  <p:transition spd="med">
    <p:fade/>
  </p:transition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4457" y="182880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609" y="256032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01168"/>
            <a:ext cx="9711769" cy="237744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COLLABORATION 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8912"/>
            <a:ext cx="9711769" cy="45720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Digital health and innovation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1048695" cy="3200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Developing practical healthcare solutions together.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17320"/>
            <a:ext cx="3536594" cy="225399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1618488"/>
            <a:ext cx="3134258" cy="73152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28800"/>
            <a:ext cx="3079394" cy="5029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Artificial Intelligence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423160"/>
            <a:ext cx="3079394" cy="1065276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Applications that support smarter clinical and community decisions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0410" y="1417320"/>
            <a:ext cx="3536594" cy="225399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51578" y="1618488"/>
            <a:ext cx="3134258" cy="73152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9010" y="1828800"/>
            <a:ext cx="3079394" cy="5029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Electronic Medical Records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9010" y="2423160"/>
            <a:ext cx="3079394" cy="1065276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Stronger continuity of care and better clinical information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6460" y="1417320"/>
            <a:ext cx="3536594" cy="225399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07628" y="1618488"/>
            <a:ext cx="3134258" cy="73152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5060" y="1828800"/>
            <a:ext cx="3079394" cy="5029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Telemedicine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5060" y="2423160"/>
            <a:ext cx="3079394" cy="1065276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Care and advice that reach people beyond the facility walls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872484"/>
            <a:ext cx="3536594" cy="225399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5528" y="4073652"/>
            <a:ext cx="3134258" cy="73152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283964"/>
            <a:ext cx="3079394" cy="5029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Community Health Information Systems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878324"/>
            <a:ext cx="3079394" cy="1065276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Better visibility of community health activity and needs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50410" y="3872484"/>
            <a:ext cx="3536594" cy="225399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51578" y="4073652"/>
            <a:ext cx="3134258" cy="73152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9010" y="4283964"/>
            <a:ext cx="3079394" cy="5029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Predictive analytics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9010" y="4878324"/>
            <a:ext cx="3079394" cy="1065276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Earlier insight for planning and prevention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6460" y="3872484"/>
            <a:ext cx="3536594" cy="225399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307628" y="4073652"/>
            <a:ext cx="3134258" cy="73152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5060" y="4283964"/>
            <a:ext cx="3079394" cy="5029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Digital patient engagement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5060" y="4878324"/>
            <a:ext cx="3079394" cy="1065276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Clearer communication and follow-up with patients and families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6473952"/>
            <a:ext cx="1104869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6547104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54335" y="6547104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11  /  17</a:t>
            </a:r>
          </a:p>
        </p:txBody>
      </p:sp>
    </p:spTree>
  </p:cSld>
  <p:transition spd="med">
    <p:fade/>
  </p:transition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4457" y="182880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609" y="256032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01168"/>
            <a:ext cx="9711769" cy="237744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COLLABORATION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8912"/>
            <a:ext cx="9711769" cy="45720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Resource mobilisation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1048695" cy="3200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Collaborative proposals improve competitiveness for local and international funding.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17320"/>
            <a:ext cx="3536594" cy="225399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783080"/>
            <a:ext cx="2987954" cy="3657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331720"/>
            <a:ext cx="2987954" cy="1065276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Research grants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0410" y="1417320"/>
            <a:ext cx="3536594" cy="225399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4730" y="1783080"/>
            <a:ext cx="2987954" cy="3657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4730" y="2331720"/>
            <a:ext cx="2987954" cy="1065276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Development funding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6460" y="1417320"/>
            <a:ext cx="3536594" cy="225399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0780" y="1783080"/>
            <a:ext cx="2987954" cy="3657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0780" y="2331720"/>
            <a:ext cx="2987954" cy="1065276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Innovation grants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872484"/>
            <a:ext cx="3536594" cy="225399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238244"/>
            <a:ext cx="2987954" cy="3657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786884"/>
            <a:ext cx="2987954" cy="1065276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Corporate Social Responsibility partnerships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50410" y="3872484"/>
            <a:ext cx="3536594" cy="225399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4730" y="4238244"/>
            <a:ext cx="2987954" cy="3657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4730" y="4786884"/>
            <a:ext cx="2987954" cy="1065276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International development partnerships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06460" y="3872484"/>
            <a:ext cx="3536594" cy="225399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0780" y="4238244"/>
            <a:ext cx="2987954" cy="3657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0780" y="4786884"/>
            <a:ext cx="2987954" cy="1065276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Capacity-building programmes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" y="6473952"/>
            <a:ext cx="1104869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6547104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54335" y="6547104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12  /  17</a:t>
            </a:r>
          </a:p>
        </p:txBody>
      </p:sp>
    </p:spTree>
  </p:cSld>
  <p:transition spd="med">
    <p:fade/>
  </p:transition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4457" y="182880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609" y="256032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01168"/>
            <a:ext cx="9711769" cy="237744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ECOSYSTEM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8912"/>
            <a:ext cx="9711769" cy="45720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Partnerships and collaborative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1048695" cy="3200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Victoria University as the flagship academic and research partner.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17320"/>
            <a:ext cx="5414619" cy="85404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" y="1563624"/>
            <a:ext cx="73152" cy="561441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508760"/>
            <a:ext cx="4911699" cy="67116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F38"/>
                </a:solidFill>
                <a:latin typeface="Calibri"/>
              </a:rPr>
              <a:t>Government ministries and public health institutions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8435" y="1417320"/>
            <a:ext cx="5414619" cy="85404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74739" y="1563624"/>
            <a:ext cx="73152" cy="561441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75907" y="1508760"/>
            <a:ext cx="4911699" cy="67116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F38"/>
                </a:solidFill>
                <a:latin typeface="Calibri"/>
              </a:rPr>
              <a:t>Local government leadership and Village Health Teams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2381097"/>
            <a:ext cx="5414619" cy="85404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" y="2527401"/>
            <a:ext cx="73152" cy="561441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2472537"/>
            <a:ext cx="4911699" cy="67116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F38"/>
                </a:solidFill>
                <a:latin typeface="Calibri"/>
              </a:rPr>
              <a:t>Health insurance providers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8435" y="2381097"/>
            <a:ext cx="5414619" cy="85404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74739" y="2527401"/>
            <a:ext cx="73152" cy="561441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75907" y="2472537"/>
            <a:ext cx="4911699" cy="67116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F38"/>
                </a:solidFill>
                <a:latin typeface="Calibri"/>
              </a:rPr>
              <a:t>Specialist healthcare professionals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344875"/>
            <a:ext cx="5414619" cy="85404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0664" y="3491179"/>
            <a:ext cx="73152" cy="561441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3436315"/>
            <a:ext cx="4911699" cy="67116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F38"/>
                </a:solidFill>
                <a:latin typeface="Calibri"/>
              </a:rPr>
              <a:t>Schools and educational institutions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28435" y="3344875"/>
            <a:ext cx="5414619" cy="85404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74739" y="3491179"/>
            <a:ext cx="73152" cy="561441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75907" y="3436315"/>
            <a:ext cx="4911699" cy="67116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F38"/>
                </a:solidFill>
                <a:latin typeface="Calibri"/>
              </a:rPr>
              <a:t>Faith-based and community organisations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4308652"/>
            <a:ext cx="5414619" cy="85404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0664" y="4454956"/>
            <a:ext cx="73152" cy="561441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" y="4400092"/>
            <a:ext cx="4911699" cy="67116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F38"/>
                </a:solidFill>
                <a:latin typeface="Calibri"/>
              </a:rPr>
              <a:t>Corporate organisations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28435" y="4308652"/>
            <a:ext cx="5414619" cy="85404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74739" y="4454956"/>
            <a:ext cx="73152" cy="561441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75907" y="4400092"/>
            <a:ext cx="4911699" cy="67116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F38"/>
                </a:solidFill>
                <a:latin typeface="Calibri"/>
              </a:rPr>
              <a:t>Media partners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5272430"/>
            <a:ext cx="5414619" cy="85404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0664" y="5418734"/>
            <a:ext cx="73152" cy="561441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832" y="5363870"/>
            <a:ext cx="4911699" cy="67116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F38"/>
                </a:solidFill>
                <a:latin typeface="Calibri"/>
              </a:rPr>
              <a:t>National and international development partners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28435" y="5272430"/>
            <a:ext cx="5414619" cy="85404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74739" y="5418734"/>
            <a:ext cx="73152" cy="561441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75907" y="5363870"/>
            <a:ext cx="4911699" cy="67116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F38"/>
                </a:solidFill>
                <a:latin typeface="Calibri"/>
              </a:rPr>
              <a:t>Philanthropic foundations and research institutions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" y="6473952"/>
            <a:ext cx="1104869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6547104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54335" y="6547104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13  /  17</a:t>
            </a:r>
          </a:p>
        </p:txBody>
      </p:sp>
    </p:spTree>
  </p:cSld>
  <p:transition spd="med">
    <p:fade/>
  </p:transition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4457" y="182880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609" y="256032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01168"/>
            <a:ext cx="9711769" cy="237744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8912"/>
            <a:ext cx="9711769" cy="45720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Expected outcomes of the partnership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097280"/>
            <a:ext cx="3536594" cy="15788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298448"/>
            <a:ext cx="3024530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5C26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1645919"/>
            <a:ext cx="3024530" cy="847343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Improve access to quality primary healthcare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0410" y="1097280"/>
            <a:ext cx="3536594" cy="15788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6442" y="1298448"/>
            <a:ext cx="3024530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5C26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6442" y="1645919"/>
            <a:ext cx="3024530" cy="847343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Strengthen preventive healthcare programmes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6460" y="1097280"/>
            <a:ext cx="3536594" cy="15788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2492" y="1298448"/>
            <a:ext cx="3024530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5C26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2492" y="1645919"/>
            <a:ext cx="3024530" cy="847343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Expand experiential learning opportunities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2822448"/>
            <a:ext cx="3536594" cy="15788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3023616"/>
            <a:ext cx="3024530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5C26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" y="3371088"/>
            <a:ext cx="3024530" cy="847343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Increase community-based research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50410" y="2822448"/>
            <a:ext cx="3536594" cy="15788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06442" y="3023616"/>
            <a:ext cx="3024530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5C26"/>
                </a:solidFill>
                <a:latin typeface="Calibr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6442" y="3371088"/>
            <a:ext cx="3024530" cy="847343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Promote healthcare innovation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6460" y="2822448"/>
            <a:ext cx="3536594" cy="15788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2492" y="3023616"/>
            <a:ext cx="3024530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5C26"/>
                </a:solidFill>
                <a:latin typeface="Calibri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2492" y="3371088"/>
            <a:ext cx="3024530" cy="847343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Strengthen graduate employability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4547615"/>
            <a:ext cx="3536594" cy="15788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" y="4748783"/>
            <a:ext cx="3024530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5C26"/>
                </a:solidFill>
                <a:latin typeface="Calibri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" y="5096255"/>
            <a:ext cx="3024530" cy="847343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Enhance institutional visibility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0410" y="4547615"/>
            <a:ext cx="3536594" cy="15788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06442" y="4748783"/>
            <a:ext cx="3024530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5C26"/>
                </a:solidFill>
                <a:latin typeface="Calibri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06442" y="5096255"/>
            <a:ext cx="3024530" cy="847343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Mobilise sustainable development partnerships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06460" y="4547615"/>
            <a:ext cx="3536594" cy="15788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62492" y="4748783"/>
            <a:ext cx="3024530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5C26"/>
                </a:solidFill>
                <a:latin typeface="Calibri"/>
              </a:rPr>
              <a:t>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2492" y="5096255"/>
            <a:ext cx="3024530" cy="847343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Improve health outcomes in surrounding communities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" y="6473952"/>
            <a:ext cx="1104869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6547104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547104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14  /  17</a:t>
            </a:r>
          </a:p>
        </p:txBody>
      </p:sp>
    </p:spTree>
  </p:cSld>
  <p:transition spd="med">
    <p:fade/>
  </p:transition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4457" y="182880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609" y="256032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01168"/>
            <a:ext cx="9711769" cy="237744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IMPLEMENTATION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8912"/>
            <a:ext cx="9711769" cy="45720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Proposed roadmap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097280"/>
            <a:ext cx="2611297" cy="5029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097280"/>
            <a:ext cx="2611297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261872"/>
            <a:ext cx="2282113" cy="2743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Phase 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1572768"/>
            <a:ext cx="2282113" cy="34747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Foundation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2286000"/>
            <a:ext cx="2318689" cy="3657600"/>
          </a:xfrm>
          <a:prstGeom prst="rect">
            <a:avLst/>
          </a:prstGeom>
          <a:noFill/>
        </p:spPr>
        <p:txBody>
          <a:bodyPr wrap="square" lIns="18000" rIns="18000" tIns="4000" bIns="400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Introductory planning meeting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Joint Technical Working Group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06825" y="1097280"/>
            <a:ext cx="2611297" cy="5029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06825" y="1097280"/>
            <a:ext cx="2611297" cy="96012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1417" y="1261872"/>
            <a:ext cx="2282113" cy="2743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Phase II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1417" y="1572768"/>
            <a:ext cx="2282113" cy="34747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Formalisation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3129" y="2286000"/>
            <a:ext cx="2318689" cy="3657600"/>
          </a:xfrm>
          <a:prstGeom prst="rect">
            <a:avLst/>
          </a:prstGeom>
          <a:noFill/>
        </p:spPr>
        <p:txBody>
          <a:bodyPr wrap="square" lIns="18000" rIns="18000" tIns="4000" bIns="400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Sign Memorandum of Understanding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Identify priority pilot projects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9291" y="1097280"/>
            <a:ext cx="2611297" cy="5029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9291" y="1097280"/>
            <a:ext cx="2611297" cy="960120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3883" y="1261872"/>
            <a:ext cx="2282113" cy="2743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Phase III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3883" y="1572768"/>
            <a:ext cx="2282113" cy="34747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Delivery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5595" y="2286000"/>
            <a:ext cx="2318689" cy="3657600"/>
          </a:xfrm>
          <a:prstGeom prst="rect">
            <a:avLst/>
          </a:prstGeom>
          <a:noFill/>
        </p:spPr>
        <p:txBody>
          <a:bodyPr wrap="square" lIns="18000" rIns="18000" tIns="4000" bIns="400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Student placements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Joint research and outreach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Innovation and grant development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31757" y="1097280"/>
            <a:ext cx="2611297" cy="5029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31757" y="1097280"/>
            <a:ext cx="2611297" cy="96012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96349" y="1261872"/>
            <a:ext cx="2282113" cy="2743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Phase IV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6349" y="1572768"/>
            <a:ext cx="2282113" cy="34747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Learning and scale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78061" y="2286000"/>
            <a:ext cx="2318689" cy="3657600"/>
          </a:xfrm>
          <a:prstGeom prst="rect">
            <a:avLst/>
          </a:prstGeom>
          <a:noFill/>
        </p:spPr>
        <p:txBody>
          <a:bodyPr wrap="square" lIns="18000" rIns="18000" tIns="4000" bIns="400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Monitoring and evaluation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Document lessons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Expand and replicate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6473952"/>
            <a:ext cx="1104869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6547104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547104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15  /  17</a:t>
            </a:r>
          </a:p>
        </p:txBody>
      </p:sp>
    </p:spTree>
  </p:cSld>
  <p:transition spd="med">
    <p:fade/>
  </p:transition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4457" y="182880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609" y="256032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01168"/>
            <a:ext cx="9711769" cy="237744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LOOKING AHEAD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8912"/>
            <a:ext cx="9711769" cy="45720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Long-term vision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097280"/>
            <a:ext cx="6408243" cy="2011680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417319"/>
            <a:ext cx="5713299" cy="137160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Establish FCHIP as Uganda's leading University–Community Health Partnership Model — showing how academia, healthcare providers, government, development partners, and communities can work together to improve lives.</a:t>
            </a:r>
          </a:p>
        </p:txBody>
      </p:sp>
      <p:pic>
        <p:nvPicPr>
          <p:cNvPr id="11" name="Picture 10" descr="reception_mission_wall.jpeg"/>
          <p:cNvPicPr>
            <a:picLocks noChangeAspect="1"/>
          </p:cNvPicPr>
          <p:nvPr/>
        </p:nvPicPr>
        <p:blipFill>
          <a:blip r:embed="rId3"/>
          <a:srcRect t="15802" b="15802"/>
          <a:stretch>
            <a:fillRect/>
          </a:stretch>
        </p:blipFill>
        <p:spPr>
          <a:xfrm>
            <a:off x="7231203" y="1097280"/>
            <a:ext cx="4411851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94360" y="3337560"/>
            <a:ext cx="5410047" cy="2788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93592"/>
            <a:ext cx="4907127" cy="3200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45C26"/>
                </a:solidFill>
                <a:latin typeface="Calibri"/>
              </a:rPr>
              <a:t>For FairBanks Medical Centre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023360"/>
            <a:ext cx="4907127" cy="1874519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A living laboratory for education, research, innovation, and community service.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3337560"/>
            <a:ext cx="5410047" cy="2788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7327" y="3593592"/>
            <a:ext cx="4907127" cy="3200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45C26"/>
                </a:solidFill>
                <a:latin typeface="Calibri"/>
              </a:rPr>
              <a:t>For Victoria University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7327" y="4023360"/>
            <a:ext cx="4907127" cy="1874519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Stronger leadership in experiential learning, applied research, and social impact — with lessons that can be replicated across Uganda.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6473952"/>
            <a:ext cx="1104869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6547104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54335" y="6547104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16  /  17</a:t>
            </a:r>
          </a:p>
        </p:txBody>
      </p:sp>
    </p:spTree>
  </p:cSld>
  <p:transition spd="med">
    <p:fade/>
  </p:transition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cility_exterior_branded_entrance_02.jpeg"/>
          <p:cNvPicPr>
            <a:picLocks noChangeAspect="1"/>
          </p:cNvPicPr>
          <p:nvPr/>
        </p:nvPicPr>
        <p:blipFill>
          <a:blip r:embed="rId2"/>
          <a:srcRect t="12499" b="12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7178040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78040" y="0"/>
            <a:ext cx="109728" cy="6858000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9768" y="182880"/>
            <a:ext cx="1071749" cy="58521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airbanks_log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56032"/>
            <a:ext cx="1168983" cy="4389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960120"/>
            <a:ext cx="6400800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9A2B"/>
                </a:solidFill>
                <a:latin typeface="Calibri"/>
              </a:rPr>
              <a:t>INVITATION TO 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98448"/>
            <a:ext cx="6400800" cy="34747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6E6E"/>
                </a:solidFill>
                <a:latin typeface="Calibri"/>
              </a:rPr>
              <a:t>FairBanks Medical Centre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6400800" cy="43891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Together, we can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04288"/>
            <a:ext cx="6400800" cy="43891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healthier communities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779776"/>
            <a:ext cx="6400800" cy="43891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99A2B"/>
                </a:solidFill>
                <a:latin typeface="Calibri"/>
              </a:rPr>
              <a:t>and stronger professionals.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291840"/>
            <a:ext cx="2560320" cy="8229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566160"/>
            <a:ext cx="6400800" cy="64008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D4E8DC"/>
                </a:solidFill>
                <a:latin typeface="Calibri"/>
              </a:rPr>
              <a:t>FairBanks Medical Centre invites Victoria University to join as 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D4E8DC"/>
                </a:solidFill>
                <a:latin typeface="Calibri"/>
              </a:rPr>
              <a:t>partner in advancing FCHIP.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97680"/>
            <a:ext cx="6400800" cy="34747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D99A2B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846320"/>
            <a:ext cx="6309360" cy="1554480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029200"/>
            <a:ext cx="5852160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D99A2B"/>
                </a:solidFill>
                <a:latin typeface="Calibri"/>
              </a:rPr>
              <a:t>Institutional contact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94960"/>
            <a:ext cx="5852160" cy="86868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Kyebando–Kisalosalo, Tirupati Road, Kampala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info@fairbanksmedicalcentre.org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fairbanksmedicalcentre.org</a:t>
            </a:r>
          </a:p>
        </p:txBody>
      </p:sp>
    </p:spTree>
  </p:cSld>
  <p:transition spd="med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