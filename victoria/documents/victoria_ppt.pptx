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_hero_cinematic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720840" cy="6858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720840" y="0"/>
            <a:ext cx="109728" cy="68580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365760"/>
            <a:ext cx="13886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irbanks_log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02920"/>
            <a:ext cx="1022861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1097280"/>
            <a:ext cx="58521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>
                <a:solidFill>
                  <a:srgbClr val="D99A2B"/>
                </a:solidFill>
                <a:latin typeface="Calibri"/>
              </a:rPr>
              <a:t>STRATEGIC INSTITUTIONAL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17320"/>
            <a:ext cx="585216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0D6E6E"/>
                </a:solidFill>
                <a:latin typeface="Calibri"/>
              </a:rPr>
              <a:t>FairBanks Medical Centre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74519"/>
            <a:ext cx="5943600" cy="11887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University–Community Health
Partnership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46120"/>
            <a:ext cx="5852160" cy="6858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D4E8DC"/>
                </a:solidFill>
                <a:latin typeface="Calibri"/>
              </a:rPr>
              <a:t>Building the FairBanks Community Health Improvement
Programme (FCHIP) with Victoria University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160520"/>
            <a:ext cx="54864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D99A2B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617720"/>
            <a:ext cx="56692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A8C4B8"/>
                </a:solidFill>
                <a:latin typeface="Calibri"/>
              </a:rPr>
              <a:t>Health for All  ·  Kyebando–Kisalosalo, Kampala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126480"/>
            <a:ext cx="6720840" cy="73152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355080"/>
            <a:ext cx="585216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Prepared for Victoria University leadership  ·  Institutional briefing</a:t>
            </a:r>
          </a:p>
        </p:txBody>
      </p:sp>
    </p:spTree>
  </p:cSld>
  <p:transition spd="med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91440" cy="678484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5914" y="201168"/>
            <a:ext cx="1022861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201168"/>
            <a:ext cx="9842954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C45C26"/>
                </a:solidFill>
                <a:latin typeface="Calibri"/>
              </a:rPr>
              <a:t>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8912"/>
            <a:ext cx="9842954" cy="43891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>
                <a:solidFill>
                  <a:srgbClr val="0A1F2E"/>
                </a:solidFill>
                <a:latin typeface="Calibri"/>
              </a:rPr>
              <a:t>Agenda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185855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2636C"/>
                </a:solidFill>
                <a:latin typeface="Calibri"/>
              </a:rPr>
              <a:t>A clear path through the partnership proposal.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08760"/>
            <a:ext cx="545576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08760"/>
            <a:ext cx="91440" cy="9144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64792"/>
            <a:ext cx="64008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>
                <a:solidFill>
                  <a:srgbClr val="C45C26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783080"/>
            <a:ext cx="4221327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Executive summary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508760"/>
            <a:ext cx="545576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508760"/>
            <a:ext cx="9144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1764792"/>
            <a:ext cx="64008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>
                <a:solidFill>
                  <a:srgbClr val="C45C26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8847" y="1783080"/>
            <a:ext cx="4221327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About FairBanks Medical Centre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624328"/>
            <a:ext cx="545576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624328"/>
            <a:ext cx="91440" cy="9144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880360"/>
            <a:ext cx="64008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>
                <a:solidFill>
                  <a:srgbClr val="C45C26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2898648"/>
            <a:ext cx="4221327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The FCHIP programme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2624328"/>
            <a:ext cx="545576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2624328"/>
            <a:ext cx="9144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2880360"/>
            <a:ext cx="64008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>
                <a:solidFill>
                  <a:srgbClr val="C45C26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38847" y="2898648"/>
            <a:ext cx="4221327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Why Victoria University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739896"/>
            <a:ext cx="545576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3739896"/>
            <a:ext cx="91440" cy="9144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995928"/>
            <a:ext cx="64008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>
                <a:solidFill>
                  <a:srgbClr val="C45C26"/>
                </a:solidFill>
                <a:latin typeface="Calibr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014215"/>
            <a:ext cx="4221327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Five areas of collaboration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3739896"/>
            <a:ext cx="545576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33007" y="3739896"/>
            <a:ext cx="9144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7327" y="3995928"/>
            <a:ext cx="64008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>
                <a:solidFill>
                  <a:srgbClr val="C45C26"/>
                </a:solidFill>
                <a:latin typeface="Calibri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38847" y="4014215"/>
            <a:ext cx="4221327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Partnership network and outcomes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855464"/>
            <a:ext cx="545576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4855464"/>
            <a:ext cx="91440" cy="9144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111496"/>
            <a:ext cx="64008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>
                <a:solidFill>
                  <a:srgbClr val="C45C26"/>
                </a:solidFill>
                <a:latin typeface="Calibri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5129784"/>
            <a:ext cx="4221327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Roadmap and long-term vision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33007" y="4855464"/>
            <a:ext cx="545576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33007" y="4855464"/>
            <a:ext cx="9144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07327" y="5111496"/>
            <a:ext cx="64008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>
                <a:solidFill>
                  <a:srgbClr val="C45C26"/>
                </a:solidFill>
                <a:latin typeface="Calibri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8847" y="5129784"/>
            <a:ext cx="4221327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Invitation to partner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635508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6428232"/>
            <a:ext cx="868680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08615" y="6428232"/>
            <a:ext cx="128016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2  /  17</a:t>
            </a:r>
          </a:p>
        </p:txBody>
      </p:sp>
    </p:spTree>
  </p:cSld>
  <p:transition spd="med">
    <p:fade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91440" cy="678484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5914" y="201168"/>
            <a:ext cx="1022861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201168"/>
            <a:ext cx="9842954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C45C26"/>
                </a:solidFill>
                <a:latin typeface="Calibri"/>
              </a:rPr>
              <a:t>EXECUTIVE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8912"/>
            <a:ext cx="9842954" cy="43891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>
                <a:solidFill>
                  <a:srgbClr val="0A1F2E"/>
                </a:solidFill>
                <a:latin typeface="Calibri"/>
              </a:rPr>
              <a:t>A strategic partnership for health, learning, and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97280"/>
            <a:ext cx="11185855" cy="6858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500" b="0">
                <a:solidFill>
                  <a:srgbClr val="1E2F38"/>
                </a:solidFill>
                <a:latin typeface="Calibri"/>
              </a:rPr>
              <a:t>FairBanks Medical Centre proposes a strategic partnership with Victoria University to integrate healthcare service delivery, academic excellence, research, innovation, and community engagement.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118585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91440" cy="11430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84832"/>
            <a:ext cx="10682935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FCHIP at the centre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95728"/>
            <a:ext cx="1068293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2636C"/>
                </a:solidFill>
                <a:latin typeface="Calibri"/>
              </a:rPr>
              <a:t>The FairBanks Community Health Improvement Programme is the flagship platform for preventive care, outreach, research, skills development, and partnerships.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27832"/>
            <a:ext cx="1118585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27832"/>
            <a:ext cx="91440" cy="1143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392424"/>
            <a:ext cx="10682935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Shared strengths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703320"/>
            <a:ext cx="1068293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2636C"/>
                </a:solidFill>
                <a:latin typeface="Calibri"/>
              </a:rPr>
              <a:t>Victoria University brings education, innovation, and research. FairBanks brings a practical healthcare platform and community presence.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535424"/>
            <a:ext cx="1118585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535424"/>
            <a:ext cx="91440" cy="1143000"/>
          </a:xfrm>
          <a:prstGeom prst="rect">
            <a:avLst/>
          </a:prstGeom>
          <a:solidFill>
            <a:srgbClr val="2D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700016"/>
            <a:ext cx="10682935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Shared goal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10912"/>
            <a:ext cx="1068293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2636C"/>
                </a:solidFill>
                <a:latin typeface="Calibri"/>
              </a:rPr>
              <a:t>Build a replicable University–Community Health Partnership Model that advances healthcare, education, innovation, and sustainable development in Uganda.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35508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428232"/>
            <a:ext cx="868680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8615" y="6428232"/>
            <a:ext cx="128016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3  /  17</a:t>
            </a:r>
          </a:p>
        </p:txBody>
      </p:sp>
    </p:spTree>
  </p:cSld>
  <p:transition spd="med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91440" cy="678484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5914" y="201168"/>
            <a:ext cx="1022861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201168"/>
            <a:ext cx="9842954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C45C26"/>
                </a:solidFill>
                <a:latin typeface="Calibri"/>
              </a:rPr>
              <a:t>WHO WE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8912"/>
            <a:ext cx="9842954" cy="43891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>
                <a:solidFill>
                  <a:srgbClr val="0A1F2E"/>
                </a:solidFill>
                <a:latin typeface="Calibri"/>
              </a:rPr>
              <a:t>About FairBanks Medical Centre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97280"/>
            <a:ext cx="6263640" cy="4983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298448"/>
            <a:ext cx="580644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0A1F2E"/>
                </a:solidFill>
                <a:latin typeface="Calibri"/>
              </a:rPr>
              <a:t>Community-based primary healthcare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627631"/>
            <a:ext cx="580644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011680"/>
            <a:ext cx="5806440" cy="3840480"/>
          </a:xfrm>
          <a:prstGeom prst="rect">
            <a:avLst/>
          </a:prstGeom>
          <a:noFill/>
        </p:spPr>
        <p:txBody>
          <a:bodyPr wrap="square" lIns="36000" rIns="36000" tIns="12000" bIns="1200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Located in Kyebando–Kisalosalo, Kampala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Accessible, affordable, quality healthcare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Strong focus on preventive health and community well-being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Committed to social determinants of health through partnerships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Active in innovation, research, and community engagement</a:t>
            </a:r>
          </a:p>
        </p:txBody>
      </p:sp>
      <p:pic>
        <p:nvPicPr>
          <p:cNvPr id="12" name="Picture 11" descr="facility_exterior_branded_entrance_01.jpeg"/>
          <p:cNvPicPr>
            <a:picLocks noChangeAspect="1"/>
          </p:cNvPicPr>
          <p:nvPr/>
        </p:nvPicPr>
        <p:blipFill>
          <a:blip r:embed="rId3"/>
          <a:srcRect t="5856" b="5856"/>
          <a:stretch>
            <a:fillRect/>
          </a:stretch>
        </p:blipFill>
        <p:spPr>
          <a:xfrm>
            <a:off x="7022592" y="1097280"/>
            <a:ext cx="4666183" cy="308975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22592" y="4187037"/>
            <a:ext cx="4666183" cy="189372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59" y="4415637"/>
            <a:ext cx="4263847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D99A2B"/>
                </a:solidFill>
                <a:latin typeface="Calibri"/>
              </a:rPr>
              <a:t>FairBanks Medical Centre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59" y="4781397"/>
            <a:ext cx="4263847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 trusted community health home—care close to where families live.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35508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28232"/>
            <a:ext cx="868680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8615" y="6428232"/>
            <a:ext cx="128016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4  /  17</a:t>
            </a:r>
          </a:p>
        </p:txBody>
      </p:sp>
    </p:spTree>
  </p:cSld>
  <p:transition spd="med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91440" cy="678484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5914" y="201168"/>
            <a:ext cx="1022861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201168"/>
            <a:ext cx="9842954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C45C26"/>
                </a:solidFill>
                <a:latin typeface="Calibri"/>
              </a:rPr>
              <a:t>FLAGSHIP PROGRAMME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8912"/>
            <a:ext cx="9842954" cy="43891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>
                <a:solidFill>
                  <a:srgbClr val="0A1F2E"/>
                </a:solidFill>
                <a:latin typeface="Calibri"/>
              </a:rPr>
              <a:t>FairBanks Community Health Improvement Programme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185855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2636C"/>
                </a:solidFill>
                <a:latin typeface="Calibri"/>
              </a:rPr>
              <a:t>FCHIP — implemented through the FairBanks Social Enterprise.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11185855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52636C"/>
                </a:solidFill>
                <a:latin typeface="Calibri"/>
              </a:rPr>
              <a:t>FCHIP strengthens family and community primary healthcare by bringing together healthcare providers, universities, government, development partners, corporates, and local communities.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48840"/>
            <a:ext cx="2105497" cy="1911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148840"/>
            <a:ext cx="2105497" cy="9144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2468880"/>
            <a:ext cx="1886041" cy="140817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0A1F2E"/>
                </a:solidFill>
                <a:latin typeface="Calibri"/>
              </a:rPr>
              <a:t>Preventive healthcare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3009" y="2148840"/>
            <a:ext cx="2105497" cy="1911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73009" y="2148840"/>
            <a:ext cx="2105497" cy="9144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2737" y="2468880"/>
            <a:ext cx="1886041" cy="140817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0A1F2E"/>
                </a:solidFill>
                <a:latin typeface="Calibri"/>
              </a:rPr>
              <a:t>Community outreach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43098" y="2148840"/>
            <a:ext cx="2105497" cy="1911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43098" y="2148840"/>
            <a:ext cx="2105497" cy="91440"/>
          </a:xfrm>
          <a:prstGeom prst="rect">
            <a:avLst/>
          </a:prstGeom>
          <a:solidFill>
            <a:srgbClr val="2D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52826" y="2468880"/>
            <a:ext cx="1886041" cy="140817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0A1F2E"/>
                </a:solidFill>
                <a:latin typeface="Calibri"/>
              </a:rPr>
              <a:t>Health education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3188" y="2148840"/>
            <a:ext cx="2105497" cy="1911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3188" y="2148840"/>
            <a:ext cx="2105497" cy="9144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22916" y="2468880"/>
            <a:ext cx="1886041" cy="140817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0A1F2E"/>
                </a:solidFill>
                <a:latin typeface="Calibri"/>
              </a:rPr>
              <a:t>Early disease detection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83277" y="2148840"/>
            <a:ext cx="2105497" cy="1911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583277" y="2148840"/>
            <a:ext cx="2105497" cy="9144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3005" y="2468880"/>
            <a:ext cx="1886041" cy="140817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0A1F2E"/>
                </a:solidFill>
                <a:latin typeface="Calibri"/>
              </a:rPr>
              <a:t>Maternal and child health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261104"/>
            <a:ext cx="2105497" cy="1911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261104"/>
            <a:ext cx="2105497" cy="9144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4581144"/>
            <a:ext cx="1886041" cy="140817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0A1F2E"/>
                </a:solidFill>
                <a:latin typeface="Calibri"/>
              </a:rPr>
              <a:t>NCD prevention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73009" y="4261104"/>
            <a:ext cx="2105497" cy="1911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3009" y="4261104"/>
            <a:ext cx="2105497" cy="9144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82737" y="4581144"/>
            <a:ext cx="1886041" cy="140817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0A1F2E"/>
                </a:solidFill>
                <a:latin typeface="Calibri"/>
              </a:rPr>
              <a:t>Elderly care &amp; healthy ageing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43098" y="4261104"/>
            <a:ext cx="2105497" cy="1911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43098" y="4261104"/>
            <a:ext cx="2105497" cy="91440"/>
          </a:xfrm>
          <a:prstGeom prst="rect">
            <a:avLst/>
          </a:prstGeom>
          <a:solidFill>
            <a:srgbClr val="2D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52826" y="4581144"/>
            <a:ext cx="1886041" cy="140817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0A1F2E"/>
                </a:solidFill>
                <a:latin typeface="Calibri"/>
              </a:rPr>
              <a:t>Community-based research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3188" y="4261104"/>
            <a:ext cx="2105497" cy="1911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13188" y="4261104"/>
            <a:ext cx="2105497" cy="9144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22916" y="4581144"/>
            <a:ext cx="1886041" cy="140817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0A1F2E"/>
                </a:solidFill>
                <a:latin typeface="Calibri"/>
              </a:rPr>
              <a:t>Digital health innovation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83277" y="4261104"/>
            <a:ext cx="2105497" cy="1911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83277" y="4261104"/>
            <a:ext cx="2105497" cy="9144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93005" y="4581144"/>
            <a:ext cx="1886041" cy="140817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0A1F2E"/>
                </a:solidFill>
                <a:latin typeface="Calibri"/>
              </a:rPr>
              <a:t>Skills &amp; student learning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635508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428232"/>
            <a:ext cx="868680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8615" y="6428232"/>
            <a:ext cx="128016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5  /  17</a:t>
            </a:r>
          </a:p>
        </p:txBody>
      </p:sp>
    </p:spTree>
  </p:cSld>
  <p:transition spd="med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91440" cy="678484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5914" y="201168"/>
            <a:ext cx="1022861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201168"/>
            <a:ext cx="9842954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C45C26"/>
                </a:solidFill>
                <a:latin typeface="Calibri"/>
              </a:rPr>
              <a:t>STRATEGIC 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8912"/>
            <a:ext cx="9842954" cy="43891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>
                <a:solidFill>
                  <a:srgbClr val="0A1F2E"/>
                </a:solidFill>
                <a:latin typeface="Calibri"/>
              </a:rPr>
              <a:t>Why Victoria University?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97280"/>
            <a:ext cx="11185855" cy="5943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1E2F38"/>
                </a:solidFill>
                <a:latin typeface="Calibri"/>
              </a:rPr>
              <a:t>Victoria University is committed to practical learning, innovation, entrepreneurship, and community transformation—values that closely align with FairBanks Medical Centre.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74519"/>
            <a:ext cx="3576218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74519"/>
            <a:ext cx="91440" cy="429768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075688"/>
            <a:ext cx="3164738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A1F2E"/>
                </a:solidFill>
                <a:latin typeface="Calibri"/>
              </a:rPr>
              <a:t>What the University contributes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514600"/>
            <a:ext cx="3210458" cy="3474720"/>
          </a:xfrm>
          <a:prstGeom prst="rect">
            <a:avLst/>
          </a:prstGeom>
          <a:noFill/>
        </p:spPr>
        <p:txBody>
          <a:bodyPr wrap="square" lIns="36000" rIns="36000" tIns="12000" bIns="120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Academic expertise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Research capacity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Student engagement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Innovation culture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07738" y="1874519"/>
            <a:ext cx="3576218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07738" y="1874519"/>
            <a:ext cx="91440" cy="4297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3770" y="2075688"/>
            <a:ext cx="3164738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A1F2E"/>
                </a:solidFill>
                <a:latin typeface="Calibri"/>
              </a:rPr>
              <a:t>What the University gains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8906" y="2514600"/>
            <a:ext cx="3210458" cy="3474720"/>
          </a:xfrm>
          <a:prstGeom prst="rect">
            <a:avLst/>
          </a:prstGeom>
          <a:noFill/>
        </p:spPr>
        <p:txBody>
          <a:bodyPr wrap="square" lIns="36000" rIns="36000" tIns="12000" bIns="120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Real-world experiential learning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Applied research environment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Community impact pathways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Visible institutional leadership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2556" y="1874519"/>
            <a:ext cx="3576218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2556" y="1874519"/>
            <a:ext cx="91440" cy="4297680"/>
          </a:xfrm>
          <a:prstGeom prst="rect">
            <a:avLst/>
          </a:prstGeom>
          <a:solidFill>
            <a:srgbClr val="2D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8588" y="2075688"/>
            <a:ext cx="3164738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A1F2E"/>
                </a:solidFill>
                <a:latin typeface="Calibri"/>
              </a:rPr>
              <a:t>Proposed 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3724" y="2514600"/>
            <a:ext cx="3210458" cy="3474720"/>
          </a:xfrm>
          <a:prstGeom prst="rect">
            <a:avLst/>
          </a:prstGeom>
          <a:noFill/>
        </p:spPr>
        <p:txBody>
          <a:bodyPr wrap="square" lIns="36000" rIns="36000" tIns="12000" bIns="120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Founding academic partner for FCHIP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Co-shaper of a national partnership model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Bridge between campus and community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Partner in grants and innovation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35508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428232"/>
            <a:ext cx="868680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8615" y="6428232"/>
            <a:ext cx="128016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6  /  17</a:t>
            </a:r>
          </a:p>
        </p:txBody>
      </p:sp>
    </p:spTree>
  </p:cSld>
  <p:transition spd="med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91440" cy="678484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5914" y="201168"/>
            <a:ext cx="1022861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201168"/>
            <a:ext cx="9842954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C45C26"/>
                </a:solidFill>
                <a:latin typeface="Calibri"/>
              </a:rPr>
              <a:t>HOW WE WORK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8912"/>
            <a:ext cx="9842954" cy="43891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>
                <a:solidFill>
                  <a:srgbClr val="0A1F2E"/>
                </a:solidFill>
                <a:latin typeface="Calibri"/>
              </a:rPr>
              <a:t>Five strategic areas of collaboration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70432"/>
            <a:ext cx="11185855" cy="8796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170432"/>
            <a:ext cx="777240" cy="8796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27378"/>
            <a:ext cx="7772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280160"/>
            <a:ext cx="9951415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Student Experiential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591056"/>
            <a:ext cx="9951415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2636C"/>
                </a:solidFill>
                <a:latin typeface="Calibri"/>
              </a:rPr>
              <a:t>Structured placements across health and related fields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196388"/>
            <a:ext cx="11185855" cy="8796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196388"/>
            <a:ext cx="777240" cy="879652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453335"/>
            <a:ext cx="7772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306116"/>
            <a:ext cx="9951415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Research and Innovation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2617012"/>
            <a:ext cx="9951415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2636C"/>
                </a:solidFill>
                <a:latin typeface="Calibri"/>
              </a:rPr>
              <a:t>Joint studies, publications, and evidence for policy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222345"/>
            <a:ext cx="11185855" cy="8796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222345"/>
            <a:ext cx="777240" cy="879652"/>
          </a:xfrm>
          <a:prstGeom prst="rect">
            <a:avLst/>
          </a:prstGeom>
          <a:solidFill>
            <a:srgbClr val="2D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479292"/>
            <a:ext cx="7772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3332073"/>
            <a:ext cx="9951415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Community Engagement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3642969"/>
            <a:ext cx="9951415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2636C"/>
                </a:solidFill>
                <a:latin typeface="Calibri"/>
              </a:rPr>
              <a:t>Camps, schools, screening, and volunteer programmes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48302"/>
            <a:ext cx="11185855" cy="8796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248302"/>
            <a:ext cx="777240" cy="879652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505248"/>
            <a:ext cx="7772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4358030"/>
            <a:ext cx="9951415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Digital Health &amp; Innovation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4668926"/>
            <a:ext cx="9951415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2636C"/>
                </a:solidFill>
                <a:latin typeface="Calibri"/>
              </a:rPr>
              <a:t>AI, EMRs, telemedicine, and predictive analytics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74259"/>
            <a:ext cx="11185855" cy="8796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5274259"/>
            <a:ext cx="777240" cy="8796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531205"/>
            <a:ext cx="7772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5383987"/>
            <a:ext cx="9951415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Resource Mobilisation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694883"/>
            <a:ext cx="9951415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2636C"/>
                </a:solidFill>
                <a:latin typeface="Calibri"/>
              </a:rPr>
              <a:t>Shared pursuit of grants and development partnerships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35508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428232"/>
            <a:ext cx="868680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08615" y="6428232"/>
            <a:ext cx="128016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7  /  17</a:t>
            </a:r>
          </a:p>
        </p:txBody>
      </p:sp>
    </p:spTree>
  </p:cSld>
  <p:transition spd="med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91440" cy="678484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5914" y="201168"/>
            <a:ext cx="1022861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201168"/>
            <a:ext cx="9842954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C45C26"/>
                </a:solidFill>
                <a:latin typeface="Calibri"/>
              </a:rPr>
              <a:t>COLLABORATION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8912"/>
            <a:ext cx="9842954" cy="43891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>
                <a:solidFill>
                  <a:srgbClr val="0A1F2E"/>
                </a:solidFill>
                <a:latin typeface="Calibri"/>
              </a:rPr>
              <a:t>Student experiential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185855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2636C"/>
                </a:solidFill>
                <a:latin typeface="Calibri"/>
              </a:rPr>
              <a:t>Students gain practical experience while contributing to community healthcare.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2645587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05673" y="1828800"/>
            <a:ext cx="640080" cy="6400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2371267" cy="1417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>
                <a:solidFill>
                  <a:srgbClr val="0A1F2E"/>
                </a:solidFill>
                <a:latin typeface="Calibri"/>
              </a:rPr>
              <a:t>Nursing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49675" y="1463040"/>
            <a:ext cx="2645587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429" y="1828800"/>
            <a:ext cx="640080" cy="6400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6835" y="2057400"/>
            <a:ext cx="2371267" cy="1417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>
                <a:solidFill>
                  <a:srgbClr val="0A1F2E"/>
                </a:solidFill>
                <a:latin typeface="Calibri"/>
              </a:rPr>
              <a:t>Public Health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6431" y="1463040"/>
            <a:ext cx="2645587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99185" y="1828800"/>
            <a:ext cx="640080" cy="6400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3591" y="2057400"/>
            <a:ext cx="2371267" cy="1417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>
                <a:solidFill>
                  <a:srgbClr val="0A1F2E"/>
                </a:solidFill>
                <a:latin typeface="Calibri"/>
              </a:rPr>
              <a:t>Human Resource Management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43187" y="1463040"/>
            <a:ext cx="2645587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45941" y="1828800"/>
            <a:ext cx="640080" cy="6400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0347" y="2057400"/>
            <a:ext cx="2371267" cy="1417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>
                <a:solidFill>
                  <a:srgbClr val="0A1F2E"/>
                </a:solidFill>
                <a:latin typeface="Calibri"/>
              </a:rPr>
              <a:t>Business Administration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31920"/>
            <a:ext cx="2645587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05673" y="4297680"/>
            <a:ext cx="640080" cy="6400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526280"/>
            <a:ext cx="2371267" cy="1417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>
                <a:solidFill>
                  <a:srgbClr val="0A1F2E"/>
                </a:solidFill>
                <a:latin typeface="Calibri"/>
              </a:rPr>
              <a:t>Information Technology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49675" y="3931920"/>
            <a:ext cx="2645587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52429" y="4297680"/>
            <a:ext cx="640080" cy="6400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86835" y="4526280"/>
            <a:ext cx="2371267" cy="1417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>
                <a:solidFill>
                  <a:srgbClr val="0A1F2E"/>
                </a:solidFill>
                <a:latin typeface="Calibri"/>
              </a:rPr>
              <a:t>Social Work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6431" y="3931920"/>
            <a:ext cx="2645587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99185" y="4297680"/>
            <a:ext cx="640080" cy="6400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33591" y="4526280"/>
            <a:ext cx="2371267" cy="1417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>
                <a:solidFill>
                  <a:srgbClr val="0A1F2E"/>
                </a:solidFill>
                <a:latin typeface="Calibri"/>
              </a:rPr>
              <a:t>Community Development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43187" y="3931920"/>
            <a:ext cx="2645587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045941" y="4297680"/>
            <a:ext cx="640080" cy="6400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80347" y="4526280"/>
            <a:ext cx="2371267" cy="1417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400" b="1">
                <a:solidFill>
                  <a:srgbClr val="0A1F2E"/>
                </a:solidFill>
                <a:latin typeface="Calibri"/>
              </a:rPr>
              <a:t>Marketing and Communications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35508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428232"/>
            <a:ext cx="868680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08615" y="6428232"/>
            <a:ext cx="128016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8  /  17</a:t>
            </a:r>
          </a:p>
        </p:txBody>
      </p:sp>
    </p:spTree>
  </p:cSld>
  <p:transition spd="med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91440" cy="678484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5914" y="201168"/>
            <a:ext cx="1022861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201168"/>
            <a:ext cx="9842954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C45C26"/>
                </a:solidFill>
                <a:latin typeface="Calibri"/>
              </a:rPr>
              <a:t>COLLABORATION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8912"/>
            <a:ext cx="9842954" cy="43891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>
                <a:solidFill>
                  <a:srgbClr val="0A1F2E"/>
                </a:solidFill>
                <a:latin typeface="Calibri"/>
              </a:rPr>
              <a:t>Research and innovation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185855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2636C"/>
                </a:solidFill>
                <a:latin typeface="Calibri"/>
              </a:rPr>
              <a:t>Joint programmes, publications, conferences, and evidence-based policy development.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594506" cy="1447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91440" cy="14478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91640"/>
            <a:ext cx="3137306" cy="9905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Community Health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8594" y="1463040"/>
            <a:ext cx="3594506" cy="1447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8594" y="1463040"/>
            <a:ext cx="91440" cy="14478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914" y="1691640"/>
            <a:ext cx="3137306" cy="9905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Health Systems Strengthening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4268" y="1463040"/>
            <a:ext cx="3594506" cy="1447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4268" y="1463040"/>
            <a:ext cx="91440" cy="14478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8588" y="1691640"/>
            <a:ext cx="3137306" cy="9905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Artificial Intelligence in Healthcare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093720"/>
            <a:ext cx="3594506" cy="1447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093720"/>
            <a:ext cx="91440" cy="14478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322320"/>
            <a:ext cx="3137306" cy="9905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Digital Health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8594" y="3093720"/>
            <a:ext cx="3594506" cy="1447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98594" y="3093720"/>
            <a:ext cx="91440" cy="14478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914" y="3322320"/>
            <a:ext cx="3137306" cy="9905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Occupational Burnout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4268" y="3093720"/>
            <a:ext cx="3594506" cy="1447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94268" y="3093720"/>
            <a:ext cx="91440" cy="14478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8588" y="3322320"/>
            <a:ext cx="3137306" cy="9905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Maternal and Child Health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724399"/>
            <a:ext cx="3594506" cy="1447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724399"/>
            <a:ext cx="91440" cy="1447800"/>
          </a:xfrm>
          <a:prstGeom prst="rect">
            <a:avLst/>
          </a:prstGeom>
          <a:solidFill>
            <a:srgbClr val="2D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952999"/>
            <a:ext cx="3137306" cy="9905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Non-Communicable Diseases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8594" y="4724399"/>
            <a:ext cx="3594506" cy="1447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98594" y="4724399"/>
            <a:ext cx="91440" cy="1447800"/>
          </a:xfrm>
          <a:prstGeom prst="rect">
            <a:avLst/>
          </a:prstGeom>
          <a:solidFill>
            <a:srgbClr val="2D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914" y="4952999"/>
            <a:ext cx="3137306" cy="9905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Preventive Healthcare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94268" y="4724399"/>
            <a:ext cx="3594506" cy="1447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94268" y="4724399"/>
            <a:ext cx="91440" cy="1447800"/>
          </a:xfrm>
          <a:prstGeom prst="rect">
            <a:avLst/>
          </a:prstGeom>
          <a:solidFill>
            <a:srgbClr val="2D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68588" y="4952999"/>
            <a:ext cx="3137306" cy="9905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Healthcare Quality Improvement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635508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6428232"/>
            <a:ext cx="868680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8615" y="6428232"/>
            <a:ext cx="128016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9  /  17</a:t>
            </a:r>
          </a:p>
        </p:txBody>
      </p:sp>
    </p:spTree>
  </p:cSld>
  <p:transition spd="med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91440" cy="678484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5914" y="201168"/>
            <a:ext cx="1022861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201168"/>
            <a:ext cx="9842954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C45C26"/>
                </a:solidFill>
                <a:latin typeface="Calibri"/>
              </a:rPr>
              <a:t>COLLABORATION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8912"/>
            <a:ext cx="9842954" cy="43891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>
                <a:solidFill>
                  <a:srgbClr val="0A1F2E"/>
                </a:solidFill>
                <a:latin typeface="Calibri"/>
              </a:rPr>
              <a:t>Community engagement through FCHIP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185855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2636C"/>
                </a:solidFill>
                <a:latin typeface="Calibri"/>
              </a:rPr>
              <a:t>Measurable social impact with meaningful practical learning.</a:t>
            </a:r>
          </a:p>
        </p:txBody>
      </p:sp>
      <p:pic>
        <p:nvPicPr>
          <p:cNvPr id="9" name="Picture 8" descr="outreach_bp_screening.jpeg"/>
          <p:cNvPicPr>
            <a:picLocks noChangeAspect="1"/>
          </p:cNvPicPr>
          <p:nvPr/>
        </p:nvPicPr>
        <p:blipFill>
          <a:blip r:embed="rId3"/>
          <a:srcRect t="14941" b="14941"/>
          <a:stretch>
            <a:fillRect/>
          </a:stretch>
        </p:blipFill>
        <p:spPr>
          <a:xfrm>
            <a:off x="502920" y="1371600"/>
            <a:ext cx="3618890" cy="1691640"/>
          </a:xfrm>
          <a:prstGeom prst="rect">
            <a:avLst/>
          </a:prstGeom>
        </p:spPr>
      </p:pic>
      <p:pic>
        <p:nvPicPr>
          <p:cNvPr id="10" name="Picture 9" descr="outreach_medical_camp_01.jpg"/>
          <p:cNvPicPr>
            <a:picLocks noChangeAspect="1"/>
          </p:cNvPicPr>
          <p:nvPr/>
        </p:nvPicPr>
        <p:blipFill>
          <a:blip r:embed="rId4"/>
          <a:srcRect t="14921" b="14921"/>
          <a:stretch>
            <a:fillRect/>
          </a:stretch>
        </p:blipFill>
        <p:spPr>
          <a:xfrm>
            <a:off x="4286402" y="1371600"/>
            <a:ext cx="3618890" cy="1691640"/>
          </a:xfrm>
          <a:prstGeom prst="rect">
            <a:avLst/>
          </a:prstGeom>
        </p:spPr>
      </p:pic>
      <p:pic>
        <p:nvPicPr>
          <p:cNvPr id="11" name="Picture 10" descr="outreach_audience_full_group_01.jpg"/>
          <p:cNvPicPr>
            <a:picLocks noChangeAspect="1"/>
          </p:cNvPicPr>
          <p:nvPr/>
        </p:nvPicPr>
        <p:blipFill>
          <a:blip r:embed="rId5"/>
          <a:srcRect t="14941" b="14941"/>
          <a:stretch>
            <a:fillRect/>
          </a:stretch>
        </p:blipFill>
        <p:spPr>
          <a:xfrm>
            <a:off x="8069884" y="1371600"/>
            <a:ext cx="3618890" cy="169164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3264408"/>
            <a:ext cx="3618890" cy="883919"/>
          </a:xfrm>
          <a:prstGeom prst="roundRect">
            <a:avLst>
              <a:gd name="adj" fmla="val 8000"/>
            </a:avLst>
          </a:prstGeom>
          <a:solidFill>
            <a:srgbClr val="E8F3F2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37560"/>
            <a:ext cx="3289706" cy="737615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0A1F2E"/>
                </a:solidFill>
                <a:latin typeface="Calibri"/>
              </a:rPr>
              <a:t>Community medical camps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402" y="3264408"/>
            <a:ext cx="3618890" cy="883919"/>
          </a:xfrm>
          <a:prstGeom prst="roundRect">
            <a:avLst>
              <a:gd name="adj" fmla="val 8000"/>
            </a:avLst>
          </a:prstGeom>
          <a:solidFill>
            <a:srgbClr val="E8F3F2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0994" y="3337560"/>
            <a:ext cx="3289706" cy="737615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0A1F2E"/>
                </a:solidFill>
                <a:latin typeface="Calibri"/>
              </a:rPr>
              <a:t>School health programmes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9884" y="3264408"/>
            <a:ext cx="3618890" cy="883919"/>
          </a:xfrm>
          <a:prstGeom prst="roundRect">
            <a:avLst>
              <a:gd name="adj" fmla="val 8000"/>
            </a:avLst>
          </a:prstGeom>
          <a:solidFill>
            <a:srgbClr val="E8F3F2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4476" y="3337560"/>
            <a:ext cx="3289706" cy="737615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0A1F2E"/>
                </a:solidFill>
                <a:latin typeface="Calibri"/>
              </a:rPr>
              <a:t>Corporate wellness initiatives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276344"/>
            <a:ext cx="3618890" cy="8839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4349496"/>
            <a:ext cx="3289706" cy="737615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0A1F2E"/>
                </a:solidFill>
                <a:latin typeface="Calibri"/>
              </a:rPr>
              <a:t>Community disease screening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6402" y="4276344"/>
            <a:ext cx="3618890" cy="8839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50994" y="4349496"/>
            <a:ext cx="3289706" cy="737615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0A1F2E"/>
                </a:solidFill>
                <a:latin typeface="Calibri"/>
              </a:rPr>
              <a:t>Health promotion campaigns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9884" y="4276344"/>
            <a:ext cx="3618890" cy="8839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4476" y="4349496"/>
            <a:ext cx="3289706" cy="737615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0A1F2E"/>
                </a:solidFill>
                <a:latin typeface="Calibri"/>
              </a:rPr>
              <a:t>Maternal and child health outreach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288280"/>
            <a:ext cx="3618890" cy="883919"/>
          </a:xfrm>
          <a:prstGeom prst="roundRect">
            <a:avLst>
              <a:gd name="adj" fmla="val 8000"/>
            </a:avLst>
          </a:prstGeom>
          <a:solidFill>
            <a:srgbClr val="E8F3F2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5361432"/>
            <a:ext cx="3289706" cy="737615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0A1F2E"/>
                </a:solidFill>
                <a:latin typeface="Calibri"/>
              </a:rPr>
              <a:t>Elderly care programmes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6402" y="5288280"/>
            <a:ext cx="3618890" cy="883919"/>
          </a:xfrm>
          <a:prstGeom prst="roundRect">
            <a:avLst>
              <a:gd name="adj" fmla="val 8000"/>
            </a:avLst>
          </a:prstGeom>
          <a:solidFill>
            <a:srgbClr val="E8F3F2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0994" y="5361432"/>
            <a:ext cx="3289706" cy="737615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0A1F2E"/>
                </a:solidFill>
                <a:latin typeface="Calibri"/>
              </a:rPr>
              <a:t>Student volunteer programmes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9884" y="5288280"/>
            <a:ext cx="3618890" cy="883919"/>
          </a:xfrm>
          <a:prstGeom prst="roundRect">
            <a:avLst>
              <a:gd name="adj" fmla="val 8000"/>
            </a:avLst>
          </a:prstGeom>
          <a:solidFill>
            <a:srgbClr val="E8F3F2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34476" y="5361432"/>
            <a:ext cx="3289706" cy="737615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0A1F2E"/>
                </a:solidFill>
                <a:latin typeface="Calibri"/>
              </a:rPr>
              <a:t>Community-based research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35508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428232"/>
            <a:ext cx="868680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08615" y="6428232"/>
            <a:ext cx="128016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10  /  17</a:t>
            </a:r>
          </a:p>
        </p:txBody>
      </p:sp>
    </p:spTree>
  </p:cSld>
  <p:transition spd="med">
    <p:fade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91440" cy="678484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5914" y="201168"/>
            <a:ext cx="1022861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201168"/>
            <a:ext cx="9842954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C45C26"/>
                </a:solidFill>
                <a:latin typeface="Calibri"/>
              </a:rPr>
              <a:t>COLLABORATION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8912"/>
            <a:ext cx="9842954" cy="43891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>
                <a:solidFill>
                  <a:srgbClr val="0A1F2E"/>
                </a:solidFill>
                <a:latin typeface="Calibri"/>
              </a:rPr>
              <a:t>Digital health and innovation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185855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2636C"/>
                </a:solidFill>
                <a:latin typeface="Calibri"/>
              </a:rPr>
              <a:t>Developing practical healthcare solutions together.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594506" cy="22539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3594506" cy="9144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737360"/>
            <a:ext cx="319217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Artificial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31720"/>
            <a:ext cx="3192170" cy="120243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2636C"/>
                </a:solidFill>
                <a:latin typeface="Calibri"/>
              </a:rPr>
              <a:t>Applications that support smarter clinical and community decisions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8594" y="1463040"/>
            <a:ext cx="3594506" cy="22539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8594" y="1463040"/>
            <a:ext cx="3594506" cy="9144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9762" y="1737360"/>
            <a:ext cx="319217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Electronic Medical Records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9762" y="2331720"/>
            <a:ext cx="3192170" cy="120243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2636C"/>
                </a:solidFill>
                <a:latin typeface="Calibri"/>
              </a:rPr>
              <a:t>Stronger continuity of care and better clinical information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4268" y="1463040"/>
            <a:ext cx="3594506" cy="22539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4268" y="1463040"/>
            <a:ext cx="3594506" cy="91440"/>
          </a:xfrm>
          <a:prstGeom prst="rect">
            <a:avLst/>
          </a:prstGeom>
          <a:solidFill>
            <a:srgbClr val="2D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5436" y="1737360"/>
            <a:ext cx="319217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Telemedicine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5436" y="2331720"/>
            <a:ext cx="3192170" cy="120243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2636C"/>
                </a:solidFill>
                <a:latin typeface="Calibri"/>
              </a:rPr>
              <a:t>Care and advice that reach people beyond the facility walls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18204"/>
            <a:ext cx="3594506" cy="22539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918204"/>
            <a:ext cx="3594506" cy="9144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192524"/>
            <a:ext cx="319217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Community Health Information Systems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4786884"/>
            <a:ext cx="3192170" cy="120243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2636C"/>
                </a:solidFill>
                <a:latin typeface="Calibri"/>
              </a:rPr>
              <a:t>Better visibility of community health activity and needs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8594" y="3918204"/>
            <a:ext cx="3594506" cy="22539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8594" y="3918204"/>
            <a:ext cx="3594506" cy="9144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99762" y="4192524"/>
            <a:ext cx="319217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Predictive analytics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9762" y="4786884"/>
            <a:ext cx="3192170" cy="120243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2636C"/>
                </a:solidFill>
                <a:latin typeface="Calibri"/>
              </a:rPr>
              <a:t>Earlier insight for planning and prevention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94268" y="3918204"/>
            <a:ext cx="3594506" cy="22539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94268" y="3918204"/>
            <a:ext cx="3594506" cy="9144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95436" y="4192524"/>
            <a:ext cx="319217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Digital patient engagement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95436" y="4786884"/>
            <a:ext cx="3192170" cy="120243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2636C"/>
                </a:solidFill>
                <a:latin typeface="Calibri"/>
              </a:rPr>
              <a:t>Clearer communication and follow-up with patients and families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35508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428232"/>
            <a:ext cx="868680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08615" y="6428232"/>
            <a:ext cx="128016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11  /  17</a:t>
            </a:r>
          </a:p>
        </p:txBody>
      </p:sp>
    </p:spTree>
  </p:cSld>
  <p:transition spd="med">
    <p:fade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91440" cy="678484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5914" y="201168"/>
            <a:ext cx="1022861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201168"/>
            <a:ext cx="9842954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C45C26"/>
                </a:solidFill>
                <a:latin typeface="Calibri"/>
              </a:rPr>
              <a:t>COLLABORATION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8912"/>
            <a:ext cx="9842954" cy="43891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>
                <a:solidFill>
                  <a:srgbClr val="0A1F2E"/>
                </a:solidFill>
                <a:latin typeface="Calibri"/>
              </a:rPr>
              <a:t>Resource mobilisation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185855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2636C"/>
                </a:solidFill>
                <a:latin typeface="Calibri"/>
              </a:rPr>
              <a:t>Collaborative proposals improve competitiveness for local and international funding.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594506" cy="22539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783080"/>
            <a:ext cx="3082442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1">
                <a:solidFill>
                  <a:srgbClr val="C45C26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286000"/>
            <a:ext cx="3082442" cy="120243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Research grants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8594" y="1463040"/>
            <a:ext cx="3594506" cy="22539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4626" y="1783080"/>
            <a:ext cx="3082442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1">
                <a:solidFill>
                  <a:srgbClr val="C45C26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4626" y="2286000"/>
            <a:ext cx="3082442" cy="120243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Development funding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4268" y="1463040"/>
            <a:ext cx="3594506" cy="22539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0300" y="1783080"/>
            <a:ext cx="3082442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1">
                <a:solidFill>
                  <a:srgbClr val="C45C26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0300" y="2286000"/>
            <a:ext cx="3082442" cy="120243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Innovation grants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18204"/>
            <a:ext cx="3594506" cy="22539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4238244"/>
            <a:ext cx="3082442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1">
                <a:solidFill>
                  <a:srgbClr val="C45C26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4741164"/>
            <a:ext cx="3082442" cy="120243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Corporate Social Responsibility partnerships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8594" y="3918204"/>
            <a:ext cx="3594506" cy="22539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4626" y="4238244"/>
            <a:ext cx="3082442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1">
                <a:solidFill>
                  <a:srgbClr val="C45C26"/>
                </a:solidFill>
                <a:latin typeface="Calibr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4626" y="4741164"/>
            <a:ext cx="3082442" cy="120243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International development partnerships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4268" y="3918204"/>
            <a:ext cx="3594506" cy="22539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0300" y="4238244"/>
            <a:ext cx="3082442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1">
                <a:solidFill>
                  <a:srgbClr val="C45C26"/>
                </a:solidFill>
                <a:latin typeface="Calibr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0300" y="4741164"/>
            <a:ext cx="3082442" cy="120243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Capacity-building programmes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35508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428232"/>
            <a:ext cx="868680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8615" y="6428232"/>
            <a:ext cx="128016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12  /  17</a:t>
            </a:r>
          </a:p>
        </p:txBody>
      </p:sp>
    </p:spTree>
  </p:cSld>
  <p:transition spd="med">
    <p:fade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91440" cy="678484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5914" y="201168"/>
            <a:ext cx="1022861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201168"/>
            <a:ext cx="9842954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C45C26"/>
                </a:solidFill>
                <a:latin typeface="Calibri"/>
              </a:rPr>
              <a:t>ECOSYSTEM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8912"/>
            <a:ext cx="9842954" cy="43891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>
                <a:solidFill>
                  <a:srgbClr val="0A1F2E"/>
                </a:solidFill>
                <a:latin typeface="Calibri"/>
              </a:rPr>
              <a:t>Strategic partnerships and collaborative network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185855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2636C"/>
                </a:solidFill>
                <a:latin typeface="Calibri"/>
              </a:rPr>
              <a:t>Victoria University as the flagship academic and research partner.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44752"/>
            <a:ext cx="5492343" cy="8430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44752"/>
            <a:ext cx="91440" cy="843076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554480"/>
            <a:ext cx="5080863" cy="6236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1E2F38"/>
                </a:solidFill>
                <a:latin typeface="Calibri"/>
              </a:rPr>
              <a:t>Government ministries and public health institutions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6431" y="1444752"/>
            <a:ext cx="5492343" cy="8430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444752"/>
            <a:ext cx="91440" cy="843076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2463" y="1554480"/>
            <a:ext cx="5080863" cy="6236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1E2F38"/>
                </a:solidFill>
                <a:latin typeface="Calibri"/>
              </a:rPr>
              <a:t>Local government leadership and Village Health Teams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415844"/>
            <a:ext cx="5492343" cy="8430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415844"/>
            <a:ext cx="91440" cy="843076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2525572"/>
            <a:ext cx="5080863" cy="6236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1E2F38"/>
                </a:solidFill>
                <a:latin typeface="Calibri"/>
              </a:rPr>
              <a:t>Health insurance providers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6431" y="2415844"/>
            <a:ext cx="5492343" cy="8430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2415844"/>
            <a:ext cx="91440" cy="843076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2463" y="2525572"/>
            <a:ext cx="5080863" cy="6236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1E2F38"/>
                </a:solidFill>
                <a:latin typeface="Calibri"/>
              </a:rPr>
              <a:t>Specialist healthcare professionals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386937"/>
            <a:ext cx="5492343" cy="8430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386937"/>
            <a:ext cx="91440" cy="843076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3496665"/>
            <a:ext cx="5080863" cy="6236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1E2F38"/>
                </a:solidFill>
                <a:latin typeface="Calibri"/>
              </a:rPr>
              <a:t>Schools and educational institutions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6431" y="3386937"/>
            <a:ext cx="5492343" cy="8430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3386937"/>
            <a:ext cx="91440" cy="843076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3496665"/>
            <a:ext cx="5080863" cy="6236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1E2F38"/>
                </a:solidFill>
                <a:latin typeface="Calibri"/>
              </a:rPr>
              <a:t>Faith-based and community organisations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358030"/>
            <a:ext cx="5492343" cy="8430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358030"/>
            <a:ext cx="91440" cy="843076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8952" y="4467758"/>
            <a:ext cx="5080863" cy="6236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1E2F38"/>
                </a:solidFill>
                <a:latin typeface="Calibri"/>
              </a:rPr>
              <a:t>Corporate organisations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6431" y="4358030"/>
            <a:ext cx="5492343" cy="8430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6431" y="4358030"/>
            <a:ext cx="91440" cy="843076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52463" y="4467758"/>
            <a:ext cx="5080863" cy="6236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1E2F38"/>
                </a:solidFill>
                <a:latin typeface="Calibri"/>
              </a:rPr>
              <a:t>Media partners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329123"/>
            <a:ext cx="5492343" cy="8430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5329123"/>
            <a:ext cx="91440" cy="843076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8952" y="5438851"/>
            <a:ext cx="5080863" cy="6236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1E2F38"/>
                </a:solidFill>
                <a:latin typeface="Calibri"/>
              </a:rPr>
              <a:t>National and international development partners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6431" y="5329123"/>
            <a:ext cx="5492343" cy="8430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96431" y="5329123"/>
            <a:ext cx="91440" cy="843076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52463" y="5438851"/>
            <a:ext cx="5080863" cy="6236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1E2F38"/>
                </a:solidFill>
                <a:latin typeface="Calibri"/>
              </a:rPr>
              <a:t>Philanthropic foundations and research institutions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635508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428232"/>
            <a:ext cx="868680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08615" y="6428232"/>
            <a:ext cx="128016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13  /  17</a:t>
            </a:r>
          </a:p>
        </p:txBody>
      </p:sp>
    </p:spTree>
  </p:cSld>
  <p:transition spd="med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91440" cy="678484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5914" y="201168"/>
            <a:ext cx="1022861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201168"/>
            <a:ext cx="9842954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C45C26"/>
                </a:solidFill>
                <a:latin typeface="Calibri"/>
              </a:rPr>
              <a:t>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8912"/>
            <a:ext cx="9842954" cy="43891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>
                <a:solidFill>
                  <a:srgbClr val="0A1F2E"/>
                </a:solidFill>
                <a:latin typeface="Calibri"/>
              </a:rPr>
              <a:t>Expected outcomes of the partnership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88720"/>
            <a:ext cx="3594506" cy="1551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89888"/>
            <a:ext cx="3137306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3137306" cy="819911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A1F2E"/>
                </a:solidFill>
                <a:latin typeface="Calibri"/>
              </a:rPr>
              <a:t>Improve access to quality primary healthcare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8594" y="1188720"/>
            <a:ext cx="3594506" cy="1551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7194" y="1389888"/>
            <a:ext cx="3137306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7194" y="1737360"/>
            <a:ext cx="3137306" cy="819911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A1F2E"/>
                </a:solidFill>
                <a:latin typeface="Calibri"/>
              </a:rPr>
              <a:t>Strengthen preventive healthcare programmes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4268" y="1188720"/>
            <a:ext cx="3594506" cy="1551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2868" y="1389888"/>
            <a:ext cx="3137306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2868" y="1737360"/>
            <a:ext cx="3137306" cy="819911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A1F2E"/>
                </a:solidFill>
                <a:latin typeface="Calibri"/>
              </a:rPr>
              <a:t>Expand experiential learning opportunities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04744"/>
            <a:ext cx="3594506" cy="1551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105912"/>
            <a:ext cx="3137306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453384"/>
            <a:ext cx="3137306" cy="819911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A1F2E"/>
                </a:solidFill>
                <a:latin typeface="Calibri"/>
              </a:rPr>
              <a:t>Increase community-based research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8594" y="2904744"/>
            <a:ext cx="3594506" cy="1551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7194" y="3105912"/>
            <a:ext cx="3137306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Calibr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7194" y="3453384"/>
            <a:ext cx="3137306" cy="819911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A1F2E"/>
                </a:solidFill>
                <a:latin typeface="Calibri"/>
              </a:rPr>
              <a:t>Promote healthcare innovation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4268" y="2904744"/>
            <a:ext cx="3594506" cy="1551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2868" y="3105912"/>
            <a:ext cx="3137306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Calibri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2868" y="3453384"/>
            <a:ext cx="3137306" cy="819911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A1F2E"/>
                </a:solidFill>
                <a:latin typeface="Calibri"/>
              </a:rPr>
              <a:t>Strengthen graduate employability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620767"/>
            <a:ext cx="3594506" cy="1551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821935"/>
            <a:ext cx="3137306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Calibri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169407"/>
            <a:ext cx="3137306" cy="819911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A1F2E"/>
                </a:solidFill>
                <a:latin typeface="Calibri"/>
              </a:rPr>
              <a:t>Enhance institutional visibility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8594" y="4620767"/>
            <a:ext cx="3594506" cy="1551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27194" y="4821935"/>
            <a:ext cx="3137306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Calibri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7194" y="5169407"/>
            <a:ext cx="3137306" cy="819911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A1F2E"/>
                </a:solidFill>
                <a:latin typeface="Calibri"/>
              </a:rPr>
              <a:t>Mobilise sustainable development partnerships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4268" y="4620767"/>
            <a:ext cx="3594506" cy="1551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2868" y="4821935"/>
            <a:ext cx="3137306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Calibri"/>
              </a:rPr>
              <a:t>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2868" y="5169407"/>
            <a:ext cx="3137306" cy="819911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0A1F2E"/>
                </a:solidFill>
                <a:latin typeface="Calibri"/>
              </a:rPr>
              <a:t>Improve health outcomes in surrounding communities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635508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428232"/>
            <a:ext cx="868680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08615" y="6428232"/>
            <a:ext cx="128016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14  /  17</a:t>
            </a:r>
          </a:p>
        </p:txBody>
      </p:sp>
    </p:spTree>
  </p:cSld>
  <p:transition spd="med">
    <p:fade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91440" cy="678484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5914" y="201168"/>
            <a:ext cx="1022861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201168"/>
            <a:ext cx="9842954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C45C26"/>
                </a:solidFill>
                <a:latin typeface="Calibri"/>
              </a:rPr>
              <a:t>IMPLEMENTATION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8912"/>
            <a:ext cx="9842954" cy="43891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>
                <a:solidFill>
                  <a:srgbClr val="0A1F2E"/>
                </a:solidFill>
                <a:latin typeface="Calibri"/>
              </a:rPr>
              <a:t>Proposed roadmap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70432"/>
            <a:ext cx="2645587" cy="4983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170432"/>
            <a:ext cx="2645587" cy="96012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298448"/>
            <a:ext cx="2316403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Phase 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600200"/>
            <a:ext cx="2316403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Foundation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31720"/>
            <a:ext cx="2371267" cy="3566160"/>
          </a:xfrm>
          <a:prstGeom prst="rect">
            <a:avLst/>
          </a:prstGeom>
          <a:noFill/>
        </p:spPr>
        <p:txBody>
          <a:bodyPr wrap="square" lIns="36000" rIns="36000" tIns="12000" bIns="1200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Introductory planning meeting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Joint Technical Working Group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49675" y="1170432"/>
            <a:ext cx="2645587" cy="4983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49675" y="1170432"/>
            <a:ext cx="2645587" cy="96012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14267" y="1298448"/>
            <a:ext cx="2316403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Phase II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4267" y="1600200"/>
            <a:ext cx="2316403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Formalisation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6835" y="2331720"/>
            <a:ext cx="2371267" cy="3566160"/>
          </a:xfrm>
          <a:prstGeom prst="rect">
            <a:avLst/>
          </a:prstGeom>
          <a:noFill/>
        </p:spPr>
        <p:txBody>
          <a:bodyPr wrap="square" lIns="36000" rIns="36000" tIns="12000" bIns="1200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Sign Memorandum of Understanding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Identify priority pilot projects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6431" y="1170432"/>
            <a:ext cx="2645587" cy="4983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170432"/>
            <a:ext cx="2645587" cy="960120"/>
          </a:xfrm>
          <a:prstGeom prst="rect">
            <a:avLst/>
          </a:prstGeom>
          <a:solidFill>
            <a:srgbClr val="2D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1023" y="1298448"/>
            <a:ext cx="2316403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Phase III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1023" y="1600200"/>
            <a:ext cx="2316403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Delivery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3591" y="2331720"/>
            <a:ext cx="2371267" cy="3566160"/>
          </a:xfrm>
          <a:prstGeom prst="rect">
            <a:avLst/>
          </a:prstGeom>
          <a:noFill/>
        </p:spPr>
        <p:txBody>
          <a:bodyPr wrap="square" lIns="36000" rIns="36000" tIns="12000" bIns="1200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Student placements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Joint research and outreach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Innovation and grant development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43187" y="1170432"/>
            <a:ext cx="2645587" cy="4983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43187" y="1170432"/>
            <a:ext cx="2645587" cy="9601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07779" y="1298448"/>
            <a:ext cx="2316403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Phase IV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07779" y="1600200"/>
            <a:ext cx="2316403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Learning and scale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0347" y="2331720"/>
            <a:ext cx="2371267" cy="3566160"/>
          </a:xfrm>
          <a:prstGeom prst="rect">
            <a:avLst/>
          </a:prstGeom>
          <a:noFill/>
        </p:spPr>
        <p:txBody>
          <a:bodyPr wrap="square" lIns="36000" rIns="36000" tIns="12000" bIns="1200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Monitoring and evaluation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Document lessons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Expand and replicate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35508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428232"/>
            <a:ext cx="868680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8615" y="6428232"/>
            <a:ext cx="128016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15  /  17</a:t>
            </a:r>
          </a:p>
        </p:txBody>
      </p:sp>
    </p:spTree>
  </p:cSld>
  <p:transition spd="med">
    <p:fade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91440" cy="678484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5914" y="201168"/>
            <a:ext cx="1022861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201168"/>
            <a:ext cx="9842954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C45C26"/>
                </a:solidFill>
                <a:latin typeface="Calibri"/>
              </a:rPr>
              <a:t>LOOKING AHEAD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8912"/>
            <a:ext cx="9842954" cy="43891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>
                <a:solidFill>
                  <a:srgbClr val="0A1F2E"/>
                </a:solidFill>
                <a:latin typeface="Calibri"/>
              </a:rPr>
              <a:t>Long-term vision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97280"/>
            <a:ext cx="6487796" cy="1965960"/>
          </a:xfrm>
          <a:prstGeom prst="roundRect">
            <a:avLst>
              <a:gd name="adj" fmla="val 8000"/>
            </a:avLst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371600"/>
            <a:ext cx="5847716" cy="141731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Establish FCHIP as Uganda's leading University–Community Health Partnership Model—showing how academia, healthcare providers, government, development partners, and communities can work together to improve lives.</a:t>
            </a:r>
          </a:p>
        </p:txBody>
      </p:sp>
      <p:pic>
        <p:nvPicPr>
          <p:cNvPr id="10" name="Picture 9" descr="reception_mission_wall.jpeg"/>
          <p:cNvPicPr>
            <a:picLocks noChangeAspect="1"/>
          </p:cNvPicPr>
          <p:nvPr/>
        </p:nvPicPr>
        <p:blipFill>
          <a:blip r:embed="rId3"/>
          <a:srcRect t="17211" b="17211"/>
          <a:stretch>
            <a:fillRect/>
          </a:stretch>
        </p:blipFill>
        <p:spPr>
          <a:xfrm>
            <a:off x="7191884" y="1097280"/>
            <a:ext cx="4496891" cy="19659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3291839"/>
            <a:ext cx="5478627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47872"/>
            <a:ext cx="4975707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Calibri"/>
              </a:rPr>
              <a:t>For FairBanks Medical Centre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31920"/>
            <a:ext cx="4975707" cy="20116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A living laboratory for education, research, innovation, and community service.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3291839"/>
            <a:ext cx="5478627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4467" y="3547872"/>
            <a:ext cx="4975707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Calibri"/>
              </a:rPr>
              <a:t>For Victoria University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4467" y="3931920"/>
            <a:ext cx="4975707" cy="20116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Stronger leadership in experiential learning, applied research, and social impact—with lessons that can be replicated across Uganda.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355080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428232"/>
            <a:ext cx="868680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8615" y="6428232"/>
            <a:ext cx="128016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16  /  17</a:t>
            </a:r>
          </a:p>
        </p:txBody>
      </p:sp>
    </p:spTree>
  </p:cSld>
  <p:transition spd="med">
    <p:fade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cility_exterior_entrance_01.jpg"/>
          <p:cNvPicPr>
            <a:picLocks noChangeAspect="1"/>
          </p:cNvPicPr>
          <p:nvPr/>
        </p:nvPicPr>
        <p:blipFill>
          <a:blip r:embed="rId2"/>
          <a:srcRect l="24295" r="24295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903720" cy="6858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903720" y="0"/>
            <a:ext cx="109728" cy="6858000"/>
          </a:xfrm>
          <a:prstGeom prst="rect">
            <a:avLst/>
          </a:prstGeom>
          <a:solidFill>
            <a:srgbClr val="D99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411480"/>
            <a:ext cx="13886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irbanks_log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48640"/>
            <a:ext cx="1022861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1188720"/>
            <a:ext cx="59436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>
                <a:solidFill>
                  <a:srgbClr val="D99A2B"/>
                </a:solidFill>
                <a:latin typeface="Calibri"/>
              </a:rPr>
              <a:t>INVITATION TO 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54480"/>
            <a:ext cx="59436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0D6E6E"/>
                </a:solidFill>
                <a:latin typeface="Calibri"/>
              </a:rPr>
              <a:t>FairBanks Medical Centre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65960"/>
            <a:ext cx="6035040" cy="1143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Together, we can build healthier
communities and stronger professionals.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91840"/>
            <a:ext cx="6035040" cy="10515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D4E8DC"/>
                </a:solidFill>
                <a:latin typeface="Calibri"/>
              </a:rPr>
              <a:t>FairBanks Medical Centre respectfully invites Victoria University to join as a strategic partner in advancing FCHIP—empowering students, strengthening research, improving healthcare delivery, and delivering lasting value to the communities we serve.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480560"/>
            <a:ext cx="54864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500" b="1">
                <a:solidFill>
                  <a:srgbClr val="D99A2B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83480"/>
            <a:ext cx="6035040" cy="1280160"/>
          </a:xfrm>
          <a:prstGeom prst="roundRect">
            <a:avLst>
              <a:gd name="adj" fmla="val 8000"/>
            </a:avLst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120640"/>
            <a:ext cx="557784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D99A2B"/>
                </a:solidFill>
                <a:latin typeface="Calibri"/>
              </a:rPr>
              <a:t>Institutional contact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440680"/>
            <a:ext cx="5577840" cy="7315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Kyebando–Kisalosalo, Tirupati Road, Kampala
info@fairbanksmedicalcentre.org
fairbanksmedicalcentre.org</a:t>
            </a:r>
          </a:p>
        </p:txBody>
      </p:sp>
    </p:spTree>
  </p:cSld>
  <p:transition spd="med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