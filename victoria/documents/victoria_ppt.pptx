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Relationship Id="rId3" Type="http://schemas.openxmlformats.org/officeDocument/2006/relationships/image" Target="../media/image2.jp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3.jp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4.jpg"/><Relationship Id="rId4" Type="http://schemas.openxmlformats.org/officeDocument/2006/relationships/image" Target="../media/image5.jpg"/><Relationship Id="rId5" Type="http://schemas.openxmlformats.org/officeDocument/2006/relationships/image" Target="../media/image6.jp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jpg"/><Relationship Id="rId3" Type="http://schemas.openxmlformats.org/officeDocument/2006/relationships/image" Target="../media/image7.jp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jpg"/><Relationship Id="rId3" Type="http://schemas.openxmlformats.org/officeDocument/2006/relationships/image" Target="../media/image2.jp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cility_exterior_branded_entrance_01.jpe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223760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22376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768" y="155448"/>
            <a:ext cx="1023041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228600"/>
            <a:ext cx="1266399" cy="4754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914400"/>
            <a:ext cx="649224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D99A2B"/>
                </a:solidFill>
                <a:latin typeface="Calibri"/>
              </a:rPr>
              <a:t>STRATEGIC INSTITUTIONAL PROPOSAL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325880"/>
            <a:ext cx="6492240" cy="43891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700" b="1">
                <a:solidFill>
                  <a:srgbClr val="0D6E6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2057400"/>
            <a:ext cx="6492240" cy="7132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FFFFFF"/>
                </a:solidFill>
                <a:latin typeface="Calibri"/>
              </a:rPr>
              <a:t>University–Community Health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926080"/>
            <a:ext cx="6492240" cy="7132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600" b="1">
                <a:solidFill>
                  <a:srgbClr val="D99A2B"/>
                </a:solidFill>
                <a:latin typeface="Calibri"/>
              </a:rPr>
              <a:t>Partnership Proposal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02920" y="3794760"/>
            <a:ext cx="2926080" cy="9144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02920" y="4023360"/>
            <a:ext cx="6492240" cy="43891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0">
                <a:solidFill>
                  <a:srgbClr val="D4E8DC"/>
                </a:solidFill>
                <a:latin typeface="Calibri"/>
              </a:rPr>
              <a:t>Building the FairBanks Community Health Intelligence Platform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4617720"/>
            <a:ext cx="6492240" cy="41148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D99A2B"/>
                </a:solidFill>
                <a:latin typeface="Calibri"/>
              </a:rPr>
              <a:t>(FCHIP) with Victoria University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5166360"/>
            <a:ext cx="6492240" cy="38404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6" name="Rectangle 15"/>
          <p:cNvSpPr/>
          <p:nvPr/>
        </p:nvSpPr>
        <p:spPr>
          <a:xfrm>
            <a:off x="0" y="5852160"/>
            <a:ext cx="7223760" cy="100584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502920" y="5989320"/>
            <a:ext cx="6492240" cy="36576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FFFFFF"/>
                </a:solidFill>
                <a:latin typeface="Calibri"/>
              </a:rPr>
              <a:t>Prepared for Victoria University leadership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02920" y="6400800"/>
            <a:ext cx="6492240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D4E8DC"/>
                </a:solidFill>
                <a:latin typeface="Calibri"/>
              </a:rPr>
              <a:t>Kyebando–Kisalosalo, Kampala  ·  Institutional briefing</a:t>
            </a:r>
          </a:p>
        </p:txBody>
      </p:sp>
    </p:spTree>
  </p:cSld>
  <p:transition spd="med">
    <p:fade/>
  </p:transition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92608"/>
            <a:ext cx="9577597" cy="53035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A1F2E"/>
                </a:solidFill>
                <a:latin typeface="Calibri"/>
              </a:rPr>
              <a:t>Slide Contents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435607"/>
            <a:ext cx="5318607" cy="9692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804671" y="1636775"/>
            <a:ext cx="73152" cy="56692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737360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45C26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737360" y="1737360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A1F2E"/>
                </a:solidFill>
                <a:latin typeface="Calibri"/>
              </a:rPr>
              <a:t>Executive summary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78727" y="1435607"/>
            <a:ext cx="5318607" cy="9692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443319" y="1636775"/>
            <a:ext cx="73152" cy="56692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644487" y="1737360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45C26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76007" y="1737360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A1F2E"/>
                </a:solidFill>
                <a:latin typeface="Calibri"/>
              </a:rPr>
              <a:t>About FairBanks Medical Centre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660904"/>
            <a:ext cx="5318607" cy="9692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04671" y="2862072"/>
            <a:ext cx="73152" cy="56692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005840" y="2962656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45C26"/>
                </a:solidFill>
                <a:latin typeface="Calibri"/>
              </a:rPr>
              <a:t>03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737360" y="2962656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A1F2E"/>
                </a:solidFill>
                <a:latin typeface="Calibri"/>
              </a:rPr>
              <a:t>What FCHIP is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78727" y="2660904"/>
            <a:ext cx="5318607" cy="9692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443319" y="2862072"/>
            <a:ext cx="73152" cy="56692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644487" y="2962656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45C26"/>
                </a:solidFill>
                <a:latin typeface="Calibri"/>
              </a:rPr>
              <a:t>04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76007" y="2962656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A1F2E"/>
                </a:solidFill>
                <a:latin typeface="Calibri"/>
              </a:rPr>
              <a:t>How we work together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3886200"/>
            <a:ext cx="5318607" cy="9692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804671" y="4087368"/>
            <a:ext cx="73152" cy="56692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1005840" y="4187952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45C26"/>
                </a:solidFill>
                <a:latin typeface="Calibri"/>
              </a:rPr>
              <a:t>05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737360" y="4187952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A1F2E"/>
                </a:solidFill>
                <a:latin typeface="Calibri"/>
              </a:rPr>
              <a:t>Why Victoria University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78727" y="3886200"/>
            <a:ext cx="5318607" cy="9692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6443319" y="4087368"/>
            <a:ext cx="73152" cy="56692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644487" y="4187952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45C26"/>
                </a:solidFill>
                <a:latin typeface="Calibri"/>
              </a:rPr>
              <a:t>06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376007" y="4187952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A1F2E"/>
                </a:solidFill>
                <a:latin typeface="Calibri"/>
              </a:rPr>
              <a:t>Partnership network and outcomes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640080" y="5111496"/>
            <a:ext cx="5318607" cy="9692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Rectangle 32"/>
          <p:cNvSpPr/>
          <p:nvPr/>
        </p:nvSpPr>
        <p:spPr>
          <a:xfrm>
            <a:off x="804671" y="5312664"/>
            <a:ext cx="73152" cy="56692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1005840" y="5413248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45C26"/>
                </a:solidFill>
                <a:latin typeface="Calibri"/>
              </a:rPr>
              <a:t>07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1737360" y="5413248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A1F2E"/>
                </a:solidFill>
                <a:latin typeface="Calibri"/>
              </a:rPr>
              <a:t>Roadmap and long-term vision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78727" y="5111496"/>
            <a:ext cx="5318607" cy="969264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Rectangle 36"/>
          <p:cNvSpPr/>
          <p:nvPr/>
        </p:nvSpPr>
        <p:spPr>
          <a:xfrm>
            <a:off x="6443319" y="5312664"/>
            <a:ext cx="73152" cy="56692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644487" y="5413248"/>
            <a:ext cx="640080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C45C26"/>
                </a:solidFill>
                <a:latin typeface="Calibri"/>
              </a:rPr>
              <a:t>08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376007" y="5413248"/>
            <a:ext cx="3992727" cy="36576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A1F2E"/>
                </a:solidFill>
                <a:latin typeface="Calibri"/>
              </a:rPr>
              <a:t>Invitation to partner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565392"/>
            <a:ext cx="868680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17175" y="6565392"/>
            <a:ext cx="128016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2  /  17</a:t>
            </a:r>
          </a:p>
        </p:txBody>
      </p:sp>
    </p:spTree>
  </p:cSld>
  <p:transition spd="med">
    <p:fade/>
  </p:transition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C45C26"/>
                </a:solidFill>
                <a:latin typeface="Calibri"/>
              </a:rPr>
              <a:t>EXECUTIVE SUMMARY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"/>
            <a:ext cx="9577597" cy="5029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0A1F2E"/>
                </a:solidFill>
                <a:latin typeface="Calibri"/>
              </a:rPr>
              <a:t>A strategic partnership for health, learning, and impact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298448"/>
            <a:ext cx="10957255" cy="6858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0">
                <a:solidFill>
                  <a:srgbClr val="1E2F38"/>
                </a:solidFill>
                <a:latin typeface="Calibri"/>
              </a:rPr>
              <a:t>FairBanks Medical Centre proposes a strategic partnership with Victoria University to integrate healthcare service delivery, academic excellence, research, innovation, and community engagement.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121408"/>
            <a:ext cx="10957255" cy="1185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1" y="2304288"/>
            <a:ext cx="73152" cy="81991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51560" y="2322576"/>
            <a:ext cx="10271455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FCHIP at the centre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051560" y="2688336"/>
            <a:ext cx="10271455" cy="454151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The FairBanks Community Health Intelligence Platform is the deep-tech platform for predictive community health — using community and facility data to support prevention, outreach, research, skills development, and partnerships.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3508248"/>
            <a:ext cx="10957255" cy="1185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804671" y="3691127"/>
            <a:ext cx="73152" cy="819912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51560" y="3709416"/>
            <a:ext cx="10271455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Shared strengths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51560" y="4075175"/>
            <a:ext cx="10271455" cy="454151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Victoria University brings education, innovation, and research. FairBanks brings a practical healthcare platform and community presence.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4895088"/>
            <a:ext cx="10957255" cy="118567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04671" y="5077968"/>
            <a:ext cx="73152" cy="819912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51560" y="5096256"/>
            <a:ext cx="10271455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0A1F2E"/>
                </a:solidFill>
                <a:latin typeface="Calibri"/>
              </a:rPr>
              <a:t>Shared goal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051560" y="5462016"/>
            <a:ext cx="10271455" cy="454151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Build a replicable University–Community Health Partnership Model that advances healthcare, education, innovation, and sustainable development in Uganda.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6565392"/>
            <a:ext cx="868680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0317175" y="6565392"/>
            <a:ext cx="128016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3  /  17</a:t>
            </a:r>
          </a:p>
        </p:txBody>
      </p:sp>
    </p:spTree>
  </p:cSld>
  <p:transition spd="med">
    <p:fade/>
  </p:transition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C45C26"/>
                </a:solidFill>
                <a:latin typeface="Calibri"/>
              </a:rPr>
              <a:t>WHO WE ARE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"/>
            <a:ext cx="9577597" cy="5029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0A1F2E"/>
                </a:solidFill>
                <a:latin typeface="Calibri"/>
              </a:rPr>
              <a:t>About FairBanks Medical Centre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98448"/>
            <a:ext cx="6309360" cy="4782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60119" y="1572768"/>
            <a:ext cx="5669280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Community-based primary healthcare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60119" y="1938528"/>
            <a:ext cx="566928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45C26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60119" y="2350008"/>
            <a:ext cx="5669280" cy="3456432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1200"/>
              </a:spcAft>
            </a:pPr>
            <a:r>
              <a:rPr sz="1800" b="0">
                <a:solidFill>
                  <a:srgbClr val="1E2F38"/>
                </a:solidFill>
                <a:latin typeface="Calibri"/>
              </a:rPr>
              <a:t>•  Located in Kyebando–Kisalosalo, Kampala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E2F38"/>
                </a:solidFill>
                <a:latin typeface="Calibri"/>
              </a:rPr>
              <a:t>•  Accessible, affordable, quality healthcare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E2F38"/>
                </a:solidFill>
                <a:latin typeface="Calibri"/>
              </a:rPr>
              <a:t>•  Strong focus on preventive health and community well-being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E2F38"/>
                </a:solidFill>
                <a:latin typeface="Calibri"/>
              </a:rPr>
              <a:t>•  Committed to social determinants of health through partnerships</a:t>
            </a:r>
          </a:p>
          <a:p>
            <a:pPr algn="l">
              <a:spcAft>
                <a:spcPts val="1200"/>
              </a:spcAft>
            </a:pPr>
            <a:r>
              <a:rPr sz="1800" b="0">
                <a:solidFill>
                  <a:srgbClr val="1E2F38"/>
                </a:solidFill>
                <a:latin typeface="Calibri"/>
              </a:rPr>
              <a:t>•  Active in innovation, research, and community engagement</a:t>
            </a:r>
          </a:p>
        </p:txBody>
      </p:sp>
      <p:pic>
        <p:nvPicPr>
          <p:cNvPr id="13" name="Picture 12" descr="facility_exterior_entrance_01.jpg"/>
          <p:cNvPicPr>
            <a:picLocks noChangeAspect="1"/>
          </p:cNvPicPr>
          <p:nvPr/>
        </p:nvPicPr>
        <p:blipFill>
          <a:blip r:embed="rId3"/>
          <a:srcRect t="2439" b="2439"/>
          <a:stretch>
            <a:fillRect/>
          </a:stretch>
        </p:blipFill>
        <p:spPr>
          <a:xfrm>
            <a:off x="7223760" y="1298448"/>
            <a:ext cx="4373575" cy="2773740"/>
          </a:xfrm>
          <a:prstGeom prst="rect">
            <a:avLst/>
          </a:prstGeom>
        </p:spPr>
      </p:pic>
      <p:sp>
        <p:nvSpPr>
          <p:cNvPr id="14" name="Rounded Rectangle 13"/>
          <p:cNvSpPr/>
          <p:nvPr/>
        </p:nvSpPr>
        <p:spPr>
          <a:xfrm>
            <a:off x="7223760" y="4236780"/>
            <a:ext cx="4373575" cy="1843979"/>
          </a:xfrm>
          <a:prstGeom prst="roundRect">
            <a:avLst>
              <a:gd name="adj" fmla="val 10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52360" y="4465380"/>
            <a:ext cx="3916375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D99A2B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452360" y="4831140"/>
            <a:ext cx="3916375" cy="1066739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0">
                <a:solidFill>
                  <a:srgbClr val="FFFFFF"/>
                </a:solidFill>
                <a:latin typeface="Calibri"/>
              </a:rPr>
              <a:t>A trusted community health home — care close to where families live.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0080" y="6565392"/>
            <a:ext cx="868680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0317175" y="6565392"/>
            <a:ext cx="128016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4  /  17</a:t>
            </a:r>
          </a:p>
        </p:txBody>
      </p:sp>
    </p:spTree>
  </p:cSld>
  <p:transition spd="med">
    <p:fade/>
  </p:transition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92608"/>
            <a:ext cx="9577597" cy="53035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A1F2E"/>
                </a:solidFill>
                <a:latin typeface="Calibri"/>
              </a:rPr>
              <a:t>What is FCHIP?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1298448"/>
            <a:ext cx="10957255" cy="2331720"/>
          </a:xfrm>
          <a:prstGeom prst="roundRect">
            <a:avLst>
              <a:gd name="adj" fmla="val 10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005840" y="1499616"/>
            <a:ext cx="10225735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D99A2B"/>
                </a:solidFill>
                <a:latin typeface="Calibri"/>
              </a:rPr>
              <a:t>FCHIP stands for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005840" y="1801368"/>
            <a:ext cx="10225735" cy="43891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500" b="1">
                <a:solidFill>
                  <a:srgbClr val="FFFFFF"/>
                </a:solidFill>
                <a:latin typeface="Calibri"/>
              </a:rPr>
              <a:t>FairBanks Community Health Intelligence Platform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005840" y="2350008"/>
            <a:ext cx="10225735" cy="109728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D4E8DC"/>
                </a:solidFill>
                <a:latin typeface="Calibri"/>
              </a:rPr>
              <a:t>FCHIP is a deep-technology platform that turns community and facility health data into useful predictions. It connects community members, CHWs and VHTs, schools, outreach programmes, clinics, and hospitals — and uses AI, GIS mapping, and climate signals to spot risks early so partners can act before crises escalate.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0080" y="3794759"/>
            <a:ext cx="10957255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100" b="1">
                <a:solidFill>
                  <a:srgbClr val="0A1F2E"/>
                </a:solidFill>
                <a:latin typeface="Calibri"/>
              </a:rPr>
              <a:t>What FCHIP focuses on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4133087"/>
            <a:ext cx="2030516" cy="8915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68096" y="4261103"/>
            <a:ext cx="1774484" cy="640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31519" y="4389120"/>
            <a:ext cx="1847636" cy="52578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Disease early warning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2871764" y="4133087"/>
            <a:ext cx="2030516" cy="8915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2999780" y="4261103"/>
            <a:ext cx="1774484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2963204" y="4389120"/>
            <a:ext cx="1847636" cy="52578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Maternal health risk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103449" y="4133087"/>
            <a:ext cx="2030516" cy="8915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5231465" y="4261103"/>
            <a:ext cx="1774484" cy="64008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5194889" y="4389120"/>
            <a:ext cx="1847636" cy="52578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NCD hotspots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7335133" y="4133087"/>
            <a:ext cx="2030516" cy="8915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63149" y="4261103"/>
            <a:ext cx="1774484" cy="6400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426573" y="4389120"/>
            <a:ext cx="1847636" cy="52578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Child health signals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9566818" y="4133087"/>
            <a:ext cx="2030516" cy="8915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9694834" y="4261103"/>
            <a:ext cx="1774484" cy="640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658258" y="4389120"/>
            <a:ext cx="1847636" cy="52578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Medicine demand forecasts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5189220"/>
            <a:ext cx="2030516" cy="8915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68096" y="5317236"/>
            <a:ext cx="1774484" cy="640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31519" y="5445252"/>
            <a:ext cx="1847636" cy="52578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CHW / VHT mobile tools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871764" y="5189220"/>
            <a:ext cx="2030516" cy="8915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2999780" y="5317236"/>
            <a:ext cx="1774484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2963204" y="5445252"/>
            <a:ext cx="1847636" cy="52578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GIS risk mapping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5103449" y="5189220"/>
            <a:ext cx="2030516" cy="8915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5231465" y="5317236"/>
            <a:ext cx="1774484" cy="64008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5194889" y="5445252"/>
            <a:ext cx="1847636" cy="52578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Climate–health fusion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335133" y="5189220"/>
            <a:ext cx="2030516" cy="8915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7463149" y="5317236"/>
            <a:ext cx="1774484" cy="6400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26573" y="5445252"/>
            <a:ext cx="1847636" cy="52578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EMR / HMS data APIs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9566818" y="5189220"/>
            <a:ext cx="2030516" cy="89154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Rectangle 40"/>
          <p:cNvSpPr/>
          <p:nvPr/>
        </p:nvSpPr>
        <p:spPr>
          <a:xfrm>
            <a:off x="9694834" y="5317236"/>
            <a:ext cx="1774484" cy="640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2" name="TextBox 41"/>
          <p:cNvSpPr txBox="1"/>
          <p:nvPr/>
        </p:nvSpPr>
        <p:spPr>
          <a:xfrm>
            <a:off x="9658258" y="5445252"/>
            <a:ext cx="1847636" cy="52578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Facility dashboards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4" name="TextBox 43"/>
          <p:cNvSpPr txBox="1"/>
          <p:nvPr/>
        </p:nvSpPr>
        <p:spPr>
          <a:xfrm>
            <a:off x="640080" y="6565392"/>
            <a:ext cx="868680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10317175" y="6565392"/>
            <a:ext cx="128016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5  /  17</a:t>
            </a:r>
          </a:p>
        </p:txBody>
      </p:sp>
    </p:spTree>
  </p:cSld>
  <p:transition spd="med">
    <p:fade/>
  </p:transition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92608"/>
            <a:ext cx="9577597" cy="53035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A1F2E"/>
                </a:solidFill>
                <a:latin typeface="Calibri"/>
              </a:rPr>
              <a:t>How we work together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10957255" cy="36576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0">
                <a:solidFill>
                  <a:srgbClr val="52636C"/>
                </a:solidFill>
                <a:latin typeface="Calibri"/>
              </a:rPr>
              <a:t>Five strategic areas of collaboration between Victoria University and FairBanks Medical Centre.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755648"/>
            <a:ext cx="10957255" cy="7040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859536" y="1869948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59536" y="1869948"/>
            <a:ext cx="475488" cy="475488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A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591056" y="1883664"/>
            <a:ext cx="9731959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Student Experiential Learning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591056" y="2157984"/>
            <a:ext cx="9731959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Structured placements across health and related fields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2660904"/>
            <a:ext cx="10957255" cy="7040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59536" y="2775204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59536" y="2775204"/>
            <a:ext cx="475488" cy="475488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B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591056" y="2788920"/>
            <a:ext cx="9731959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Research and Innovation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591056" y="3063240"/>
            <a:ext cx="9731959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Joint studies, publications, and evidence for policy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566160"/>
            <a:ext cx="10957255" cy="7040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859536" y="3680460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859536" y="3680460"/>
            <a:ext cx="475488" cy="475488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C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1591056" y="3694176"/>
            <a:ext cx="9731959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Community Engagement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591056" y="3968496"/>
            <a:ext cx="9731959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Camps, schools, screening, and volunteer programmes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40080" y="4471416"/>
            <a:ext cx="10957255" cy="7040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59536" y="4585716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59536" y="4585716"/>
            <a:ext cx="475488" cy="475488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D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591056" y="4599432"/>
            <a:ext cx="9731959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Digital Health &amp; Innovation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591056" y="4873752"/>
            <a:ext cx="9731959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AI, EMRs, telemedicine, and predictive analytics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376672"/>
            <a:ext cx="10957255" cy="7040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Rounded Rectangle 29"/>
          <p:cNvSpPr/>
          <p:nvPr/>
        </p:nvSpPr>
        <p:spPr>
          <a:xfrm>
            <a:off x="859536" y="5490972"/>
            <a:ext cx="475488" cy="475488"/>
          </a:xfrm>
          <a:prstGeom prst="roundRect">
            <a:avLst>
              <a:gd name="adj" fmla="val 10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59536" y="5490972"/>
            <a:ext cx="475488" cy="475488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FFFFFF"/>
                </a:solidFill>
                <a:latin typeface="Calibri"/>
              </a:rPr>
              <a:t>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591056" y="5504688"/>
            <a:ext cx="9731959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0A1F2E"/>
                </a:solidFill>
                <a:latin typeface="Calibri"/>
              </a:rPr>
              <a:t>Resource Mobilisation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591056" y="5779008"/>
            <a:ext cx="9731959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Shared pursuit of grants and development partnerships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565392"/>
            <a:ext cx="868680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17175" y="6565392"/>
            <a:ext cx="128016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6  /  17</a:t>
            </a:r>
          </a:p>
        </p:txBody>
      </p:sp>
    </p:spTree>
  </p:cSld>
  <p:transition spd="med">
    <p:fade/>
  </p:transition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92608"/>
            <a:ext cx="9577597" cy="53035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100" b="1">
                <a:solidFill>
                  <a:srgbClr val="0A1F2E"/>
                </a:solidFill>
                <a:latin typeface="Calibri"/>
              </a:rPr>
              <a:t>Why Victoria University?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1298448"/>
            <a:ext cx="10957255" cy="5486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0">
                <a:solidFill>
                  <a:srgbClr val="1E2F38"/>
                </a:solidFill>
                <a:latin typeface="Calibri"/>
              </a:rPr>
              <a:t>Victoria University is committed to practical learning, innovation, entrepreneurship, and community transformation — values that closely align with FairBanks Medical Centre.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029967"/>
            <a:ext cx="3481730" cy="4050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749808" y="2194560"/>
            <a:ext cx="73152" cy="3721608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60119" y="2212848"/>
            <a:ext cx="2978810" cy="38404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What the University contributes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670048"/>
            <a:ext cx="3024530" cy="3182112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0">
                <a:solidFill>
                  <a:srgbClr val="1E2F38"/>
                </a:solidFill>
                <a:latin typeface="Calibri"/>
              </a:rPr>
              <a:t>•  Academic expertise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E2F38"/>
                </a:solidFill>
                <a:latin typeface="Calibri"/>
              </a:rPr>
              <a:t>•  Research capacity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E2F38"/>
                </a:solidFill>
                <a:latin typeface="Calibri"/>
              </a:rPr>
              <a:t>•  Student engagement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E2F38"/>
                </a:solidFill>
                <a:latin typeface="Calibri"/>
              </a:rPr>
              <a:t>•  Innovation culture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7842" y="2029967"/>
            <a:ext cx="3481730" cy="4050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87570" y="2194560"/>
            <a:ext cx="73152" cy="37216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697882" y="2212848"/>
            <a:ext cx="2978810" cy="38404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What the University gains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4652162" y="2670048"/>
            <a:ext cx="3024530" cy="3182112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0">
                <a:solidFill>
                  <a:srgbClr val="1E2F38"/>
                </a:solidFill>
                <a:latin typeface="Calibri"/>
              </a:rPr>
              <a:t>•  Real-world experiential learning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E2F38"/>
                </a:solidFill>
                <a:latin typeface="Calibri"/>
              </a:rPr>
              <a:t>•  Applied research environment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E2F38"/>
                </a:solidFill>
                <a:latin typeface="Calibri"/>
              </a:rPr>
              <a:t>•  Community impact pathways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E2F38"/>
                </a:solidFill>
                <a:latin typeface="Calibri"/>
              </a:rPr>
              <a:t>•  Visible institutional leadership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604" y="2029967"/>
            <a:ext cx="3481730" cy="4050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ectangle 17"/>
          <p:cNvSpPr/>
          <p:nvPr/>
        </p:nvSpPr>
        <p:spPr>
          <a:xfrm>
            <a:off x="8225332" y="2194560"/>
            <a:ext cx="73152" cy="3721608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435644" y="2212848"/>
            <a:ext cx="2978810" cy="38404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1">
                <a:solidFill>
                  <a:srgbClr val="0A1F2E"/>
                </a:solidFill>
                <a:latin typeface="Calibri"/>
              </a:rPr>
              <a:t>Proposed role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389924" y="2670048"/>
            <a:ext cx="3024530" cy="3182112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900"/>
              </a:spcAft>
            </a:pPr>
            <a:r>
              <a:rPr sz="1900" b="0">
                <a:solidFill>
                  <a:srgbClr val="1E2F38"/>
                </a:solidFill>
                <a:latin typeface="Calibri"/>
              </a:rPr>
              <a:t>•  Founding academic partner for FCHIP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E2F38"/>
                </a:solidFill>
                <a:latin typeface="Calibri"/>
              </a:rPr>
              <a:t>•  Co-shaper of a national partnership model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E2F38"/>
                </a:solidFill>
                <a:latin typeface="Calibri"/>
              </a:rPr>
              <a:t>•  Bridge between campus and community</a:t>
            </a:r>
          </a:p>
          <a:p>
            <a:pPr algn="l">
              <a:spcAft>
                <a:spcPts val="900"/>
              </a:spcAft>
            </a:pPr>
            <a:r>
              <a:rPr sz="1900" b="0">
                <a:solidFill>
                  <a:srgbClr val="1E2F38"/>
                </a:solidFill>
                <a:latin typeface="Calibri"/>
              </a:rPr>
              <a:t>•  Partner in grants and innovation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0080" y="6565392"/>
            <a:ext cx="868680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0317175" y="6565392"/>
            <a:ext cx="128016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7  /  17</a:t>
            </a:r>
          </a:p>
        </p:txBody>
      </p:sp>
    </p:spTree>
  </p:cSld>
  <p:transition spd="med">
    <p:fade/>
  </p:transition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C45C26"/>
                </a:solidFill>
                <a:latin typeface="Calibri"/>
              </a:rPr>
              <a:t>COLLABORATION 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"/>
            <a:ext cx="9577597" cy="5029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0A1F2E"/>
                </a:solidFill>
                <a:latin typeface="Calibri"/>
              </a:rPr>
              <a:t>Student experiential learning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152144"/>
            <a:ext cx="10957255" cy="32918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Students gain practical experience while contributing to community healthcare.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72768"/>
            <a:ext cx="2547289" cy="21168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1616544" y="1984248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04671" y="2212848"/>
            <a:ext cx="2218105" cy="120243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Nursing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3401" y="1572768"/>
            <a:ext cx="2547289" cy="21168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419866" y="1984248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607993" y="2212848"/>
            <a:ext cx="2218105" cy="120243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Public Health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246723" y="1572768"/>
            <a:ext cx="2547289" cy="21168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223188" y="1984248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11315" y="2212848"/>
            <a:ext cx="2218105" cy="120243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Human Resource Management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9050045" y="1572768"/>
            <a:ext cx="2547289" cy="21168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10026510" y="1984248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214637" y="2212848"/>
            <a:ext cx="2218105" cy="120243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Business Administration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63924"/>
            <a:ext cx="2547289" cy="21168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1616544" y="4375404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04671" y="4604004"/>
            <a:ext cx="2218105" cy="120243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Information Technology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3443401" y="3963924"/>
            <a:ext cx="2547289" cy="21168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4419866" y="4375404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3607993" y="4604004"/>
            <a:ext cx="2218105" cy="120243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Social Work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246723" y="3963924"/>
            <a:ext cx="2547289" cy="21168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223188" y="4375404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11315" y="4604004"/>
            <a:ext cx="2218105" cy="120243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Community Development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9050045" y="3963924"/>
            <a:ext cx="2547289" cy="211683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10026510" y="4375404"/>
            <a:ext cx="594360" cy="64008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9214637" y="4604004"/>
            <a:ext cx="2218105" cy="120243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ctr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Marketing and Communications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565392"/>
            <a:ext cx="868680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17175" y="6565392"/>
            <a:ext cx="128016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8  /  17</a:t>
            </a:r>
          </a:p>
        </p:txBody>
      </p:sp>
    </p:spTree>
  </p:cSld>
  <p:transition spd="med">
    <p:fade/>
  </p:transition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C45C26"/>
                </a:solidFill>
                <a:latin typeface="Calibri"/>
              </a:rPr>
              <a:t>COLLABORATION B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"/>
            <a:ext cx="9577597" cy="5029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0A1F2E"/>
                </a:solidFill>
                <a:latin typeface="Calibri"/>
              </a:rPr>
              <a:t>Research and innovation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152144"/>
            <a:ext cx="10957255" cy="32918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Joint programmes, publications, conferences, and evidence-based policy development.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72768"/>
            <a:ext cx="3481730" cy="1356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04671" y="1755648"/>
            <a:ext cx="73152" cy="99060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05840" y="1755648"/>
            <a:ext cx="2933090" cy="99060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Community Health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7842" y="1572768"/>
            <a:ext cx="3481730" cy="1356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542434" y="1755648"/>
            <a:ext cx="73152" cy="99060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4743602" y="1755648"/>
            <a:ext cx="2933090" cy="99060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Health Systems Strengthening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5604" y="1572768"/>
            <a:ext cx="3481730" cy="1356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8280196" y="1755648"/>
            <a:ext cx="73152" cy="99060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481364" y="1755648"/>
            <a:ext cx="2933090" cy="99060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Artificial Intelligence in Healthcare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148584"/>
            <a:ext cx="3481730" cy="1356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04671" y="3331464"/>
            <a:ext cx="73152" cy="99060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1005840" y="3331464"/>
            <a:ext cx="2933090" cy="99060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Digital Health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7842" y="3148584"/>
            <a:ext cx="3481730" cy="1356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4542434" y="3331464"/>
            <a:ext cx="73152" cy="99060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4743602" y="3331464"/>
            <a:ext cx="2933090" cy="99060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Occupational Burnout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15604" y="3148584"/>
            <a:ext cx="3481730" cy="1356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8280196" y="3331464"/>
            <a:ext cx="73152" cy="99060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481364" y="3331464"/>
            <a:ext cx="2933090" cy="99060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Maternal and Child Health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724400"/>
            <a:ext cx="3481730" cy="1356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804671" y="4907280"/>
            <a:ext cx="73152" cy="99060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05840" y="4907280"/>
            <a:ext cx="2933090" cy="99060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Non-Communicable Diseases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377842" y="4724400"/>
            <a:ext cx="3481730" cy="1356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4542434" y="4907280"/>
            <a:ext cx="73152" cy="99060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4743602" y="4907280"/>
            <a:ext cx="2933090" cy="99060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Preventive Healthcare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8115604" y="4724400"/>
            <a:ext cx="3481730" cy="135636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8280196" y="4907280"/>
            <a:ext cx="73152" cy="99060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8481364" y="4907280"/>
            <a:ext cx="2933090" cy="99060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Healthcare Quality Improvement</a:t>
            </a:r>
          </a:p>
        </p:txBody>
      </p:sp>
      <p:sp>
        <p:nvSpPr>
          <p:cNvPr id="37" name="Rectangle 36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640080" y="6565392"/>
            <a:ext cx="868680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10317175" y="6565392"/>
            <a:ext cx="128016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9  /  17</a:t>
            </a:r>
          </a:p>
        </p:txBody>
      </p:sp>
    </p:spTree>
  </p:cSld>
  <p:transition spd="med">
    <p:fade/>
  </p:transition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C45C26"/>
                </a:solidFill>
                <a:latin typeface="Calibri"/>
              </a:rPr>
              <a:t>COLLABORATION C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"/>
            <a:ext cx="9577597" cy="5029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0A1F2E"/>
                </a:solidFill>
                <a:latin typeface="Calibri"/>
              </a:rPr>
              <a:t>Community engagement through FCHIP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152144"/>
            <a:ext cx="10957255" cy="32918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Measurable social impact with meaningful practical learning.</a:t>
            </a:r>
          </a:p>
        </p:txBody>
      </p:sp>
      <p:pic>
        <p:nvPicPr>
          <p:cNvPr id="10" name="Picture 9" descr="outreach_bp_screening.jpeg"/>
          <p:cNvPicPr>
            <a:picLocks noChangeAspect="1"/>
          </p:cNvPicPr>
          <p:nvPr/>
        </p:nvPicPr>
        <p:blipFill>
          <a:blip r:embed="rId3"/>
          <a:srcRect t="19469" b="19469"/>
          <a:stretch>
            <a:fillRect/>
          </a:stretch>
        </p:blipFill>
        <p:spPr>
          <a:xfrm>
            <a:off x="640080" y="1572768"/>
            <a:ext cx="3481730" cy="1417320"/>
          </a:xfrm>
          <a:prstGeom prst="rect">
            <a:avLst/>
          </a:prstGeom>
        </p:spPr>
      </p:pic>
      <p:pic>
        <p:nvPicPr>
          <p:cNvPr id="11" name="Picture 10" descr="outreach_medical_camp_01.jpg"/>
          <p:cNvPicPr>
            <a:picLocks noChangeAspect="1"/>
          </p:cNvPicPr>
          <p:nvPr/>
        </p:nvPicPr>
        <p:blipFill>
          <a:blip r:embed="rId4"/>
          <a:srcRect t="19452" b="19452"/>
          <a:stretch>
            <a:fillRect/>
          </a:stretch>
        </p:blipFill>
        <p:spPr>
          <a:xfrm>
            <a:off x="4377842" y="1572768"/>
            <a:ext cx="3481730" cy="1417320"/>
          </a:xfrm>
          <a:prstGeom prst="rect">
            <a:avLst/>
          </a:prstGeom>
        </p:spPr>
      </p:pic>
      <p:pic>
        <p:nvPicPr>
          <p:cNvPr id="12" name="Picture 11" descr="outreach_audience_full_group_01.jpg"/>
          <p:cNvPicPr>
            <a:picLocks noChangeAspect="1"/>
          </p:cNvPicPr>
          <p:nvPr/>
        </p:nvPicPr>
        <p:blipFill>
          <a:blip r:embed="rId5"/>
          <a:srcRect t="19469" b="19469"/>
          <a:stretch>
            <a:fillRect/>
          </a:stretch>
        </p:blipFill>
        <p:spPr>
          <a:xfrm>
            <a:off x="8115604" y="1572768"/>
            <a:ext cx="3481730" cy="1417320"/>
          </a:xfrm>
          <a:prstGeom prst="rect">
            <a:avLst/>
          </a:prstGeom>
        </p:spPr>
      </p:pic>
      <p:sp>
        <p:nvSpPr>
          <p:cNvPr id="13" name="Rounded Rectangle 12"/>
          <p:cNvSpPr/>
          <p:nvPr/>
        </p:nvSpPr>
        <p:spPr>
          <a:xfrm>
            <a:off x="640080" y="3282696"/>
            <a:ext cx="3481730" cy="798576"/>
          </a:xfrm>
          <a:prstGeom prst="roundRect">
            <a:avLst>
              <a:gd name="adj" fmla="val 10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22959" y="3374136"/>
            <a:ext cx="3115970" cy="61569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Community medical camps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77842" y="3282696"/>
            <a:ext cx="3481730" cy="798576"/>
          </a:xfrm>
          <a:prstGeom prst="roundRect">
            <a:avLst>
              <a:gd name="adj" fmla="val 10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560722" y="3374136"/>
            <a:ext cx="3115970" cy="61569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School health programmes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115604" y="3282696"/>
            <a:ext cx="3481730" cy="798576"/>
          </a:xfrm>
          <a:prstGeom prst="roundRect">
            <a:avLst>
              <a:gd name="adj" fmla="val 10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298484" y="3374136"/>
            <a:ext cx="3115970" cy="61569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Corporate wellness initiatives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4282440"/>
            <a:ext cx="3481730" cy="7985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22959" y="4373880"/>
            <a:ext cx="3115970" cy="61569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Community disease screening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7842" y="4282440"/>
            <a:ext cx="3481730" cy="7985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560722" y="4373880"/>
            <a:ext cx="3115970" cy="61569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Health promotion campaigns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115604" y="4282440"/>
            <a:ext cx="3481730" cy="798576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98484" y="4373880"/>
            <a:ext cx="3115970" cy="61569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Maternal and child health outreach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82184"/>
            <a:ext cx="3481730" cy="798576"/>
          </a:xfrm>
          <a:prstGeom prst="roundRect">
            <a:avLst>
              <a:gd name="adj" fmla="val 10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22959" y="5373624"/>
            <a:ext cx="3115970" cy="61569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Elderly care programmes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377842" y="5282184"/>
            <a:ext cx="3481730" cy="798576"/>
          </a:xfrm>
          <a:prstGeom prst="roundRect">
            <a:avLst>
              <a:gd name="adj" fmla="val 10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560722" y="5373624"/>
            <a:ext cx="3115970" cy="61569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Student volunteer programmes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8115604" y="5282184"/>
            <a:ext cx="3481730" cy="798576"/>
          </a:xfrm>
          <a:prstGeom prst="roundRect">
            <a:avLst>
              <a:gd name="adj" fmla="val 10000"/>
            </a:avLst>
          </a:prstGeom>
          <a:solidFill>
            <a:srgbClr val="E8F3F2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298484" y="5373624"/>
            <a:ext cx="3115970" cy="615696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0A1F2E"/>
                </a:solidFill>
                <a:latin typeface="Calibri"/>
              </a:rPr>
              <a:t>Community-based research</a:t>
            </a:r>
          </a:p>
        </p:txBody>
      </p:sp>
      <p:sp>
        <p:nvSpPr>
          <p:cNvPr id="31" name="Rectangle 30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640080" y="6565392"/>
            <a:ext cx="868680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10317175" y="6565392"/>
            <a:ext cx="128016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10  /  17</a:t>
            </a:r>
          </a:p>
        </p:txBody>
      </p:sp>
    </p:spTree>
  </p:cSld>
  <p:transition spd="med">
    <p:fade/>
  </p:transition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C45C26"/>
                </a:solidFill>
                <a:latin typeface="Calibri"/>
              </a:rPr>
              <a:t>COLLABORATION 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"/>
            <a:ext cx="9577597" cy="5029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0A1F2E"/>
                </a:solidFill>
                <a:latin typeface="Calibri"/>
              </a:rPr>
              <a:t>Digital health and innovation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152144"/>
            <a:ext cx="10957255" cy="32918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Developing practical healthcare solutions together.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72768"/>
            <a:ext cx="3481730" cy="21259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841247" y="1773936"/>
            <a:ext cx="3079394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868680" y="1984248"/>
            <a:ext cx="302453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Artificial Intelligence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68680" y="2532888"/>
            <a:ext cx="3024530" cy="98298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Applications that support smarter clinical and community decisions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77842" y="1572768"/>
            <a:ext cx="3481730" cy="21259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4579010" y="1773936"/>
            <a:ext cx="3079394" cy="73152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4606442" y="1984248"/>
            <a:ext cx="302453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Electronic Medical Records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06442" y="2532888"/>
            <a:ext cx="3024530" cy="98298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Stronger continuity of care and better clinical information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115604" y="1572768"/>
            <a:ext cx="3481730" cy="21259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8316772" y="1773936"/>
            <a:ext cx="3079394" cy="73152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8344204" y="1984248"/>
            <a:ext cx="302453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Telemedicine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344204" y="2532888"/>
            <a:ext cx="3024530" cy="98298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Care and advice that reach people beyond the facility walls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954780"/>
            <a:ext cx="3481730" cy="21259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841247" y="4155948"/>
            <a:ext cx="3079394" cy="73152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68680" y="4366260"/>
            <a:ext cx="302453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Community Health Information Systems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868680" y="4914900"/>
            <a:ext cx="3024530" cy="98298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Better visibility of community health activity and needs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77842" y="3954780"/>
            <a:ext cx="3481730" cy="21259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ectangle 26"/>
          <p:cNvSpPr/>
          <p:nvPr/>
        </p:nvSpPr>
        <p:spPr>
          <a:xfrm>
            <a:off x="4579010" y="4155948"/>
            <a:ext cx="3079394" cy="73152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606442" y="4366260"/>
            <a:ext cx="302453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Predictive analytics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606442" y="4914900"/>
            <a:ext cx="3024530" cy="98298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Earlier insight for planning and prevention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15604" y="3954780"/>
            <a:ext cx="3481730" cy="21259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ectangle 30"/>
          <p:cNvSpPr/>
          <p:nvPr/>
        </p:nvSpPr>
        <p:spPr>
          <a:xfrm>
            <a:off x="8316772" y="4155948"/>
            <a:ext cx="3079394" cy="73152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8344204" y="4366260"/>
            <a:ext cx="302453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Digital patient engagement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44204" y="4914900"/>
            <a:ext cx="3024530" cy="98298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Clearer communication and follow-up with patients and families</a:t>
            </a:r>
          </a:p>
        </p:txBody>
      </p:sp>
      <p:sp>
        <p:nvSpPr>
          <p:cNvPr id="34" name="Rectangle 33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6565392"/>
            <a:ext cx="868680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10317175" y="6565392"/>
            <a:ext cx="128016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11  /  17</a:t>
            </a:r>
          </a:p>
        </p:txBody>
      </p:sp>
    </p:spTree>
  </p:cSld>
  <p:transition spd="med">
    <p:fade/>
  </p:transition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C45C26"/>
                </a:solidFill>
                <a:latin typeface="Calibri"/>
              </a:rPr>
              <a:t>COLLABORATION 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"/>
            <a:ext cx="9577597" cy="5029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0A1F2E"/>
                </a:solidFill>
                <a:latin typeface="Calibri"/>
              </a:rPr>
              <a:t>Resource mobilisation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152144"/>
            <a:ext cx="10957255" cy="32918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Collaborative proposals improve competitiveness for local and international funding.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72768"/>
            <a:ext cx="3481730" cy="21259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914400" y="1938528"/>
            <a:ext cx="293309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5C26"/>
                </a:solidFill>
                <a:latin typeface="Calibri"/>
              </a:rPr>
              <a:t>01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14400" y="2441448"/>
            <a:ext cx="2933090" cy="10287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Research grants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77842" y="1572768"/>
            <a:ext cx="3481730" cy="21259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4652162" y="1938528"/>
            <a:ext cx="293309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5C26"/>
                </a:solidFill>
                <a:latin typeface="Calibri"/>
              </a:rPr>
              <a:t>02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652162" y="2441448"/>
            <a:ext cx="2933090" cy="10287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Development funding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115604" y="1572768"/>
            <a:ext cx="3481730" cy="21259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389924" y="1938528"/>
            <a:ext cx="293309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5C26"/>
                </a:solidFill>
                <a:latin typeface="Calibri"/>
              </a:rPr>
              <a:t>03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389924" y="2441448"/>
            <a:ext cx="2933090" cy="10287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Innovation grants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40080" y="3954780"/>
            <a:ext cx="3481730" cy="21259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914400" y="4320540"/>
            <a:ext cx="293309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5C26"/>
                </a:solidFill>
                <a:latin typeface="Calibri"/>
              </a:rPr>
              <a:t>04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914400" y="4823460"/>
            <a:ext cx="2933090" cy="10287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Corporate Social Responsibility partnerships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4377842" y="3954780"/>
            <a:ext cx="3481730" cy="21259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4652162" y="4320540"/>
            <a:ext cx="293309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5C26"/>
                </a:solidFill>
                <a:latin typeface="Calibri"/>
              </a:rPr>
              <a:t>05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4652162" y="4823460"/>
            <a:ext cx="2933090" cy="10287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International development partnerships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8115604" y="3954780"/>
            <a:ext cx="3481730" cy="212598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389924" y="4320540"/>
            <a:ext cx="2933090" cy="347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200" b="1">
                <a:solidFill>
                  <a:srgbClr val="C45C26"/>
                </a:solidFill>
                <a:latin typeface="Calibri"/>
              </a:rPr>
              <a:t>06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389924" y="4823460"/>
            <a:ext cx="2933090" cy="10287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Capacity-building programmes</a:t>
            </a:r>
          </a:p>
        </p:txBody>
      </p:sp>
      <p:sp>
        <p:nvSpPr>
          <p:cNvPr id="28" name="Rectangle 27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6565392"/>
            <a:ext cx="868680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10317175" y="6565392"/>
            <a:ext cx="128016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12  /  17</a:t>
            </a:r>
          </a:p>
        </p:txBody>
      </p:sp>
    </p:spTree>
  </p:cSld>
  <p:transition spd="med">
    <p:fade/>
  </p:transition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C45C26"/>
                </a:solidFill>
                <a:latin typeface="Calibri"/>
              </a:rPr>
              <a:t>ECOSYSTEM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"/>
            <a:ext cx="9577597" cy="5029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0A1F2E"/>
                </a:solidFill>
                <a:latin typeface="Calibri"/>
              </a:rPr>
              <a:t>Strategic partnerships and collaborative network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1152144"/>
            <a:ext cx="10957255" cy="329184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000" b="0">
                <a:solidFill>
                  <a:srgbClr val="52636C"/>
                </a:solidFill>
                <a:latin typeface="Calibri"/>
              </a:rPr>
              <a:t>Victoria University as the flagship academic and research partner.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1572768"/>
            <a:ext cx="5350611" cy="78455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86384" y="1719072"/>
            <a:ext cx="73152" cy="491947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87552" y="1664208"/>
            <a:ext cx="4847691" cy="60167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2F38"/>
                </a:solidFill>
                <a:latin typeface="Calibri"/>
              </a:rPr>
              <a:t>Government ministries and public health institutions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246723" y="1572768"/>
            <a:ext cx="5350611" cy="78455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393027" y="1719072"/>
            <a:ext cx="73152" cy="491947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594195" y="1664208"/>
            <a:ext cx="4847691" cy="60167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2F38"/>
                </a:solidFill>
                <a:latin typeface="Calibri"/>
              </a:rPr>
              <a:t>Local government leadership and Village Health Teams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2503627"/>
            <a:ext cx="5350611" cy="78455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86384" y="2649931"/>
            <a:ext cx="73152" cy="491947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87552" y="2595067"/>
            <a:ext cx="4847691" cy="60167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2F38"/>
                </a:solidFill>
                <a:latin typeface="Calibri"/>
              </a:rPr>
              <a:t>Health insurance providers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46723" y="2503627"/>
            <a:ext cx="5350611" cy="78455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393027" y="2649931"/>
            <a:ext cx="73152" cy="491947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594195" y="2595067"/>
            <a:ext cx="4847691" cy="60167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2F38"/>
                </a:solidFill>
                <a:latin typeface="Calibri"/>
              </a:rPr>
              <a:t>Specialist healthcare professionals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434486"/>
            <a:ext cx="5350611" cy="78455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86384" y="3580790"/>
            <a:ext cx="73152" cy="491947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987552" y="3525926"/>
            <a:ext cx="4847691" cy="60167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2F38"/>
                </a:solidFill>
                <a:latin typeface="Calibri"/>
              </a:rPr>
              <a:t>Schools and educational institutions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246723" y="3434486"/>
            <a:ext cx="5350611" cy="78455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393027" y="3580790"/>
            <a:ext cx="73152" cy="491947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6594195" y="3525926"/>
            <a:ext cx="4847691" cy="60167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2F38"/>
                </a:solidFill>
                <a:latin typeface="Calibri"/>
              </a:rPr>
              <a:t>Faith-based and community organisations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365345"/>
            <a:ext cx="5350611" cy="78455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ectangle 28"/>
          <p:cNvSpPr/>
          <p:nvPr/>
        </p:nvSpPr>
        <p:spPr>
          <a:xfrm>
            <a:off x="786384" y="4511649"/>
            <a:ext cx="73152" cy="491947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87552" y="4456785"/>
            <a:ext cx="4847691" cy="60167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2F38"/>
                </a:solidFill>
                <a:latin typeface="Calibri"/>
              </a:rPr>
              <a:t>Corporate organisations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6246723" y="4365345"/>
            <a:ext cx="5350611" cy="78455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Rectangle 31"/>
          <p:cNvSpPr/>
          <p:nvPr/>
        </p:nvSpPr>
        <p:spPr>
          <a:xfrm>
            <a:off x="6393027" y="4511649"/>
            <a:ext cx="73152" cy="491947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6594195" y="4456785"/>
            <a:ext cx="4847691" cy="60167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2F38"/>
                </a:solidFill>
                <a:latin typeface="Calibri"/>
              </a:rPr>
              <a:t>Media partners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5296204"/>
            <a:ext cx="5350611" cy="78455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ectangle 34"/>
          <p:cNvSpPr/>
          <p:nvPr/>
        </p:nvSpPr>
        <p:spPr>
          <a:xfrm>
            <a:off x="786384" y="5442508"/>
            <a:ext cx="73152" cy="491947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987552" y="5387644"/>
            <a:ext cx="4847691" cy="60167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2F38"/>
                </a:solidFill>
                <a:latin typeface="Calibri"/>
              </a:rPr>
              <a:t>National and international development partners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6246723" y="5296204"/>
            <a:ext cx="5350611" cy="784555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Rectangle 37"/>
          <p:cNvSpPr/>
          <p:nvPr/>
        </p:nvSpPr>
        <p:spPr>
          <a:xfrm>
            <a:off x="6393027" y="5442508"/>
            <a:ext cx="73152" cy="491947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6594195" y="5387644"/>
            <a:ext cx="4847691" cy="601675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1">
                <a:solidFill>
                  <a:srgbClr val="1E2F38"/>
                </a:solidFill>
                <a:latin typeface="Calibri"/>
              </a:rPr>
              <a:t>Philanthropic foundations and research institutions</a:t>
            </a:r>
          </a:p>
        </p:txBody>
      </p:sp>
      <p:sp>
        <p:nvSpPr>
          <p:cNvPr id="40" name="Rectangle 39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6565392"/>
            <a:ext cx="868680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10317175" y="6565392"/>
            <a:ext cx="128016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13  /  17</a:t>
            </a:r>
          </a:p>
        </p:txBody>
      </p:sp>
    </p:spTree>
  </p:cSld>
  <p:transition spd="med">
    <p:fade/>
  </p:transition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C45C26"/>
                </a:solidFill>
                <a:latin typeface="Calibri"/>
              </a:rPr>
              <a:t>IMPACT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"/>
            <a:ext cx="9577597" cy="5029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0A1F2E"/>
                </a:solidFill>
                <a:latin typeface="Calibri"/>
              </a:rPr>
              <a:t>Expected outcomes of the partnership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98448"/>
            <a:ext cx="3481730" cy="1459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96112" y="1527048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45C26"/>
                </a:solidFill>
                <a:latin typeface="Calibri"/>
              </a:rPr>
              <a:t>01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896112" y="1865376"/>
            <a:ext cx="2969666" cy="728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Improve access to quality primary healthcare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4377842" y="1298448"/>
            <a:ext cx="3481730" cy="1459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4633874" y="1527048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45C26"/>
                </a:solidFill>
                <a:latin typeface="Calibri"/>
              </a:rPr>
              <a:t>02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633874" y="1865376"/>
            <a:ext cx="2969666" cy="728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Strengthen preventive healthcare programmes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115604" y="1298448"/>
            <a:ext cx="3481730" cy="1459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8371636" y="1527048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45C26"/>
                </a:solidFill>
                <a:latin typeface="Calibri"/>
              </a:rPr>
              <a:t>03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71636" y="1865376"/>
            <a:ext cx="2969666" cy="728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Expand experiential learning opportunities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0080" y="2959607"/>
            <a:ext cx="3481730" cy="1459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96112" y="3188207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45C26"/>
                </a:solidFill>
                <a:latin typeface="Calibri"/>
              </a:rPr>
              <a:t>04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96112" y="3526536"/>
            <a:ext cx="2969666" cy="728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Increase community-based research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377842" y="2959607"/>
            <a:ext cx="3481730" cy="1459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4633874" y="3188207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45C26"/>
                </a:solidFill>
                <a:latin typeface="Calibri"/>
              </a:rPr>
              <a:t>05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633874" y="3526536"/>
            <a:ext cx="2969666" cy="728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Promote healthcare innovation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8115604" y="2959607"/>
            <a:ext cx="3481730" cy="1459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8371636" y="3188207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45C26"/>
                </a:solidFill>
                <a:latin typeface="Calibri"/>
              </a:rPr>
              <a:t>06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371636" y="3526536"/>
            <a:ext cx="2969666" cy="728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Strengthen graduate employability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0080" y="4620767"/>
            <a:ext cx="3481730" cy="1459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896112" y="4849367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45C26"/>
                </a:solidFill>
                <a:latin typeface="Calibri"/>
              </a:rPr>
              <a:t>07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96112" y="5187696"/>
            <a:ext cx="2969666" cy="728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Enhance institutional visibility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4377842" y="4620767"/>
            <a:ext cx="3481730" cy="1459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4633874" y="4849367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45C26"/>
                </a:solidFill>
                <a:latin typeface="Calibri"/>
              </a:rPr>
              <a:t>08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4633874" y="5187696"/>
            <a:ext cx="2969666" cy="728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Mobilise sustainable development partnerships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8115604" y="4620767"/>
            <a:ext cx="3481730" cy="14599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8371636" y="4849367"/>
            <a:ext cx="2969666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45C26"/>
                </a:solidFill>
                <a:latin typeface="Calibri"/>
              </a:rPr>
              <a:t>09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71636" y="5187696"/>
            <a:ext cx="2969666" cy="72847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0A1F2E"/>
                </a:solidFill>
                <a:latin typeface="Calibri"/>
              </a:rPr>
              <a:t>Improve health outcomes in surrounding communities</a:t>
            </a:r>
          </a:p>
        </p:txBody>
      </p:sp>
      <p:sp>
        <p:nvSpPr>
          <p:cNvPr id="36" name="Rectangle 35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40080" y="6565392"/>
            <a:ext cx="868680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10317175" y="6565392"/>
            <a:ext cx="128016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14  /  17</a:t>
            </a:r>
          </a:p>
        </p:txBody>
      </p:sp>
    </p:spTree>
  </p:cSld>
  <p:transition spd="med">
    <p:fade/>
  </p:transition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C45C26"/>
                </a:solidFill>
                <a:latin typeface="Calibri"/>
              </a:rPr>
              <a:t>IMPLEMENTATION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"/>
            <a:ext cx="9577597" cy="5029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0A1F2E"/>
                </a:solidFill>
                <a:latin typeface="Calibri"/>
              </a:rPr>
              <a:t>Proposed roadmap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98448"/>
            <a:ext cx="2567863" cy="4782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40080" y="1298448"/>
            <a:ext cx="2567863" cy="914400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22959" y="1463039"/>
            <a:ext cx="2202103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Phase I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2959" y="1755648"/>
            <a:ext cx="2202103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Foundation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04671" y="2441448"/>
            <a:ext cx="2238679" cy="3456432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Introductory planning meeting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Joint Technical Working Group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36543" y="1298448"/>
            <a:ext cx="2567863" cy="4782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3436543" y="1298448"/>
            <a:ext cx="2567863" cy="914400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3619423" y="1463039"/>
            <a:ext cx="2202103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Phase II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3619423" y="1755648"/>
            <a:ext cx="2202103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Formalisation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601135" y="2441448"/>
            <a:ext cx="2238679" cy="3456432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Sign Memorandum of Understanding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Identify priority pilot projects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3007" y="1298448"/>
            <a:ext cx="2567863" cy="4782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233007" y="1298448"/>
            <a:ext cx="2567863" cy="914400"/>
          </a:xfrm>
          <a:prstGeom prst="rect">
            <a:avLst/>
          </a:prstGeom>
          <a:solidFill>
            <a:srgbClr val="2D7A55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6415887" y="1463039"/>
            <a:ext cx="2202103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Phase III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415887" y="1755648"/>
            <a:ext cx="2202103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Delivery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397599" y="2441448"/>
            <a:ext cx="2238679" cy="3456432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Student placements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Joint research and outreach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Innovation and grant development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29471" y="1298448"/>
            <a:ext cx="2567863" cy="478231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9029471" y="1298448"/>
            <a:ext cx="2567863" cy="9144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9212351" y="1463039"/>
            <a:ext cx="2202103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Phase IV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212351" y="1755648"/>
            <a:ext cx="2202103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Learning and scale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94063" y="2441448"/>
            <a:ext cx="2238679" cy="3456432"/>
          </a:xfrm>
          <a:prstGeom prst="rect">
            <a:avLst/>
          </a:prstGeom>
          <a:noFill/>
        </p:spPr>
        <p:txBody>
          <a:bodyPr wrap="square" lIns="25000" rIns="25000" tIns="8000" bIns="8000">
            <a:spAutoFit/>
          </a:bodyPr>
          <a:lstStyle/>
          <a:p>
            <a:pPr algn="l">
              <a:spcAft>
                <a:spcPts val="10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Monitoring and evaluation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Document lessons</a:t>
            </a:r>
          </a:p>
          <a:p>
            <a:pPr algn="l">
              <a:spcAft>
                <a:spcPts val="1000"/>
              </a:spcAft>
            </a:pPr>
            <a:r>
              <a:rPr sz="1600" b="0">
                <a:solidFill>
                  <a:srgbClr val="1E2F38"/>
                </a:solidFill>
                <a:latin typeface="Calibri"/>
              </a:rPr>
              <a:t>•  Expand and replicate</a:t>
            </a:r>
          </a:p>
        </p:txBody>
      </p:sp>
      <p:sp>
        <p:nvSpPr>
          <p:cNvPr id="29" name="Rectangle 28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0080" y="6565392"/>
            <a:ext cx="868680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17175" y="6565392"/>
            <a:ext cx="128016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15  /  17</a:t>
            </a:r>
          </a:p>
        </p:txBody>
      </p:sp>
    </p:spTree>
  </p:cSld>
  <p:transition spd="med">
    <p:fade/>
  </p:transition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7F5F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1695" cy="54864"/>
          </a:xfrm>
          <a:prstGeom prst="rect">
            <a:avLst/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54864"/>
            <a:ext cx="73152" cy="6803136"/>
          </a:xfrm>
          <a:prstGeom prst="rect">
            <a:avLst/>
          </a:prstGeom>
          <a:solidFill>
            <a:srgbClr val="C45C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10647445" y="292608"/>
            <a:ext cx="1023041" cy="475488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6" name="Picture 5" descr="fairbanks_logo.jpe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720597" y="365760"/>
            <a:ext cx="876738" cy="329184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640080" y="256032"/>
            <a:ext cx="9577597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C45C26"/>
                </a:solidFill>
                <a:latin typeface="Calibri"/>
              </a:rPr>
              <a:t>LOOKING AHEAD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0352"/>
            <a:ext cx="9577597" cy="5029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900" b="1">
                <a:solidFill>
                  <a:srgbClr val="0A1F2E"/>
                </a:solidFill>
                <a:latin typeface="Calibri"/>
              </a:rPr>
              <a:t>Long-term vision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1298448"/>
            <a:ext cx="6355208" cy="2011680"/>
          </a:xfrm>
          <a:prstGeom prst="roundRect">
            <a:avLst>
              <a:gd name="adj" fmla="val 10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05840" y="1618488"/>
            <a:ext cx="5623688" cy="1371600"/>
          </a:xfrm>
          <a:prstGeom prst="rect">
            <a:avLst/>
          </a:prstGeom>
          <a:noFill/>
        </p:spPr>
        <p:txBody>
          <a:bodyPr wrap="square" lIns="20000" rIns="20000" tIns="8000" bIns="8000" anchor="ctr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900" b="1">
                <a:solidFill>
                  <a:srgbClr val="FFFFFF"/>
                </a:solidFill>
                <a:latin typeface="Calibri"/>
              </a:rPr>
              <a:t>Establish FCHIP as Uganda's leading University–Community Health Partnership Model — showing how academia, healthcare providers, government, development partners, and communities can work together to improve lives.</a:t>
            </a:r>
          </a:p>
        </p:txBody>
      </p:sp>
      <p:pic>
        <p:nvPicPr>
          <p:cNvPr id="11" name="Picture 10" descr="reception_mission_wall.jpeg"/>
          <p:cNvPicPr>
            <a:picLocks noChangeAspect="1"/>
          </p:cNvPicPr>
          <p:nvPr/>
        </p:nvPicPr>
        <p:blipFill>
          <a:blip r:embed="rId3"/>
          <a:srcRect t="15284" b="15284"/>
          <a:stretch>
            <a:fillRect/>
          </a:stretch>
        </p:blipFill>
        <p:spPr>
          <a:xfrm>
            <a:off x="7251320" y="1298448"/>
            <a:ext cx="4346015" cy="2011680"/>
          </a:xfrm>
          <a:prstGeom prst="rect">
            <a:avLst/>
          </a:prstGeom>
        </p:spPr>
      </p:pic>
      <p:sp>
        <p:nvSpPr>
          <p:cNvPr id="12" name="Rounded Rectangle 11"/>
          <p:cNvSpPr/>
          <p:nvPr/>
        </p:nvSpPr>
        <p:spPr>
          <a:xfrm>
            <a:off x="640080" y="3566160"/>
            <a:ext cx="5350611" cy="2514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914400" y="3840480"/>
            <a:ext cx="4847691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45C26"/>
                </a:solidFill>
                <a:latin typeface="Calibri"/>
              </a:rPr>
              <a:t>For FairBanks Medical Centre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14400" y="4251960"/>
            <a:ext cx="4847691" cy="1600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A living laboratory for education, research, innovation, and community service.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246723" y="3566160"/>
            <a:ext cx="5350611" cy="2514600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521043" y="3840480"/>
            <a:ext cx="4847691" cy="292608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700" b="1">
                <a:solidFill>
                  <a:srgbClr val="C45C26"/>
                </a:solidFill>
                <a:latin typeface="Calibri"/>
              </a:rPr>
              <a:t>For Victoria University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521043" y="4251960"/>
            <a:ext cx="4847691" cy="1600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0A1F2E"/>
                </a:solidFill>
                <a:latin typeface="Calibri"/>
              </a:rPr>
              <a:t>Stronger leadership in experiential learning, applied research, and social impact — with lessons that can be replicated across Uganda.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6492240"/>
            <a:ext cx="10957255" cy="10972"/>
          </a:xfrm>
          <a:prstGeom prst="rect">
            <a:avLst/>
          </a:prstGeom>
          <a:solidFill>
            <a:srgbClr val="CED9D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40080" y="6565392"/>
            <a:ext cx="868680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FairBanks Medical Centre  ·  Your health, our mission.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0317175" y="6565392"/>
            <a:ext cx="1280160" cy="256032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r">
              <a:spcBef>
                <a:spcPts val="0"/>
              </a:spcBef>
              <a:spcAft>
                <a:spcPts val="0"/>
              </a:spcAft>
            </a:pPr>
            <a:r>
              <a:rPr sz="1600" b="0">
                <a:solidFill>
                  <a:srgbClr val="52636C"/>
                </a:solidFill>
                <a:latin typeface="Calibri"/>
              </a:rPr>
              <a:t>16  /  17</a:t>
            </a:r>
          </a:p>
        </p:txBody>
      </p:sp>
    </p:spTree>
  </p:cSld>
  <p:transition spd="med">
    <p:fade/>
  </p:transition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3" name="Picture 2" descr="facility_exterior_branded_entrance_02.jpeg"/>
          <p:cNvPicPr>
            <a:picLocks noChangeAspect="1"/>
          </p:cNvPicPr>
          <p:nvPr/>
        </p:nvPicPr>
        <p:blipFill>
          <a:blip r:embed="rId2"/>
          <a:srcRect t="12499" b="12499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4" name="Rectangle 3"/>
          <p:cNvSpPr/>
          <p:nvPr/>
        </p:nvSpPr>
        <p:spPr>
          <a:xfrm>
            <a:off x="0" y="0"/>
            <a:ext cx="7178040" cy="6858000"/>
          </a:xfrm>
          <a:prstGeom prst="rect">
            <a:avLst/>
          </a:prstGeom>
          <a:solidFill>
            <a:srgbClr val="0A1F2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178040" y="0"/>
            <a:ext cx="109728" cy="6858000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ounded Rectangle 5"/>
          <p:cNvSpPr/>
          <p:nvPr/>
        </p:nvSpPr>
        <p:spPr>
          <a:xfrm>
            <a:off x="429768" y="246887"/>
            <a:ext cx="1023041" cy="621792"/>
          </a:xfrm>
          <a:prstGeom prst="roundRect">
            <a:avLst>
              <a:gd name="adj" fmla="val 10000"/>
            </a:avLst>
          </a:prstGeom>
          <a:solidFill>
            <a:srgbClr val="FFFFFF"/>
          </a:solidFill>
          <a:ln>
            <a:solidFill>
              <a:srgbClr val="CED9D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pic>
        <p:nvPicPr>
          <p:cNvPr id="7" name="Picture 6" descr="fairbanks_logo.jpe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320040"/>
            <a:ext cx="1266399" cy="475488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1051560"/>
            <a:ext cx="6400800" cy="32004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99A2B"/>
                </a:solidFill>
                <a:latin typeface="Calibri"/>
              </a:rPr>
              <a:t>INVITATION TO PARTNER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417320"/>
            <a:ext cx="6400800" cy="36576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0D6E6E"/>
                </a:solidFill>
                <a:latin typeface="Calibri"/>
              </a:rPr>
              <a:t>FairBanks Medical Centre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1965960"/>
            <a:ext cx="640080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Calibri"/>
              </a:rPr>
              <a:t>Together, we can build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02920" y="2423160"/>
            <a:ext cx="640080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FFFFFF"/>
                </a:solidFill>
                <a:latin typeface="Calibri"/>
              </a:rPr>
              <a:t>healthier communities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02920" y="2880360"/>
            <a:ext cx="6400800" cy="4572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3300" b="1">
                <a:solidFill>
                  <a:srgbClr val="D99A2B"/>
                </a:solidFill>
                <a:latin typeface="Calibri"/>
              </a:rPr>
              <a:t>and stronger professionals.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02920" y="3429000"/>
            <a:ext cx="2194560" cy="64008"/>
          </a:xfrm>
          <a:prstGeom prst="rect">
            <a:avLst/>
          </a:prstGeom>
          <a:solidFill>
            <a:srgbClr val="D99A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502920" y="3657600"/>
            <a:ext cx="6400800" cy="68580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D4E8DC"/>
                </a:solidFill>
                <a:latin typeface="Calibri"/>
              </a:rPr>
              <a:t>FairBanks Medical Centre invites Victoria University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2000" b="0">
                <a:solidFill>
                  <a:srgbClr val="D4E8DC"/>
                </a:solidFill>
                <a:latin typeface="Calibri"/>
              </a:rPr>
              <a:t>to join as a strategic partner in advancing FCHIP.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02920" y="4434840"/>
            <a:ext cx="6400800" cy="36576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2300" b="1">
                <a:solidFill>
                  <a:srgbClr val="D99A2B"/>
                </a:solidFill>
                <a:latin typeface="Calibri"/>
              </a:rPr>
              <a:t>Your health, our mission.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02920" y="4983480"/>
            <a:ext cx="6309360" cy="1417320"/>
          </a:xfrm>
          <a:prstGeom prst="roundRect">
            <a:avLst>
              <a:gd name="adj" fmla="val 10000"/>
            </a:avLst>
          </a:prstGeom>
          <a:solidFill>
            <a:srgbClr val="0D6E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31520" y="5166360"/>
            <a:ext cx="5852160" cy="2743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spcBef>
                <a:spcPts val="0"/>
              </a:spcBef>
              <a:spcAft>
                <a:spcPts val="0"/>
              </a:spcAft>
            </a:pPr>
            <a:r>
              <a:rPr sz="1800" b="1">
                <a:solidFill>
                  <a:srgbClr val="D99A2B"/>
                </a:solidFill>
                <a:latin typeface="Calibri"/>
              </a:rPr>
              <a:t>Institutional contact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31520" y="5532120"/>
            <a:ext cx="5852160" cy="731520"/>
          </a:xfrm>
          <a:prstGeom prst="rect">
            <a:avLst/>
          </a:prstGeom>
          <a:noFill/>
        </p:spPr>
        <p:txBody>
          <a:bodyPr wrap="square" lIns="20000" rIns="20000" tIns="8000" bIns="800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Calibri"/>
              </a:rPr>
              <a:t>Kyebando–Kisalosalo, Tirupati Road, Kampala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Calibri"/>
              </a:rPr>
              <a:t>info@fairbanksmedicalcentre.org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600"/>
              </a:spcAft>
            </a:pPr>
            <a:r>
              <a:rPr sz="1900" b="0">
                <a:solidFill>
                  <a:srgbClr val="FFFFFF"/>
                </a:solidFill>
                <a:latin typeface="Calibri"/>
              </a:rPr>
              <a:t>fairbanksmedicalcentre.org</a:t>
            </a:r>
          </a:p>
        </p:txBody>
      </p:sp>
    </p:spTree>
  </p:cSld>
  <p:transition spd="med">
    <p:fade/>
  </p:transition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