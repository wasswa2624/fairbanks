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1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55448"/>
            <a:ext cx="1023041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8600"/>
            <a:ext cx="1266399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14400"/>
            <a:ext cx="649224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9A2B"/>
                </a:solidFill>
                <a:latin typeface="Calibri"/>
              </a:rPr>
              <a:t>STRATEGIC INSTITUTIONAL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6492240" cy="43891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6492240" cy="7132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University–Community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6492240" cy="7132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D99A2B"/>
                </a:solidFill>
                <a:latin typeface="Calibri"/>
              </a:rPr>
              <a:t>Partnership Proposal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94760"/>
            <a:ext cx="2926080" cy="9144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23360"/>
            <a:ext cx="6492240" cy="43891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E8DC"/>
                </a:solidFill>
                <a:latin typeface="Calibri"/>
              </a:rPr>
              <a:t>Building the FairBanks Community Health Improvement Programme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6492240" cy="4114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9A2B"/>
                </a:solidFill>
                <a:latin typeface="Calibri"/>
              </a:rPr>
              <a:t>(FCHIP) with Victoria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66360"/>
            <a:ext cx="649224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852160"/>
            <a:ext cx="7223760" cy="10058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989320"/>
            <a:ext cx="649224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Prepared for Victoria University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649224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Kyebando–Kisalosalo, Kampala  ·  Institutional briefing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852160"/>
            <a:ext cx="7223760" cy="10058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989320"/>
            <a:ext cx="649224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Prepared for Victoria University leadership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649224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Kyebando–Kisalosalo, Kampala  ·  Institutional briefing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Slide 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5318607" cy="98526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1" y="1572768"/>
            <a:ext cx="73152" cy="58293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81353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681353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Executive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1371600"/>
            <a:ext cx="5318607" cy="98526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3319" y="1572768"/>
            <a:ext cx="73152" cy="58293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4487" y="1681353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6007" y="1681353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12898"/>
            <a:ext cx="5318607" cy="98526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" y="2814066"/>
            <a:ext cx="73152" cy="58293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922651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922651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What FCHIP 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2612898"/>
            <a:ext cx="5318607" cy="98526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3319" y="2814066"/>
            <a:ext cx="73152" cy="58293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4487" y="2922651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2922651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Why Victoria University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54196"/>
            <a:ext cx="5318607" cy="98526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1" y="4055363"/>
            <a:ext cx="73152" cy="58293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163949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163949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Five areas of collaboration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8727" y="3854196"/>
            <a:ext cx="5318607" cy="98526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3319" y="4055363"/>
            <a:ext cx="73152" cy="58293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4487" y="4163949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6007" y="4163949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Partnership network and outcomes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095494"/>
            <a:ext cx="5318607" cy="98526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1" y="5296662"/>
            <a:ext cx="73152" cy="58293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405247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5405247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Roadmap and long-term vision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78727" y="5095494"/>
            <a:ext cx="5318607" cy="98526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3319" y="5296662"/>
            <a:ext cx="73152" cy="58293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4487" y="5405247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76007" y="5405247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Invitation to partner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2  /  17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 strategic partnership for health, learning,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0957255" cy="6858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FairBanks Medical Centre proposes a strategic partnership with Victoria University to integrate healthcare service delivery, academic excellence, research, innovation, and community engagement.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0957255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" y="2240280"/>
            <a:ext cx="73152" cy="8412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258568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FCHIP at the centre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271455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The FairBanks Community Health Improvement Programme is the flagship platform for preventive care, outreach, research, skills development, and partnerships.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65576"/>
            <a:ext cx="10957255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" y="3648456"/>
            <a:ext cx="73152" cy="8412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666744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Shared strengths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032504"/>
            <a:ext cx="10271455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Victoria University brings education, innovation, and research. FairBanks brings a practical healthcare platform and community presence.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73752"/>
            <a:ext cx="10957255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" y="5056632"/>
            <a:ext cx="73152" cy="84124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Shared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440680"/>
            <a:ext cx="10271455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Build a replicable University–Community Health Partnership Model that advances healthcare, education, innovation, and sustainable development in Uganda.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3  /  17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WHO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6309360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1508760"/>
            <a:ext cx="566928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Community-based primary healthcare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1874519"/>
            <a:ext cx="566928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2286000"/>
            <a:ext cx="5669280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Located in Kyebando–Kisalosalo, Kampala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Accessible, affordable, quality healthcare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Strong focus on preventive health and community well-being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Committed to social determinants of health through partnerships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Active in innovation, research, and community engagement</a:t>
            </a:r>
          </a:p>
        </p:txBody>
      </p:sp>
      <p:pic>
        <p:nvPicPr>
          <p:cNvPr id="13" name="Picture 12" descr="facility_exterior_entrance_01.jpg"/>
          <p:cNvPicPr>
            <a:picLocks noChangeAspect="1"/>
          </p:cNvPicPr>
          <p:nvPr/>
        </p:nvPicPr>
        <p:blipFill>
          <a:blip r:embed="rId3"/>
          <a:srcRect t="1802" b="1802"/>
          <a:stretch>
            <a:fillRect/>
          </a:stretch>
        </p:blipFill>
        <p:spPr>
          <a:xfrm>
            <a:off x="7223760" y="1234440"/>
            <a:ext cx="4373575" cy="281086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23760" y="4209897"/>
            <a:ext cx="4373575" cy="1870862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4438497"/>
            <a:ext cx="391637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9A2B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804257"/>
            <a:ext cx="3916375" cy="109362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 trusted community health home — care close to where families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4  /  17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What is FCHIP?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10957255" cy="2148840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463040"/>
            <a:ext cx="1022573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9A2B"/>
                </a:solidFill>
                <a:latin typeface="Calibri"/>
              </a:rPr>
              <a:t>FCHIP stands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783080"/>
            <a:ext cx="10225735" cy="4114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FairBanks Community Health Improvement Programme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31720"/>
            <a:ext cx="10225735" cy="8686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It is FairBanks Medical Centre's flagship community programme — run through the FairBanks Social Enterprise. FCHIP brings healthcare closer to families by combining preventive care, outreach, education, research, skills development, and partnerships with universities, government, and community partners.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84448"/>
            <a:ext cx="109572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What FCHIP focuses 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" y="4059935"/>
            <a:ext cx="1774484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224528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71764" y="3931920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99780" y="4059935"/>
            <a:ext cx="1774484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1492" y="4224528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 outreach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03449" y="3931920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31465" y="4059935"/>
            <a:ext cx="1774484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3177" y="4224528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Health education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35133" y="3931920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63149" y="4059935"/>
            <a:ext cx="1774484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44861" y="4224528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Early disease detection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66818" y="3931920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4834" y="4059935"/>
            <a:ext cx="1774484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6546" y="4224528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088636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5216651"/>
            <a:ext cx="1774484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81244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NCD prevention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71764" y="5088636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99780" y="5216651"/>
            <a:ext cx="1774484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81492" y="5381244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Elderly care &amp; healthy ageing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03449" y="5088636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31465" y="5216651"/>
            <a:ext cx="1774484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3177" y="5381244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35133" y="5088636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3149" y="5216651"/>
            <a:ext cx="1774484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44861" y="5381244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Digital health innovation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66818" y="5088636"/>
            <a:ext cx="2030516" cy="9921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94834" y="5216651"/>
            <a:ext cx="1774484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76546" y="5381244"/>
            <a:ext cx="1811060" cy="580644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Skills &amp; student learning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5  /  17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STRATEGIC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Why Victoria University?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0957255" cy="5486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Victoria University is committed to practical learning, innovation, entrepreneurship, and community transformation — values that closely align with FairBanks Medical Centre.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48173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130552"/>
            <a:ext cx="73152" cy="378561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167128"/>
            <a:ext cx="297881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What the University contributes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06040"/>
            <a:ext cx="3024530" cy="324612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Academic expertise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Research capacity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Student engagement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Innovation culture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842" y="1965960"/>
            <a:ext cx="348173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7570" y="2130552"/>
            <a:ext cx="73152" cy="378561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7882" y="2167128"/>
            <a:ext cx="297881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What the University gains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2162" y="2606040"/>
            <a:ext cx="3024530" cy="324612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Real-world experiential learning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Applied research environment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Community impact pathways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Visible institutional leadership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5604" y="1965960"/>
            <a:ext cx="348173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5332" y="2130552"/>
            <a:ext cx="73152" cy="3785615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5644" y="2167128"/>
            <a:ext cx="297881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Proposed 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9924" y="2606040"/>
            <a:ext cx="3024530" cy="324612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Founding academic partner for FCHIP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Co-shaper of a national partnership model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Bridge between campus and community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Partner in grants and innovation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6  /  17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HOW WE WORK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Five strategic areas of collaboration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137160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371600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380744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91056" y="1691640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Structured placements across health and related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258568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" y="239572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395728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1056" y="2404872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715768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Joint studies, publications, and evidence for 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82696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" y="34198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419856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1056" y="3429000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Community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1056" y="3739896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Camps, schools, screening, and volunteer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306824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536" y="444398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443984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1056" y="4453128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Digital Health &amp; Innovation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1056" y="4764024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AI, EMRs, telemedicine, and predictive analytics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330952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9536" y="5468112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468112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1056" y="5477256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91056" y="5788152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Shared pursuit of grants and development partnerships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7  /  17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78992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Students gain practical experience while contributing to community healthcare.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6544" y="192024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148839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Nursing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3401" y="150876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866" y="192024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7993" y="2148839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Public Health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6723" y="150876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23188" y="192024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1315" y="2148839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Human Resource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0045" y="150876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6510" y="192024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4637" y="2148839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Business Administration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16544" y="434340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4572000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Information Technology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3401" y="393192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9866" y="434340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7993" y="4572000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Social 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6723" y="393192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188" y="434340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1315" y="4572000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Development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0045" y="393192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6510" y="434340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14637" y="4572000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Marketing and Communications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8  /  17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78992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Joint programmes, publications, conferences, and evidence-based policy development.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" y="1691639"/>
            <a:ext cx="73152" cy="101193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39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508760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42434" y="1691639"/>
            <a:ext cx="73152" cy="101193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3602" y="1691639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Health Systems Strengthening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5604" y="1508760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0196" y="1691639"/>
            <a:ext cx="73152" cy="101193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1364" y="1691639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Artificial Intelligence in Healthcare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05912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" y="3288792"/>
            <a:ext cx="73152" cy="101193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288792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Digital 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7842" y="3105912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42434" y="3288792"/>
            <a:ext cx="73152" cy="101193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602" y="3288792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Occupational Burnout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5604" y="3105912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80196" y="3288792"/>
            <a:ext cx="73152" cy="101193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1364" y="3288792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703063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1" y="4885944"/>
            <a:ext cx="73152" cy="1011935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885944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Non-Communicable Diseases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7842" y="4703063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42434" y="4885944"/>
            <a:ext cx="73152" cy="1011935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43602" y="4885944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15604" y="4703063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80196" y="4885944"/>
            <a:ext cx="73152" cy="1011935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81364" y="4885944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Healthcare Quality Improvement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9  /  17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Community engagement through FCHIP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78992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Measurable social impact with meaningful practical learning.</a:t>
            </a:r>
          </a:p>
        </p:txBody>
      </p:sp>
      <p:pic>
        <p:nvPicPr>
          <p:cNvPr id="10" name="Picture 9" descr="outreach_bp_screening.jpeg"/>
          <p:cNvPicPr>
            <a:picLocks noChangeAspect="1"/>
          </p:cNvPicPr>
          <p:nvPr/>
        </p:nvPicPr>
        <p:blipFill>
          <a:blip r:embed="rId3"/>
          <a:srcRect t="19469" b="19469"/>
          <a:stretch>
            <a:fillRect/>
          </a:stretch>
        </p:blipFill>
        <p:spPr>
          <a:xfrm>
            <a:off x="640080" y="1508760"/>
            <a:ext cx="3481730" cy="1417320"/>
          </a:xfrm>
          <a:prstGeom prst="rect">
            <a:avLst/>
          </a:prstGeom>
        </p:spPr>
      </p:pic>
      <p:pic>
        <p:nvPicPr>
          <p:cNvPr id="11" name="Picture 10" descr="outreach_medical_camp_01.jpg"/>
          <p:cNvPicPr>
            <a:picLocks noChangeAspect="1"/>
          </p:cNvPicPr>
          <p:nvPr/>
        </p:nvPicPr>
        <p:blipFill>
          <a:blip r:embed="rId4"/>
          <a:srcRect t="19452" b="19452"/>
          <a:stretch>
            <a:fillRect/>
          </a:stretch>
        </p:blipFill>
        <p:spPr>
          <a:xfrm>
            <a:off x="4377842" y="1508760"/>
            <a:ext cx="3481730" cy="1417320"/>
          </a:xfrm>
          <a:prstGeom prst="rect">
            <a:avLst/>
          </a:prstGeom>
        </p:spPr>
      </p:pic>
      <p:pic>
        <p:nvPicPr>
          <p:cNvPr id="12" name="Picture 11" descr="outreach_audience_full_group_01.jpg"/>
          <p:cNvPicPr>
            <a:picLocks noChangeAspect="1"/>
          </p:cNvPicPr>
          <p:nvPr/>
        </p:nvPicPr>
        <p:blipFill>
          <a:blip r:embed="rId5"/>
          <a:srcRect t="19469" b="19469"/>
          <a:stretch>
            <a:fillRect/>
          </a:stretch>
        </p:blipFill>
        <p:spPr>
          <a:xfrm>
            <a:off x="8115604" y="1508760"/>
            <a:ext cx="3481730" cy="1417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21868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31012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 medical camps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7842" y="321868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0722" y="331012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School health programmes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321868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8484" y="331012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Corporate wellness initiatives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3976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433120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 disease screening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7842" y="423976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433120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Health promotion campaigns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5604" y="423976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8484" y="433120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Maternal and child health outreach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6084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535228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Elderly care programmes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7842" y="526084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0722" y="535228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Student volunteer programmes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5604" y="526084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8484" y="535228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10  /  17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Digital health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78992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Developing practical healthcare solutions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7" y="1709928"/>
            <a:ext cx="3079394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Artificial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68880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Applications that support smarter clinical and community decisions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842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9010" y="1709928"/>
            <a:ext cx="3079394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6442" y="192024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Electronic Medical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6442" y="2468880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Stronger continuity of care and better clinical information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5604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16772" y="1709928"/>
            <a:ext cx="3079394" cy="73152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4204" y="192024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Telemedicine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4204" y="2468880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Care and advice that reach people beyond the facility walls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7" y="4123943"/>
            <a:ext cx="3079394" cy="73152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34255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Health Information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882895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Better visibility of community health activity and needs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7842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9010" y="4123943"/>
            <a:ext cx="3079394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6442" y="4334255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Predictive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6442" y="4882895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Earlier insight for planning and prevention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5604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16772" y="4123943"/>
            <a:ext cx="3079394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4204" y="4334255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Digital patient engagement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4204" y="4882895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Clearer communication and follow-up with patients and families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11  /  17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78992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Collaborative proposals improve competitiveness for local and international funding.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77439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Research grants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2162" y="1874519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2162" y="2377439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Development funding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5604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9924" y="1874519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9924" y="2377439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Innovation grants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88536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91455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Corporate Social Responsibility partnerships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7842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2162" y="4288536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2162" y="4791455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International development partnerships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5604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9924" y="4288536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9924" y="4791455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Capacity-building programmes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12  /  17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Strategic partnerships and collaborative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78992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Victoria University as the flagship academic and research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1655063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600200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Government ministries and public health institutions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6723" y="1508760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93027" y="1655063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4195" y="1600200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Local government leadership and Village Health Teams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452420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2598724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2543860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Health insurance providers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6723" y="2452420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93027" y="2598724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4195" y="2543860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Specialist healthcare professionals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396081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6384" y="3542385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487521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Schools and educational institutions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6723" y="3396081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27" y="3542385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4195" y="3487521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Faith-based and community organisations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39742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" y="4486046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431182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Corporate organisations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6723" y="4339742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93027" y="4486046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4195" y="4431182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Media partners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283403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6384" y="5429707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374843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National and international development partners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6723" y="5283403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3027" y="5429707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94195" y="5374843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Philanthropic foundations and research institutions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13  /  17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Expected outcomes of the partnership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63040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801368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Improve access to quality primary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7842" y="1234440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3874" y="1463040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874" y="1801368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Strengthen preventive healthcare programmes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5604" y="1234440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1636" y="1463040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1636" y="1801368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Expand experiential learning opportunities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916936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145536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483864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Increase community-based 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7842" y="2916936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3145536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483864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Promote healthcare innovation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5604" y="2916936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1636" y="3145536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3483864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Strengthen graduate employability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9432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828032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166360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Enhance institutional visibility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7842" y="4599432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3874" y="4828032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3874" y="5166360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Mobilise sustainable development partnerships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5604" y="4599432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1636" y="4828032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1636" y="5166360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Improve health outcomes in surrounding communities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14  /  17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Proposed roadmap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2567863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234440"/>
            <a:ext cx="2567863" cy="9144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399032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1691640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377440"/>
            <a:ext cx="2238679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Introductory planning meeting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Joint Technical Working 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36543" y="1234440"/>
            <a:ext cx="2567863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36543" y="1234440"/>
            <a:ext cx="2567863" cy="91440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423" y="1399032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9423" y="1691640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Formalisation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1135" y="2377440"/>
            <a:ext cx="2238679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Sign Memorandum of Understanding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Identify priority pilot 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234440"/>
            <a:ext cx="2567863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234440"/>
            <a:ext cx="2567863" cy="91440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399032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III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691640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7599" y="2377440"/>
            <a:ext cx="2238679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Student placements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Joint research and outreach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Innovation and grant development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9471" y="1234440"/>
            <a:ext cx="2567863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29471" y="1234440"/>
            <a:ext cx="2567863" cy="9144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2351" y="1399032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351" y="1691640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Learning and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063" y="2377440"/>
            <a:ext cx="2238679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Monitoring and evaluation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Document lessons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Expand and replicate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15  /  17</a:t>
            </a:r>
          </a:p>
        </p:txBody>
      </p:sp>
    </p:spTree>
  </p:cSld>
  <p:transition spd="med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LOOKING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Long-term vision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6355208" cy="2011680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5623688" cy="1371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Establish FCHIP as Uganda's leading University–Community Health Partnership Model — showing how academia, healthcare providers, government, development partners, and communities can work together to improve lives.</a:t>
            </a:r>
          </a:p>
        </p:txBody>
      </p:sp>
      <p:pic>
        <p:nvPicPr>
          <p:cNvPr id="11" name="Picture 10" descr="reception_mission_wall.jpeg"/>
          <p:cNvPicPr>
            <a:picLocks noChangeAspect="1"/>
          </p:cNvPicPr>
          <p:nvPr/>
        </p:nvPicPr>
        <p:blipFill>
          <a:blip r:embed="rId3"/>
          <a:srcRect t="15284" b="15284"/>
          <a:stretch>
            <a:fillRect/>
          </a:stretch>
        </p:blipFill>
        <p:spPr>
          <a:xfrm>
            <a:off x="7251320" y="1234440"/>
            <a:ext cx="4346015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" y="3502152"/>
            <a:ext cx="5350611" cy="2578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847691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For FairBanks Medical Centre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87952"/>
            <a:ext cx="4847691" cy="16642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A living laboratory for education, research, innovation, and community service.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3502152"/>
            <a:ext cx="5350611" cy="2578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1043" y="3776472"/>
            <a:ext cx="4847691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For Victoria University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1043" y="4187952"/>
            <a:ext cx="4847691" cy="16642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Stronger leadership in experiential learning, applied research, and social impact — with lessons that can be replicated across Uganda.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16  /  17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246887"/>
            <a:ext cx="1023041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0040"/>
            <a:ext cx="1266399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051560"/>
            <a:ext cx="640080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9A2B"/>
                </a:solidFill>
                <a:latin typeface="Calibri"/>
              </a:rPr>
              <a:t>INVITATION TO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640080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Together, we can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healthier communities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803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99A2B"/>
                </a:solidFill>
                <a:latin typeface="Calibri"/>
              </a:rPr>
              <a:t>and stronger professionals.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29000"/>
            <a:ext cx="2194560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657600"/>
            <a:ext cx="6400800" cy="6858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FairBanks Medical Centre invites Victoria University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to join as a strategic partner in advancing FCHIP.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34840"/>
            <a:ext cx="640080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83480"/>
            <a:ext cx="6309360" cy="1417320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5852160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9A2B"/>
                </a:solidFill>
                <a:latin typeface="Calibri"/>
              </a:rPr>
              <a:t>Institutional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32120"/>
            <a:ext cx="5852160" cy="7315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Kyebando–Kisalosalo, Tirupati Road, Kampala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info@fairbanksmedicalcentre.org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