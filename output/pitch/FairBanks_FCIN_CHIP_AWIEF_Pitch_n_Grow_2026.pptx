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14A3A3"/>
                </a:solidFill>
                <a:latin typeface="Calibri"/>
              </a:rPr>
              <a:t>AWIEF Pitch n Grow 2026  ·  Startup Track  ·  HealthTech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FairBanks Community Intelligence Network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0">
                <a:solidFill>
                  <a:srgbClr val="14A3A3"/>
                </a:solidFill>
                <a:latin typeface="Calibri"/>
              </a:rPr>
              <a:t>Community Health Intelligence Platform (CHIP)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26080"/>
            <a:ext cx="105156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>
                <a:solidFill>
                  <a:srgbClr val="D0DCE0"/>
                </a:solidFill>
                <a:latin typeface="Calibri"/>
              </a:rPr>
              <a:t>AI-powered community health intelligence that turns last-mile data into predictions — so African primary care prevents crises instead of waiting for them.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20624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C45C26"/>
                </a:solidFill>
                <a:latin typeface="Calibri"/>
              </a:rPr>
              <a:t>Theme alignment: Deep Roots. Digital Futures.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75488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A8C4C4"/>
                </a:solidFill>
                <a:latin typeface="Calibri"/>
              </a:rPr>
              <a:t>Uganda pilot  →  East Africa  →  Pan-African scale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72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5A6B75"/>
                </a:solidFill>
                <a:latin typeface="Calibri"/>
              </a:rPr>
              <a:t>Woman-led deep-tech venture  |  Live medical centre + community outreach foundation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2191695" cy="6428232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9728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0A1F2E"/>
                </a:solidFill>
                <a:latin typeface="Calibr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5A6B75"/>
                </a:solidFill>
                <a:latin typeface="Calibri"/>
              </a:rPr>
              <a:t>Primary healthcare in underserved communities is reactive — not intelligent.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25880"/>
            <a:ext cx="361188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0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325880"/>
            <a:ext cx="109728" cy="1783080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45920"/>
            <a:ext cx="31089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A1F2E"/>
                </a:solidFill>
                <a:latin typeface="Calibri"/>
              </a:rPr>
              <a:t>Facilities wait for sickness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94560"/>
            <a:ext cx="31089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A6B75"/>
                </a:solidFill>
                <a:latin typeface="Calibri"/>
              </a:rPr>
              <a:t>Outbreaks and complications detected too late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325880"/>
            <a:ext cx="361188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0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325880"/>
            <a:ext cx="109728" cy="1783080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645920"/>
            <a:ext cx="31089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A1F2E"/>
                </a:solidFill>
                <a:latin typeface="Calibri"/>
              </a:rPr>
              <a:t>Care ends at the gate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194560"/>
            <a:ext cx="31089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A6B75"/>
                </a:solidFill>
                <a:latin typeface="Calibri"/>
              </a:rPr>
              <a:t>No continuous view of village-level health trends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325880"/>
            <a:ext cx="361188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0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325880"/>
            <a:ext cx="109728" cy="1783080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1645920"/>
            <a:ext cx="31089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A1F2E"/>
                </a:solidFill>
                <a:latin typeface="Calibri"/>
              </a:rPr>
              <a:t>Outreach data stays siloed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194560"/>
            <a:ext cx="31089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A6B75"/>
                </a:solidFill>
                <a:latin typeface="Calibri"/>
              </a:rPr>
              <a:t>Districts and NGOs lack real-time intelligence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337560"/>
            <a:ext cx="361188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0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3337560"/>
            <a:ext cx="109728" cy="1783080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657600"/>
            <a:ext cx="31089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A1F2E"/>
                </a:solidFill>
                <a:latin typeface="Calibri"/>
              </a:rPr>
              <a:t>Guesswork procurement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206240"/>
            <a:ext cx="31089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A6B75"/>
                </a:solidFill>
                <a:latin typeface="Calibri"/>
              </a:rPr>
              <a:t>Medicine stock-outs during seasonal surges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0" y="3337560"/>
            <a:ext cx="361188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0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97680" y="3337560"/>
            <a:ext cx="109728" cy="178308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0" y="3657600"/>
            <a:ext cx="31089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A1F2E"/>
                </a:solidFill>
                <a:latin typeface="Calibri"/>
              </a:rPr>
              <a:t>Late high-risk detection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4206240"/>
            <a:ext cx="31089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A6B75"/>
                </a:solidFill>
                <a:latin typeface="Calibri"/>
              </a:rPr>
              <a:t>Preventable maternal and NCD harm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A8C4C4"/>
                </a:solidFill>
                <a:latin typeface="Calibri"/>
              </a:rPr>
              <a:t>AWIEF Pitch n Grow 2026  |  Deep Roots. Digital Futures.  |  HealthTech · AI/ML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41280" y="6565392"/>
            <a:ext cx="14630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A8C4C4"/>
                </a:solidFill>
                <a:latin typeface="Calibri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2191695" cy="6428232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9728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0A1F2E"/>
                </a:solidFill>
                <a:latin typeface="Calibri"/>
              </a:rPr>
              <a:t>The solution: FCIN / CHIP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5A6B75"/>
                </a:solidFill>
                <a:latin typeface="Calibri"/>
              </a:rPr>
              <a:t>From a community medical centre to Africa's Community Health Intelligence Company.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11556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2C3E4A"/>
                </a:solidFill>
                <a:latin typeface="Calibri"/>
              </a:rPr>
              <a:t>CHIP continuously ingests community-generated health data, runs AI/ML and GIS analytics, and delivers predictive alerts to CHWs, facilities, districts, and partners — before crises escalate.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103120"/>
            <a:ext cx="361188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0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2103120"/>
            <a:ext cx="3611880" cy="109728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377440"/>
            <a:ext cx="31546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0D6E6E"/>
                </a:solidFill>
                <a:latin typeface="Calibri"/>
              </a:rPr>
              <a:t>FCIN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926080"/>
            <a:ext cx="315468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2C3E4A"/>
                </a:solidFill>
                <a:latin typeface="Calibri"/>
              </a:rPr>
              <a:t>Venture brand connecting communities, providers, governments, and development partners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2103120"/>
            <a:ext cx="361188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0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2103120"/>
            <a:ext cx="3611880" cy="109728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2377440"/>
            <a:ext cx="31546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0D6E6E"/>
                </a:solidFill>
                <a:latin typeface="Calibri"/>
              </a:rPr>
              <a:t>CHIP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926080"/>
            <a:ext cx="315468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2C3E4A"/>
                </a:solidFill>
                <a:latin typeface="Calibri"/>
              </a:rPr>
              <a:t>Deep-tech platform: capture → intelligence → action across the health ecosystem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2103120"/>
            <a:ext cx="361188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0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2103120"/>
            <a:ext cx="3611880" cy="109728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2377440"/>
            <a:ext cx="31546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0D6E6E"/>
                </a:solidFill>
                <a:latin typeface="Calibri"/>
              </a:rPr>
              <a:t>FairBanks edge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926080"/>
            <a:ext cx="315468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2C3E4A"/>
                </a:solidFill>
                <a:latin typeface="Calibri"/>
              </a:rPr>
              <a:t>Live medical centre + CHW/VHT networks to design, pilot, and validate in the field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846320"/>
            <a:ext cx="1115568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0A1F2E"/>
                </a:solidFill>
                <a:latin typeface="Calibri"/>
              </a:rPr>
              <a:t>Positioning: Not "another clinic app" — a Community Health Intelligence Company rooted in African community realities (Deep Roots) and powered by deep technology (Digital Futures).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A8C4C4"/>
                </a:solidFill>
                <a:latin typeface="Calibri"/>
              </a:rPr>
              <a:t>AWIEF Pitch n Grow 2026  |  Deep Roots. Digital Futures.  |  HealthTech · AI/ML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0" y="6565392"/>
            <a:ext cx="14630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A8C4C4"/>
                </a:solidFill>
                <a:latin typeface="Calibri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2191695" cy="6428232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9728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0A1F2E"/>
                </a:solidFill>
                <a:latin typeface="Calibri"/>
              </a:rPr>
              <a:t>Deep technology core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5A6B75"/>
                </a:solidFill>
                <a:latin typeface="Calibri"/>
              </a:rPr>
              <a:t>AWIEF 2026 requires substantial engineering — not lightweight digital services.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80160"/>
            <a:ext cx="361188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0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31546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D6E6E"/>
                </a:solidFill>
                <a:latin typeface="Calibri"/>
              </a:rPr>
              <a:t>Artificial Intelligence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03120"/>
            <a:ext cx="315468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2C3E4A"/>
                </a:solidFill>
                <a:latin typeface="Calibri"/>
              </a:rPr>
              <a:t>Disease-risk prediction, outbreak early warning, maternal &amp; NCD risk scoring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280160"/>
            <a:ext cx="361188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0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554480"/>
            <a:ext cx="31546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D6E6E"/>
                </a:solidFill>
                <a:latin typeface="Calibri"/>
              </a:rPr>
              <a:t>Machine Learning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2103120"/>
            <a:ext cx="315468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2C3E4A"/>
                </a:solidFill>
                <a:latin typeface="Calibri"/>
              </a:rPr>
              <a:t>Patterns from community data, seasonal trends, outreach outcomes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280160"/>
            <a:ext cx="361188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0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554480"/>
            <a:ext cx="31546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D6E6E"/>
                </a:solidFill>
                <a:latin typeface="Calibri"/>
              </a:rPr>
              <a:t>GIS Mapping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103120"/>
            <a:ext cx="315468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2C3E4A"/>
                </a:solidFill>
                <a:latin typeface="Calibri"/>
              </a:rPr>
              <a:t>Geospatial disease distribution, hotspots, resource gaps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520440"/>
            <a:ext cx="361188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0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794760"/>
            <a:ext cx="31546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D6E6E"/>
                </a:solidFill>
                <a:latin typeface="Calibri"/>
              </a:rPr>
              <a:t>Mobile Data Collection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343400"/>
            <a:ext cx="315468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2C3E4A"/>
                </a:solidFill>
                <a:latin typeface="Calibri"/>
              </a:rPr>
              <a:t>Offline-capable CHW/VHT apps for household &amp; community capture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3520440"/>
            <a:ext cx="361188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0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6280" y="3794760"/>
            <a:ext cx="31546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D6E6E"/>
                </a:solidFill>
                <a:latin typeface="Calibri"/>
              </a:rPr>
              <a:t>Cloud Computing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4343400"/>
            <a:ext cx="315468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2C3E4A"/>
                </a:solidFill>
                <a:latin typeface="Calibri"/>
              </a:rPr>
              <a:t>Secure sync across facilities, partners, administrative levels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92440" y="3520440"/>
            <a:ext cx="361188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0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3794760"/>
            <a:ext cx="31546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D6E6E"/>
                </a:solidFill>
                <a:latin typeface="Calibri"/>
              </a:rPr>
              <a:t>Analytics + NLP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4343400"/>
            <a:ext cx="315468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2C3E4A"/>
                </a:solidFill>
                <a:latin typeface="Calibri"/>
              </a:rPr>
              <a:t>Real-time dashboards; local-language symptom reporting where appropriate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A8C4C4"/>
                </a:solidFill>
                <a:latin typeface="Calibri"/>
              </a:rPr>
              <a:t>AWIEF Pitch n Grow 2026  |  Deep Roots. Digital Futures.  |  HealthTech · AI/ML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0" y="6565392"/>
            <a:ext cx="14630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A8C4C4"/>
                </a:solidFill>
                <a:latin typeface="Calibri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2191695" cy="6428232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9728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0A1F2E"/>
                </a:solidFill>
                <a:latin typeface="Calibri"/>
              </a:rPr>
              <a:t>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5A6B75"/>
                </a:solidFill>
                <a:latin typeface="Calibri"/>
              </a:rPr>
              <a:t>Data from the last mile → intelligence → action in the community.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34440"/>
            <a:ext cx="1115568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0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234440"/>
            <a:ext cx="2194560" cy="1005840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19202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1. 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1463040"/>
            <a:ext cx="84124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2C3E4A"/>
                </a:solidFill>
                <a:latin typeface="Calibri"/>
              </a:rPr>
              <a:t>CHWs/VHTs, patients, clinics, pharmacies, schools/faith outreach, ANC/PNC, labs, corporate wellness, HMIS/DHIS2, seasonality signals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377440"/>
            <a:ext cx="1115568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0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377440"/>
            <a:ext cx="2194560" cy="1005840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697480"/>
            <a:ext cx="19202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2. Capture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2606040"/>
            <a:ext cx="84124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2C3E4A"/>
                </a:solidFill>
                <a:latin typeface="Calibri"/>
              </a:rPr>
              <a:t>Offline mobile &amp; facility apps · structured forms · secure cloud sync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520440"/>
            <a:ext cx="1115568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0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3520440"/>
            <a:ext cx="2194560" cy="1005840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840480"/>
            <a:ext cx="19202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3. CHIP core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749040"/>
            <a:ext cx="84124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2C3E4A"/>
                </a:solidFill>
                <a:latin typeface="Calibri"/>
              </a:rPr>
              <a:t>AI/ML engine · Predictive analytics · GIS maps · Clinical decision support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663440"/>
            <a:ext cx="1115568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0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4663440"/>
            <a:ext cx="2194560" cy="100584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983480"/>
            <a:ext cx="19202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4. Action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4892040"/>
            <a:ext cx="84124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2C3E4A"/>
                </a:solidFill>
                <a:latin typeface="Calibri"/>
              </a:rPr>
              <a:t>CHW alerts · Facility dashboards · District / NGO / partner intelligence → referrals, outreach, stock, surveillance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A8C4C4"/>
                </a:solidFill>
                <a:latin typeface="Calibri"/>
              </a:rPr>
              <a:t>AWIEF Pitch n Grow 2026  |  Deep Roots. Digital Futures.  |  HealthTech · AI/ML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6565392"/>
            <a:ext cx="14630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A8C4C4"/>
                </a:solidFill>
                <a:latin typeface="Calibri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2191695" cy="6428232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9728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0A1F2E"/>
                </a:solidFill>
                <a:latin typeface="Calibri"/>
              </a:rPr>
              <a:t>Predictive use cases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5A6B75"/>
                </a:solidFill>
                <a:latin typeface="Calibri"/>
              </a:rPr>
              <a:t>Proof-of-concept scenarios validated in FairBanks' live catchment.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88720"/>
            <a:ext cx="109728" cy="822960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280160"/>
            <a:ext cx="29260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A1F2E"/>
                </a:solidFill>
                <a:latin typeface="Calibri"/>
              </a:rPr>
              <a:t>Disease surveillance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1280160"/>
            <a:ext cx="77724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2C3E4A"/>
                </a:solidFill>
                <a:latin typeface="Calibri"/>
              </a:rPr>
              <a:t>Fever clusters via VHTs → malaria outbreak risk in ~14 days → targeted testing &amp; bed-nets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148840"/>
            <a:ext cx="109728" cy="82296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240280"/>
            <a:ext cx="29260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A1F2E"/>
                </a:solidFill>
                <a:latin typeface="Calibri"/>
              </a:rPr>
              <a:t>Maternal health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2240280"/>
            <a:ext cx="77724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2C3E4A"/>
                </a:solidFill>
                <a:latin typeface="Calibri"/>
              </a:rPr>
              <a:t>Home-visit BP/Hb/ANC adherence → high-risk pregnancy flags → CHW referral before crisis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108960"/>
            <a:ext cx="109728" cy="822960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200400"/>
            <a:ext cx="29260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A1F2E"/>
                </a:solidFill>
                <a:latin typeface="Calibri"/>
              </a:rPr>
              <a:t>NCDs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3200400"/>
            <a:ext cx="77724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2C3E4A"/>
                </a:solidFill>
                <a:latin typeface="Calibri"/>
              </a:rPr>
              <a:t>Community &amp; workplace BP/glucose → hypertension/diabetes hotspots → targeted screening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4069080"/>
            <a:ext cx="109728" cy="82296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160520"/>
            <a:ext cx="29260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A1F2E"/>
                </a:solidFill>
                <a:latin typeface="Calibri"/>
              </a:rPr>
              <a:t>Child health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4160520"/>
            <a:ext cx="77724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2C3E4A"/>
                </a:solidFill>
                <a:latin typeface="Calibri"/>
              </a:rPr>
              <a:t>Growth, immunisation, diarrhoea → malnutrition &amp; coverage gaps → nutrition &amp; immunisation drives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5029200"/>
            <a:ext cx="109728" cy="822960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120640"/>
            <a:ext cx="29260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A1F2E"/>
                </a:solidFill>
                <a:latin typeface="Calibri"/>
              </a:rPr>
              <a:t>Medicine demand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5120640"/>
            <a:ext cx="77724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2C3E4A"/>
                </a:solidFill>
                <a:latin typeface="Calibri"/>
              </a:rPr>
              <a:t>Trends + seasonality + history → facility demand forecast → procurement before stock-outs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A8C4C4"/>
                </a:solidFill>
                <a:latin typeface="Calibri"/>
              </a:rPr>
              <a:t>AWIEF Pitch n Grow 2026  |  Deep Roots. Digital Futures.  |  HealthTech · AI/ML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0" y="6565392"/>
            <a:ext cx="14630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A8C4C4"/>
                </a:solidFill>
                <a:latin typeface="Calibri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2191695" cy="6428232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9728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0A1F2E"/>
                </a:solidFill>
                <a:latin typeface="Calibri"/>
              </a:rPr>
              <a:t>Market &amp; customers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5A6B75"/>
                </a:solidFill>
                <a:latin typeface="Calibri"/>
              </a:rPr>
              <a:t>B2B / B2G health intelligence buyers across the African primary-care stack.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80160"/>
            <a:ext cx="361188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0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3154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D6E6E"/>
                </a:solidFill>
                <a:latin typeface="Calibri"/>
              </a:rPr>
              <a:t>Medical centres &amp; clinics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315468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2C3E4A"/>
                </a:solidFill>
                <a:latin typeface="Calibri"/>
              </a:rPr>
              <a:t>Follow-up, outreach planning, population health visibility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280160"/>
            <a:ext cx="361188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0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600200"/>
            <a:ext cx="3154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D6E6E"/>
                </a:solidFill>
                <a:latin typeface="Calibri"/>
              </a:rPr>
              <a:t>District health offices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2194560"/>
            <a:ext cx="315468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2C3E4A"/>
                </a:solidFill>
                <a:latin typeface="Calibri"/>
              </a:rPr>
              <a:t>Disease intelligence and early warning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280160"/>
            <a:ext cx="361188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0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600200"/>
            <a:ext cx="3154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D6E6E"/>
                </a:solidFill>
                <a:latin typeface="Calibri"/>
              </a:rPr>
              <a:t>NGOs &amp; partners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194560"/>
            <a:ext cx="315468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2C3E4A"/>
                </a:solidFill>
                <a:latin typeface="Calibri"/>
              </a:rPr>
              <a:t>Real-time M&amp;E, impact evidence, programme optimisation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429000"/>
            <a:ext cx="361188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0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749040"/>
            <a:ext cx="3154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D6E6E"/>
                </a:solidFill>
                <a:latin typeface="Calibri"/>
              </a:rPr>
              <a:t>CHWs / VHTs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343400"/>
            <a:ext cx="315468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2C3E4A"/>
                </a:solidFill>
                <a:latin typeface="Calibri"/>
              </a:rPr>
              <a:t>Mobile tools, structured workflows, decision support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3429000"/>
            <a:ext cx="361188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0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6280" y="3749040"/>
            <a:ext cx="3154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D6E6E"/>
                </a:solidFill>
                <a:latin typeface="Calibri"/>
              </a:rPr>
              <a:t>Ministries of health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4343400"/>
            <a:ext cx="315468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2C3E4A"/>
                </a:solidFill>
                <a:latin typeface="Calibri"/>
              </a:rPr>
              <a:t>Sub-national planning and outbreak preparedness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92440" y="3429000"/>
            <a:ext cx="361188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0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3749040"/>
            <a:ext cx="3154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D6E6E"/>
                </a:solidFill>
                <a:latin typeface="Calibri"/>
              </a:rPr>
              <a:t>Insurers &amp; research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4343400"/>
            <a:ext cx="315468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2C3E4A"/>
                </a:solidFill>
                <a:latin typeface="Calibri"/>
              </a:rPr>
              <a:t>Prevention insights; ethical anonymised research datasets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806440"/>
            <a:ext cx="111556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A1F2E"/>
                </a:solidFill>
                <a:latin typeface="Calibri"/>
              </a:rPr>
              <a:t>Phase 1: Uganda (FairBanks catchment + Kampala metro)  ·  Phase 2–3: East Africa → continental scale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A8C4C4"/>
                </a:solidFill>
                <a:latin typeface="Calibri"/>
              </a:rPr>
              <a:t>AWIEF Pitch n Grow 2026  |  Deep Roots. Digital Futures.  |  HealthTech · AI/ML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41280" y="6565392"/>
            <a:ext cx="14630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A8C4C4"/>
                </a:solidFill>
                <a:latin typeface="Calibri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2191695" cy="6428232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9728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0A1F2E"/>
                </a:solidFill>
                <a:latin typeface="Calibri"/>
              </a:rPr>
              <a:t>Business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5A6B75"/>
                </a:solidFill>
                <a:latin typeface="Calibri"/>
              </a:rPr>
              <a:t>Diversified HealthTech revenue — B2B, B2G, and partner channels.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80160"/>
            <a:ext cx="55321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0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280160"/>
            <a:ext cx="109728" cy="914400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554480"/>
            <a:ext cx="49377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2C3E4A"/>
                </a:solidFill>
                <a:latin typeface="Calibri"/>
              </a:rPr>
              <a:t>Subscription licences for clinics and hospitals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280160"/>
            <a:ext cx="55321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0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280160"/>
            <a:ext cx="109728" cy="914400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554480"/>
            <a:ext cx="49377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2C3E4A"/>
                </a:solidFill>
                <a:latin typeface="Calibri"/>
              </a:rPr>
              <a:t>District health office deployments (SaaS + implementation)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331720"/>
            <a:ext cx="55321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0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2331720"/>
            <a:ext cx="109728" cy="914400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606040"/>
            <a:ext cx="49377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2C3E4A"/>
                </a:solidFill>
                <a:latin typeface="Calibri"/>
              </a:rPr>
              <a:t>NGO programme monitoring contracts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331720"/>
            <a:ext cx="55321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0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2331720"/>
            <a:ext cx="109728" cy="914400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2606040"/>
            <a:ext cx="49377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2C3E4A"/>
                </a:solidFill>
                <a:latin typeface="Calibri"/>
              </a:rPr>
              <a:t>Ministry of Health national / sub-national implementations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383280"/>
            <a:ext cx="55321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0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3383280"/>
            <a:ext cx="109728" cy="914400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3657600"/>
            <a:ext cx="49377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2C3E4A"/>
                </a:solidFill>
                <a:latin typeface="Calibri"/>
              </a:rPr>
              <a:t>Custom analytics and reporting for partners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3383280"/>
            <a:ext cx="55321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0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63640" y="3383280"/>
            <a:ext cx="109728" cy="914400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3657600"/>
            <a:ext cx="49377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2C3E4A"/>
                </a:solidFill>
                <a:latin typeface="Calibri"/>
              </a:rPr>
              <a:t>Research collaborations with universities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4434839"/>
            <a:ext cx="55321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0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4434839"/>
            <a:ext cx="109728" cy="914400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4709159"/>
            <a:ext cx="49377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2C3E4A"/>
                </a:solidFill>
                <a:latin typeface="Calibri"/>
              </a:rPr>
              <a:t>API integrations for digital health ecosystem partners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40" y="4434839"/>
            <a:ext cx="55321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0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63640" y="4434839"/>
            <a:ext cx="109728" cy="914400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0" y="4709159"/>
            <a:ext cx="49377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2C3E4A"/>
                </a:solidFill>
                <a:latin typeface="Calibri"/>
              </a:rPr>
              <a:t>CHW training and certification on platform use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A8C4C4"/>
                </a:solidFill>
                <a:latin typeface="Calibri"/>
              </a:rPr>
              <a:t>AWIEF Pitch n Grow 2026  |  Deep Roots. Digital Futures.  |  HealthTech · AI/ML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41280" y="6565392"/>
            <a:ext cx="14630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A8C4C4"/>
                </a:solidFill>
                <a:latin typeface="Calibri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2191695" cy="6428232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9728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0A1F2E"/>
                </a:solidFill>
                <a:latin typeface="Calibri"/>
              </a:rPr>
              <a:t>Traction &amp; unfair advantage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5A6B75"/>
                </a:solidFill>
                <a:latin typeface="Calibri"/>
              </a:rPr>
              <a:t>Not a concept detached from the field — a live operating foundation.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34440"/>
            <a:ext cx="5943600" cy="4846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0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5486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D6E6E"/>
                </a:solidFill>
                <a:latin typeface="Calibri"/>
              </a:rPr>
              <a:t>Existing FairBanks ecosystem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5394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2C3E4A"/>
                </a:solidFill>
                <a:latin typeface="Calibri"/>
              </a:rPr>
              <a:t>•  Functioning FairBanks medical centre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300" b="0">
                <a:solidFill>
                  <a:srgbClr val="2C3E4A"/>
                </a:solidFill>
                <a:latin typeface="Calibri"/>
              </a:rPr>
              <a:t>•  Community Reach Programme (live)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300" b="0">
                <a:solidFill>
                  <a:srgbClr val="2C3E4A"/>
                </a:solidFill>
                <a:latin typeface="Calibri"/>
              </a:rPr>
              <a:t>•  CHW/VHT networks: Bukoto, Kyebando, Kisaasi, Kamwokya, Kikaaya+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300" b="0">
                <a:solidFill>
                  <a:srgbClr val="2C3E4A"/>
                </a:solidFill>
                <a:latin typeface="Calibri"/>
              </a:rPr>
              <a:t>•  Maternal &amp; child health initiatives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300" b="0">
                <a:solidFill>
                  <a:srgbClr val="2C3E4A"/>
                </a:solidFill>
                <a:latin typeface="Calibri"/>
              </a:rPr>
              <a:t>•  Gericare (geriatric care)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300" b="0">
                <a:solidFill>
                  <a:srgbClr val="2C3E4A"/>
                </a:solidFill>
                <a:latin typeface="Calibri"/>
              </a:rPr>
              <a:t>•  Chronic disease screening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300" b="0">
                <a:solidFill>
                  <a:srgbClr val="2C3E4A"/>
                </a:solidFill>
                <a:latin typeface="Calibri"/>
              </a:rPr>
              <a:t>•  Corporate &amp; school health programmes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300" b="0">
                <a:solidFill>
                  <a:srgbClr val="2C3E4A"/>
                </a:solidFill>
                <a:latin typeface="Calibri"/>
              </a:rPr>
              <a:t>•  Digital health records foundation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300" b="0">
                <a:solidFill>
                  <a:srgbClr val="2C3E4A"/>
                </a:solidFill>
                <a:latin typeface="Calibri"/>
              </a:rPr>
              <a:t>•  Research &amp; community partnerships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1234440"/>
            <a:ext cx="4983480" cy="4846320"/>
          </a:xfrm>
          <a:prstGeom prst="roundRect">
            <a:avLst>
              <a:gd name="adj" fmla="val 8000"/>
            </a:avLst>
          </a:prstGeom>
          <a:solidFill>
            <a:srgbClr val="0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03720" y="1463040"/>
            <a:ext cx="4572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14A3A3"/>
                </a:solidFill>
                <a:latin typeface="Calibri"/>
              </a:rPr>
              <a:t>Why FairBanks wins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03720" y="2011680"/>
            <a:ext cx="457200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→  Technology + field access in one venture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2697480"/>
            <a:ext cx="457200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→  Context-rooted AI from African community realities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03720" y="3383280"/>
            <a:ext cx="457200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→  Design → pilot → validate → refine on a live site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4069080"/>
            <a:ext cx="457200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→  De-risks product-market fit before district/national scale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20" y="4754880"/>
            <a:ext cx="457200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→  Recommended track: Startup (operating centre + deep-tech build)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A8C4C4"/>
                </a:solidFill>
                <a:latin typeface="Calibri"/>
              </a:rPr>
              <a:t>AWIEF Pitch n Grow 2026  |  Deep Roots. Digital Futures.  |  HealthTech · AI/ML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6565392"/>
            <a:ext cx="14630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A8C4C4"/>
                </a:solidFill>
                <a:latin typeface="Calibri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2191695" cy="6428232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9728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0A1F2E"/>
                </a:solidFill>
                <a:latin typeface="Calibri"/>
              </a:rPr>
              <a:t>MVP &amp;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5A6B75"/>
                </a:solidFill>
                <a:latin typeface="Calibri"/>
              </a:rPr>
              <a:t>Prove predictive community health intelligence in FairBanks' catchment first.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D6E6E"/>
                </a:solidFill>
                <a:latin typeface="Calibri"/>
              </a:rPr>
              <a:t>MVP components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554480"/>
            <a:ext cx="361188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0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691640"/>
            <a:ext cx="32461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0A1F2E"/>
                </a:solidFill>
                <a:latin typeface="Calibri"/>
              </a:rPr>
              <a:t>CHW/VHT mobile 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11680"/>
            <a:ext cx="3246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5A6B75"/>
                </a:solidFill>
                <a:latin typeface="Calibri"/>
              </a:rPr>
              <a:t>Offline capture: symptoms, vitals, maternal/child, household visits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554480"/>
            <a:ext cx="361188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0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691640"/>
            <a:ext cx="32461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0A1F2E"/>
                </a:solidFill>
                <a:latin typeface="Calibri"/>
              </a:rPr>
              <a:t>Cloud pipeline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011680"/>
            <a:ext cx="3246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5A6B75"/>
                </a:solidFill>
                <a:latin typeface="Calibri"/>
              </a:rPr>
              <a:t>Secure ingestion, validation, storage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554480"/>
            <a:ext cx="361188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0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1691640"/>
            <a:ext cx="32461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0A1F2E"/>
                </a:solidFill>
                <a:latin typeface="Calibri"/>
              </a:rPr>
              <a:t>Facility dashboard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2011680"/>
            <a:ext cx="3246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5A6B75"/>
                </a:solidFill>
                <a:latin typeface="Calibri"/>
              </a:rPr>
              <a:t>Trends, alerts, outreach priorities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788920"/>
            <a:ext cx="361188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0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926080"/>
            <a:ext cx="32461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0A1F2E"/>
                </a:solidFill>
                <a:latin typeface="Calibri"/>
              </a:rPr>
              <a:t>AI Module v1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246120"/>
            <a:ext cx="3246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5A6B75"/>
                </a:solidFill>
                <a:latin typeface="Calibri"/>
              </a:rPr>
              <a:t>Rule-based + ML risk scoring (fever clusters, maternal flags, BP trends)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80" y="2788920"/>
            <a:ext cx="361188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0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0560" y="2926080"/>
            <a:ext cx="32461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0A1F2E"/>
                </a:solidFill>
                <a:latin typeface="Calibri"/>
              </a:rPr>
              <a:t>GIS layer v1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3246120"/>
            <a:ext cx="3246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5A6B75"/>
                </a:solidFill>
                <a:latin typeface="Calibri"/>
              </a:rPr>
              <a:t>Cases &amp; risk zones by village/parish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92440" y="2788920"/>
            <a:ext cx="361188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0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75320" y="2926080"/>
            <a:ext cx="32461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0A1F2E"/>
                </a:solidFill>
                <a:latin typeface="Calibri"/>
              </a:rPr>
              <a:t>Pilot integration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20" y="3246120"/>
            <a:ext cx="3246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5A6B75"/>
                </a:solidFill>
                <a:latin typeface="Calibri"/>
              </a:rPr>
              <a:t>Link FairBanks records &amp; outreach workflows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4160520"/>
            <a:ext cx="10972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D6E6E"/>
                </a:solidFill>
                <a:latin typeface="Calibri"/>
              </a:rPr>
              <a:t>Roadmap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4526280"/>
            <a:ext cx="2743200" cy="1417320"/>
          </a:xfrm>
          <a:prstGeom prst="roundRect">
            <a:avLst>
              <a:gd name="adj" fmla="val 8000"/>
            </a:avLst>
          </a:prstGeom>
          <a:solidFill>
            <a:srgbClr val="0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663440"/>
            <a:ext cx="24688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14A3A3"/>
                </a:solidFill>
                <a:latin typeface="Calibri"/>
              </a:rPr>
              <a:t>Phase 1 · 0–12 mo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074920"/>
            <a:ext cx="246888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Pilot MVP with FairBanks CHWs; validate 3 use cases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383280" y="4526280"/>
            <a:ext cx="2743200" cy="1417320"/>
          </a:xfrm>
          <a:prstGeom prst="roundRect">
            <a:avLst>
              <a:gd name="adj" fmla="val 8000"/>
            </a:avLst>
          </a:prstGeom>
          <a:solidFill>
            <a:srgbClr val="0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20440" y="4663440"/>
            <a:ext cx="24688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14A3A3"/>
                </a:solidFill>
                <a:latin typeface="Calibri"/>
              </a:rPr>
              <a:t>Phase 2 · 12–24 mo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20440" y="5074920"/>
            <a:ext cx="246888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District scale; NGO M&amp;E; partner APIs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63640" y="4526280"/>
            <a:ext cx="2743200" cy="1417320"/>
          </a:xfrm>
          <a:prstGeom prst="roundRect">
            <a:avLst>
              <a:gd name="adj" fmla="val 8000"/>
            </a:avLst>
          </a:prstGeom>
          <a:solidFill>
            <a:srgbClr val="0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4663440"/>
            <a:ext cx="24688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14A3A3"/>
                </a:solidFill>
                <a:latin typeface="Calibri"/>
              </a:rPr>
              <a:t>Phase 3 · 24–36 mo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5074920"/>
            <a:ext cx="246888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Multi-district UG + East Africa; advanced ML &amp; demand forecasting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44000" y="4526280"/>
            <a:ext cx="2743200" cy="1417320"/>
          </a:xfrm>
          <a:prstGeom prst="roundRect">
            <a:avLst>
              <a:gd name="adj" fmla="val 8000"/>
            </a:avLst>
          </a:prstGeom>
          <a:solidFill>
            <a:srgbClr val="0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81160" y="4663440"/>
            <a:ext cx="24688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14A3A3"/>
                </a:solidFill>
                <a:latin typeface="Calibri"/>
              </a:rPr>
              <a:t>Phase 4 · Year 3+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81160" y="5074920"/>
            <a:ext cx="246888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CDS, local-language NLP, research modules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A8C4C4"/>
                </a:solidFill>
                <a:latin typeface="Calibri"/>
              </a:rPr>
              <a:t>AWIEF Pitch n Grow 2026  |  Deep Roots. Digital Futures.  |  HealthTech · AI/ML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41280" y="6565392"/>
            <a:ext cx="14630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A8C4C4"/>
                </a:solidFill>
                <a:latin typeface="Calibri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2191695" cy="6428232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9728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0A1F2E"/>
                </a:solidFill>
                <a:latin typeface="Calibri"/>
              </a:rPr>
              <a:t>Impact &amp; SDG alignment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5A6B75"/>
                </a:solidFill>
                <a:latin typeface="Calibri"/>
              </a:rPr>
              <a:t>From sick-care to predictive, community-centred prevention.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34440"/>
            <a:ext cx="6400800" cy="4846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0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5943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D6E6E"/>
                </a:solidFill>
                <a:latin typeface="Calibri"/>
              </a:rPr>
              <a:t>Expected outcomes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58521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2C3E4A"/>
                </a:solidFill>
                <a:latin typeface="Calibri"/>
              </a:rPr>
              <a:t>•  Earlier outbreak detection; lower communicable-disease morbidity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2C3E4A"/>
                </a:solidFill>
                <a:latin typeface="Calibri"/>
              </a:rPr>
              <a:t>•  Fewer maternal and neonatal complications via risk-based alerting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2C3E4A"/>
                </a:solidFill>
                <a:latin typeface="Calibri"/>
              </a:rPr>
              <a:t>•  Reduced NCD burden through hotspot-targeted screening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2C3E4A"/>
                </a:solidFill>
                <a:latin typeface="Calibri"/>
              </a:rPr>
              <a:t>•  Improved child nutrition and immunisation coverage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2C3E4A"/>
                </a:solidFill>
                <a:latin typeface="Calibri"/>
              </a:rPr>
              <a:t>•  Fewer medicine stock-outs; smarter public-health resource allocation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2C3E4A"/>
                </a:solidFill>
                <a:latin typeface="Calibri"/>
              </a:rPr>
              <a:t>•  Evidence base for NGOs, donors, and governments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0" y="1234440"/>
            <a:ext cx="4526280" cy="4846320"/>
          </a:xfrm>
          <a:prstGeom prst="roundRect">
            <a:avLst>
              <a:gd name="adj" fmla="val 8000"/>
            </a:avLst>
          </a:prstGeom>
          <a:solidFill>
            <a:srgbClr val="0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60920" y="1417320"/>
            <a:ext cx="4114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14A3A3"/>
                </a:solidFill>
                <a:latin typeface="Calibri"/>
              </a:rPr>
              <a:t>SDG alignment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60920" y="2011680"/>
            <a:ext cx="4114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C45C26"/>
                </a:solidFill>
                <a:latin typeface="Calibri"/>
              </a:rPr>
              <a:t>SDG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0920" y="2286000"/>
            <a:ext cx="4114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Good Health &amp; Well-Being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0920" y="2697480"/>
            <a:ext cx="4114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C45C26"/>
                </a:solidFill>
                <a:latin typeface="Calibri"/>
              </a:rPr>
              <a:t>SDG 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2971800"/>
            <a:ext cx="4114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Gender Equality (women-led; maternal focus)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60920" y="3383280"/>
            <a:ext cx="4114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C45C26"/>
                </a:solidFill>
                <a:latin typeface="Calibri"/>
              </a:rPr>
              <a:t>SDG 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20" y="3657600"/>
            <a:ext cx="4114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Industry, Innovation &amp; Infrastructure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60920" y="4069080"/>
            <a:ext cx="4114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C45C26"/>
                </a:solidFill>
                <a:latin typeface="Calibri"/>
              </a:rPr>
              <a:t>SDG 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60920" y="4343400"/>
            <a:ext cx="4114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Reduced Inequalities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60920" y="4754880"/>
            <a:ext cx="4114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C45C26"/>
                </a:solidFill>
                <a:latin typeface="Calibri"/>
              </a:rPr>
              <a:t>SDG 17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60920" y="5029200"/>
            <a:ext cx="4114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Partnerships for the Goals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A8C4C4"/>
                </a:solidFill>
                <a:latin typeface="Calibri"/>
              </a:rPr>
              <a:t>AWIEF Pitch n Grow 2026  |  Deep Roots. Digital Futures.  |  HealthTech · AI/ML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0" y="6565392"/>
            <a:ext cx="14630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A8C4C4"/>
                </a:solidFill>
                <a:latin typeface="Calibri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The ask &amp;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D0DCE0"/>
                </a:solidFill>
                <a:latin typeface="Calibri"/>
              </a:rPr>
              <a:t>Support to develop and pilot the CHIP MVP — mobile CHW/VHT capture, cloud sync, predictive analytics, and facility/district dashboards — validated in FairBanks' live ecosystem before district and regional scale-up.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65960"/>
            <a:ext cx="10789920" cy="548640"/>
          </a:xfrm>
          <a:prstGeom prst="roundRect">
            <a:avLst>
              <a:gd name="adj" fmla="val 8000"/>
            </a:avLst>
          </a:prstGeom>
          <a:solidFill>
            <a:srgbClr val="123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75688"/>
            <a:ext cx="103327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1.  Finalise MVP scope &amp; AI priorities (surveillance, maternal risk, NCD hotspots)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06040"/>
            <a:ext cx="10789920" cy="548640"/>
          </a:xfrm>
          <a:prstGeom prst="roundRect">
            <a:avLst>
              <a:gd name="adj" fmla="val 8000"/>
            </a:avLst>
          </a:prstGeom>
          <a:solidFill>
            <a:srgbClr val="123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715768"/>
            <a:ext cx="103327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2.  Submit AWIEF application + this 12-slide deck (export PDF for portal)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246120"/>
            <a:ext cx="10789920" cy="548640"/>
          </a:xfrm>
          <a:prstGeom prst="roundRect">
            <a:avLst>
              <a:gd name="adj" fmla="val 8000"/>
            </a:avLst>
          </a:prstGeom>
          <a:solidFill>
            <a:srgbClr val="123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355848"/>
            <a:ext cx="103327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3.  Record 3-minute technology demo video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886199"/>
            <a:ext cx="10789920" cy="548640"/>
          </a:xfrm>
          <a:prstGeom prst="roundRect">
            <a:avLst>
              <a:gd name="adj" fmla="val 8000"/>
            </a:avLst>
          </a:prstGeom>
          <a:solidFill>
            <a:srgbClr val="123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995927"/>
            <a:ext cx="103327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4.  Launch FairBanks pilot with CHW/VHT cohort in primary catchment communities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70916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14A3A3"/>
                </a:solidFill>
                <a:latin typeface="Calibri"/>
              </a:rPr>
              <a:t>Vision: Africa's leading Community Health Intelligence Platform.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21208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A8C4C4"/>
                </a:solidFill>
                <a:latin typeface="Calibri"/>
              </a:rPr>
              <a:t>FairBanks Community Intelligence Network (FCIN)  ·  CHIP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76072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A6B75"/>
                </a:solidFill>
                <a:latin typeface="Calibri"/>
              </a:rPr>
              <a:t>Contact: [add founder name · email · phone · website]   |   Finals: Cape Town, 10–11 Nov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14A3A3"/>
                </a:solidFill>
                <a:latin typeface="Calibri"/>
              </a:rPr>
              <a:t>Apply: https://awief.untap.us/pitch-n-grow2026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