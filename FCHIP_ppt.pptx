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over_hero_cinematic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178040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78040" y="0"/>
            <a:ext cx="109728" cy="685800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9768" y="182880"/>
            <a:ext cx="1120456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irbanks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1217691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960120"/>
            <a:ext cx="6400800" cy="329184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COMMUNITY HEALTH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6400800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D6E6E"/>
                </a:solidFill>
                <a:latin typeface="Calibri"/>
              </a:rPr>
              <a:t>FairBanks Medical Centre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6400800" cy="64008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FCHIP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6400800" cy="50292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D99A2B"/>
                </a:solidFill>
                <a:latin typeface="Calibri"/>
              </a:rPr>
              <a:t>FairBanks Community Health Intelligence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2560320" cy="8229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520440"/>
            <a:ext cx="6400800" cy="8229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D4E8DC"/>
                </a:solidFill>
                <a:latin typeface="Calibri"/>
              </a:rPr>
              <a:t>From reactive treatment to proactive prevention —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D4E8DC"/>
                </a:solidFill>
                <a:latin typeface="Calibri"/>
              </a:rPr>
              <a:t>powered by community data, AI, GIS, and climate signals.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572000"/>
            <a:ext cx="6400800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99A2B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715000"/>
            <a:ext cx="7178040" cy="114300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5870448"/>
            <a:ext cx="6400800" cy="34747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A FairBanks platform component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291072"/>
            <a:ext cx="6400800" cy="32004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D4E8DC"/>
                </a:solidFill>
                <a:latin typeface="Calibri"/>
              </a:rPr>
              <a:t>Kampala, Uganda  ·  fairbanksmedicalcentre.org/fchip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tIns="4000" rIns="18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The gap: </a:t>
            </a:r>
            <a:r>
              <a:rPr sz="2800" b="1">
                <a:solidFill>
                  <a:srgbClr val="0A1F2E"/>
                </a:solidFill>
                <a:latin typeface="Calibri"/>
              </a:rPr>
              <a:t>Healthcare still waits for people to get sick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185855" cy="38404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Community signals stay fragmented — so outbreaks, maternal risk, and stock-outs arrive late.</a:t>
            </a:r>
          </a:p>
        </p:txBody>
      </p:sp>
      <p:pic>
        <p:nvPicPr>
          <p:cNvPr id="9" name="Picture 8" descr="outreach_bp_screening.jpeg"/>
          <p:cNvPicPr>
            <a:picLocks noChangeAspect="1"/>
          </p:cNvPicPr>
          <p:nvPr/>
        </p:nvPicPr>
        <p:blipFill>
          <a:blip r:embed="rId3"/>
          <a:srcRect l="9223" r="9223"/>
          <a:stretch>
            <a:fillRect/>
          </a:stretch>
        </p:blipFill>
        <p:spPr>
          <a:xfrm>
            <a:off x="502920" y="1298448"/>
            <a:ext cx="5816644" cy="4754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39020" y="1298448"/>
            <a:ext cx="5149754" cy="4754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40188" y="1591055"/>
            <a:ext cx="91440" cy="841247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96220" y="1572768"/>
            <a:ext cx="4463954" cy="329184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Late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6220" y="1920239"/>
            <a:ext cx="4463954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36C"/>
                </a:solidFill>
                <a:latin typeface="Calibri"/>
              </a:rPr>
              <a:t>Facilities treat illness after it appears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40188" y="2688336"/>
            <a:ext cx="91440" cy="841247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96220" y="2670048"/>
            <a:ext cx="4463954" cy="329184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Siloed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6220" y="3017520"/>
            <a:ext cx="4463954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36C"/>
                </a:solidFill>
                <a:latin typeface="Calibri"/>
              </a:rPr>
              <a:t>CHW, school, clinic, and EMR records stay separate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40188" y="3785615"/>
            <a:ext cx="91440" cy="841247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96220" y="3767327"/>
            <a:ext cx="4463954" cy="329184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Climate blind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6220" y="4114800"/>
            <a:ext cx="4463954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36C"/>
                </a:solidFill>
                <a:latin typeface="Calibri"/>
              </a:rPr>
              <a:t>Weather and place signals rarely join health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40188" y="4882896"/>
            <a:ext cx="91440" cy="841247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96220" y="4864607"/>
            <a:ext cx="4463954" cy="329184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Guesswork 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6220" y="5212079"/>
            <a:ext cx="4463954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36C"/>
                </a:solidFill>
                <a:latin typeface="Calibri"/>
              </a:rPr>
              <a:t>Medicine orders follow history, not early risk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2  /  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tIns="4000" rIns="18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Operating model: </a:t>
            </a:r>
            <a:r>
              <a:rPr sz="2800" b="1">
                <a:solidFill>
                  <a:srgbClr val="0A1F2E"/>
                </a:solidFill>
                <a:latin typeface="Calibri"/>
              </a:rPr>
              <a:t>How we care for your community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185855" cy="38404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The simple Community Reach journey — FCHIP supports the Data &amp; Feedback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2773554" cy="4754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oncept_simpl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98448"/>
            <a:ext cx="2554098" cy="4754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532506" y="1298448"/>
            <a:ext cx="8156268" cy="716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32506" y="1298448"/>
            <a:ext cx="640080" cy="7162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32506" y="1298448"/>
            <a:ext cx="640080" cy="716280"/>
          </a:xfrm>
          <a:prstGeom prst="rect">
            <a:avLst/>
          </a:prstGeom>
          <a:noFill/>
        </p:spPr>
        <p:txBody>
          <a:bodyPr wrap="square" lIns="22000" tIns="8000" rIns="22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5466" y="1298448"/>
            <a:ext cx="7150428" cy="716280"/>
          </a:xfrm>
          <a:prstGeom prst="rect">
            <a:avLst/>
          </a:prstGeom>
          <a:noFill/>
        </p:spPr>
        <p:txBody>
          <a:bodyPr wrap="square" lIns="22000" tIns="8000" rIns="22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1F2E"/>
                </a:solidFill>
                <a:latin typeface="Calibri"/>
              </a:rPr>
              <a:t>Community members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32506" y="2106168"/>
            <a:ext cx="8156268" cy="716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32506" y="2106168"/>
            <a:ext cx="640080" cy="71628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32506" y="2106168"/>
            <a:ext cx="640080" cy="716280"/>
          </a:xfrm>
          <a:prstGeom prst="rect">
            <a:avLst/>
          </a:prstGeom>
          <a:noFill/>
        </p:spPr>
        <p:txBody>
          <a:bodyPr wrap="square" lIns="22000" tIns="8000" rIns="22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5466" y="2106168"/>
            <a:ext cx="7150428" cy="716280"/>
          </a:xfrm>
          <a:prstGeom prst="rect">
            <a:avLst/>
          </a:prstGeom>
          <a:noFill/>
        </p:spPr>
        <p:txBody>
          <a:bodyPr wrap="square" lIns="22000" tIns="8000" rIns="22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1F2E"/>
                </a:solidFill>
                <a:latin typeface="Calibri"/>
              </a:rPr>
              <a:t>CHWs / VHTs — the bridge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32506" y="2913888"/>
            <a:ext cx="8156268" cy="716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32506" y="2913888"/>
            <a:ext cx="640080" cy="716280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32506" y="2913888"/>
            <a:ext cx="640080" cy="716280"/>
          </a:xfrm>
          <a:prstGeom prst="rect">
            <a:avLst/>
          </a:prstGeom>
          <a:noFill/>
        </p:spPr>
        <p:txBody>
          <a:bodyPr wrap="square" lIns="22000" tIns="8000" rIns="22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5466" y="2913888"/>
            <a:ext cx="7150428" cy="716280"/>
          </a:xfrm>
          <a:prstGeom prst="rect">
            <a:avLst/>
          </a:prstGeom>
          <a:noFill/>
        </p:spPr>
        <p:txBody>
          <a:bodyPr wrap="square" lIns="22000" tIns="8000" rIns="22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1F2E"/>
                </a:solidFill>
                <a:latin typeface="Calibri"/>
              </a:rPr>
              <a:t>Community Reach programmes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32506" y="3721608"/>
            <a:ext cx="8156268" cy="716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532506" y="3721608"/>
            <a:ext cx="640080" cy="7162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32506" y="3721608"/>
            <a:ext cx="640080" cy="716280"/>
          </a:xfrm>
          <a:prstGeom prst="rect">
            <a:avLst/>
          </a:prstGeom>
          <a:noFill/>
        </p:spPr>
        <p:txBody>
          <a:bodyPr wrap="square" lIns="22000" tIns="8000" rIns="22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5466" y="3721608"/>
            <a:ext cx="7150428" cy="716280"/>
          </a:xfrm>
          <a:prstGeom prst="rect">
            <a:avLst/>
          </a:prstGeom>
          <a:noFill/>
        </p:spPr>
        <p:txBody>
          <a:bodyPr wrap="square" lIns="22000" tIns="8000" rIns="22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1F2E"/>
                </a:solidFill>
                <a:latin typeface="Calibri"/>
              </a:rPr>
              <a:t>FairBanks Medical Centre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32506" y="4529328"/>
            <a:ext cx="8156268" cy="716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32506" y="4529328"/>
            <a:ext cx="640080" cy="71628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32506" y="4529328"/>
            <a:ext cx="640080" cy="716280"/>
          </a:xfrm>
          <a:prstGeom prst="rect">
            <a:avLst/>
          </a:prstGeom>
          <a:noFill/>
        </p:spPr>
        <p:txBody>
          <a:bodyPr wrap="square" lIns="22000" tIns="8000" rIns="22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5466" y="4529328"/>
            <a:ext cx="7150428" cy="716280"/>
          </a:xfrm>
          <a:prstGeom prst="rect">
            <a:avLst/>
          </a:prstGeom>
          <a:noFill/>
        </p:spPr>
        <p:txBody>
          <a:bodyPr wrap="square" lIns="22000" tIns="8000" rIns="22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1F2E"/>
                </a:solidFill>
                <a:latin typeface="Calibri"/>
              </a:rPr>
              <a:t>Research · partnerships · skills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32506" y="5337047"/>
            <a:ext cx="8156268" cy="716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532506" y="5337047"/>
            <a:ext cx="640080" cy="716280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32506" y="5337047"/>
            <a:ext cx="640080" cy="716280"/>
          </a:xfrm>
          <a:prstGeom prst="rect">
            <a:avLst/>
          </a:prstGeom>
          <a:noFill/>
        </p:spPr>
        <p:txBody>
          <a:bodyPr wrap="square" lIns="22000" tIns="8000" rIns="22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5466" y="5337047"/>
            <a:ext cx="7150428" cy="716280"/>
          </a:xfrm>
          <a:prstGeom prst="rect">
            <a:avLst/>
          </a:prstGeom>
          <a:noFill/>
        </p:spPr>
        <p:txBody>
          <a:bodyPr wrap="square" lIns="22000" tIns="8000" rIns="22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1F2E"/>
                </a:solidFill>
                <a:latin typeface="Calibri"/>
              </a:rPr>
              <a:t>Empowerment · CHIS · livelihoods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3  /  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tIns="4000" rIns="18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Solution: </a:t>
            </a:r>
            <a:r>
              <a:rPr sz="2800" b="1">
                <a:solidFill>
                  <a:srgbClr val="0A1F2E"/>
                </a:solidFill>
                <a:latin typeface="Calibri"/>
              </a:rPr>
              <a:t>FCHIP — the intelligence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5369210" cy="5093208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369" y="966738"/>
            <a:ext cx="4729130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D99A2B"/>
                </a:solidFill>
                <a:latin typeface="Calibri"/>
              </a:rPr>
              <a:t>What FCHIP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5" y="1481055"/>
            <a:ext cx="4729130" cy="391825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Connects communities, CHWs/VHTs, schools, clinics, and hospitals into one intelligent network.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Fuses community signals with GIS maps and climate APIs.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Safely exposes data APIs to existing EMR/HMS — without replacing systems clinics already use.</a:t>
            </a:r>
          </a:p>
        </p:txBody>
      </p:sp>
      <p:pic>
        <p:nvPicPr>
          <p:cNvPr id="11" name="Picture 10" descr="dashboard_demo.png"/>
          <p:cNvPicPr>
            <a:picLocks noChangeAspect="1"/>
          </p:cNvPicPr>
          <p:nvPr/>
        </p:nvPicPr>
        <p:blipFill>
          <a:blip r:embed="rId3"/>
          <a:srcRect t="10417" b="10417"/>
          <a:stretch>
            <a:fillRect/>
          </a:stretch>
        </p:blipFill>
        <p:spPr>
          <a:xfrm>
            <a:off x="6091586" y="960120"/>
            <a:ext cx="5597188" cy="29540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91586" y="4042196"/>
            <a:ext cx="2743730" cy="95070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1586" y="4042196"/>
            <a:ext cx="91440" cy="950701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2754" y="4151924"/>
            <a:ext cx="2423690" cy="29260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2754" y="4444532"/>
            <a:ext cx="2423690" cy="329184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Risk before crisis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5044" y="4042196"/>
            <a:ext cx="2743730" cy="95070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45044" y="4042196"/>
            <a:ext cx="91440" cy="950701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6212" y="4151924"/>
            <a:ext cx="2423690" cy="29260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6212" y="4444532"/>
            <a:ext cx="2423690" cy="329184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Hotspots by place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1586" y="5102626"/>
            <a:ext cx="2743730" cy="95070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91586" y="5102626"/>
            <a:ext cx="91440" cy="950701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92754" y="5212354"/>
            <a:ext cx="2423690" cy="29260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Alert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2754" y="5504962"/>
            <a:ext cx="2423690" cy="329184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CHWs &amp; facilities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5044" y="5102626"/>
            <a:ext cx="2743730" cy="95070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45044" y="5102626"/>
            <a:ext cx="91440" cy="950701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6212" y="5212354"/>
            <a:ext cx="2423690" cy="29260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Learn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6212" y="5504962"/>
            <a:ext cx="2423690" cy="329184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Close the loop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4  /  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tIns="4000" rIns="18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Deep tech: </a:t>
            </a:r>
            <a:r>
              <a:rPr sz="2800" b="1">
                <a:solidFill>
                  <a:srgbClr val="0A1F2E"/>
                </a:solidFill>
                <a:latin typeface="Calibri"/>
              </a:rPr>
              <a:t>More than an app — an intelligence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185855" cy="38404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AI · ML · GIS · climate APIs · secure EMR/HMS APIs · mobile edge · cloud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3606698" cy="23042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3606698" cy="10972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664207"/>
            <a:ext cx="3094634" cy="41148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F2E"/>
                </a:solidFill>
                <a:latin typeface="Calibri"/>
              </a:rPr>
              <a:t>AI /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12848"/>
            <a:ext cx="3094634" cy="116128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dirty="0">
                <a:solidFill>
                  <a:srgbClr val="52636C"/>
                </a:solidFill>
                <a:latin typeface="Calibri"/>
              </a:rPr>
              <a:t>Disease risk, maternal flags, NCD hotspots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2498" y="1298448"/>
            <a:ext cx="3606698" cy="23042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2498" y="1298448"/>
            <a:ext cx="3606698" cy="10972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8530" y="1664207"/>
            <a:ext cx="3094634" cy="41148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F2E"/>
                </a:solidFill>
                <a:latin typeface="Calibri"/>
              </a:rPr>
              <a:t>GIS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8530" y="2212848"/>
            <a:ext cx="3094634" cy="116128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2636C"/>
                </a:solidFill>
                <a:latin typeface="Calibri"/>
              </a:rPr>
              <a:t>Village and parish risk geography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2076" y="1298448"/>
            <a:ext cx="3606698" cy="23042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82076" y="1298448"/>
            <a:ext cx="3606698" cy="109728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8108" y="1664207"/>
            <a:ext cx="3094634" cy="41148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F2E"/>
                </a:solidFill>
                <a:latin typeface="Calibri"/>
              </a:rPr>
              <a:t>Climate 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8108" y="2212848"/>
            <a:ext cx="3094634" cy="116128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2636C"/>
                </a:solidFill>
                <a:latin typeface="Calibri"/>
              </a:rPr>
              <a:t>Rainfall, heat, and flood-linked warning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49039"/>
            <a:ext cx="3606698" cy="23042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3749039"/>
            <a:ext cx="3606698" cy="10972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4114800"/>
            <a:ext cx="3094634" cy="41148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F2E"/>
                </a:solidFill>
                <a:latin typeface="Calibri"/>
              </a:rPr>
              <a:t>EMR / HMS 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663440"/>
            <a:ext cx="3094634" cy="116128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2636C"/>
                </a:solidFill>
                <a:latin typeface="Calibri"/>
              </a:rPr>
              <a:t>Real-time clinical ingest, consent-aware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2498" y="3749039"/>
            <a:ext cx="3606698" cy="23042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2498" y="3749039"/>
            <a:ext cx="3606698" cy="10972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48530" y="4114800"/>
            <a:ext cx="3094634" cy="41148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F2E"/>
                </a:solidFill>
                <a:latin typeface="Calibri"/>
              </a:rPr>
              <a:t>Mobile 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8530" y="4663440"/>
            <a:ext cx="3094634" cy="116128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2636C"/>
                </a:solidFill>
                <a:latin typeface="Calibri"/>
              </a:rPr>
              <a:t>Offline CHW/VHT forms and worklists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2076" y="3749039"/>
            <a:ext cx="3606698" cy="23042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82076" y="3749039"/>
            <a:ext cx="3606698" cy="10972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8108" y="4114800"/>
            <a:ext cx="3094634" cy="41148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F2E"/>
                </a:solidFill>
                <a:latin typeface="Calibri"/>
              </a:rPr>
              <a:t>Dashboards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8108" y="4663440"/>
            <a:ext cx="3094634" cy="116128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2636C"/>
                </a:solidFill>
                <a:latin typeface="Calibri"/>
              </a:rPr>
              <a:t>Facility, programme, and partner views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5  /  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tIns="4000" rIns="18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Architecture: </a:t>
            </a:r>
            <a:r>
              <a:rPr sz="2800" b="1">
                <a:solidFill>
                  <a:srgbClr val="0A1F2E"/>
                </a:solidFill>
                <a:latin typeface="Calibri"/>
              </a:rPr>
              <a:t>From last-mile capture to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185855" cy="38404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Data in → FCHIP intelligence → alerts, maps, and referrals back to the field.</a:t>
            </a:r>
          </a:p>
        </p:txBody>
      </p:sp>
      <p:pic>
        <p:nvPicPr>
          <p:cNvPr id="9" name="Picture 8" descr="data_flow_iso_labeled.png"/>
          <p:cNvPicPr>
            <a:picLocks noChangeAspect="1"/>
          </p:cNvPicPr>
          <p:nvPr/>
        </p:nvPicPr>
        <p:blipFill>
          <a:blip r:embed="rId3"/>
          <a:srcRect l="4518" r="4518"/>
          <a:stretch>
            <a:fillRect/>
          </a:stretch>
        </p:blipFill>
        <p:spPr>
          <a:xfrm>
            <a:off x="502920" y="1298448"/>
            <a:ext cx="6487796" cy="4754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210172" y="1298448"/>
            <a:ext cx="4478603" cy="14874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10172" y="1298448"/>
            <a:ext cx="777240" cy="148742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10172" y="1298448"/>
            <a:ext cx="777240" cy="1487424"/>
          </a:xfrm>
          <a:prstGeom prst="rect">
            <a:avLst/>
          </a:prstGeom>
          <a:noFill/>
        </p:spPr>
        <p:txBody>
          <a:bodyPr wrap="square" lIns="22000" tIns="8000" rIns="22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0292" y="1554480"/>
            <a:ext cx="3335603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0292" y="1956815"/>
            <a:ext cx="3335603" cy="664464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36C"/>
                </a:solidFill>
                <a:latin typeface="Calibri"/>
              </a:rPr>
              <a:t>CHWs, clinics, EMR/HMS, climate feeds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10172" y="2932176"/>
            <a:ext cx="4478603" cy="14874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10172" y="2932176"/>
            <a:ext cx="777240" cy="1487424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10172" y="2932176"/>
            <a:ext cx="777240" cy="1487424"/>
          </a:xfrm>
          <a:prstGeom prst="rect">
            <a:avLst/>
          </a:prstGeom>
          <a:noFill/>
        </p:spPr>
        <p:txBody>
          <a:bodyPr wrap="square" lIns="22000" tIns="8000" rIns="22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0292" y="3188207"/>
            <a:ext cx="3335603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Analyse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0292" y="3590544"/>
            <a:ext cx="3335603" cy="664464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36C"/>
                </a:solidFill>
                <a:latin typeface="Calibri"/>
              </a:rPr>
              <a:t>AI, GIS, climate fusion, risk scores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10172" y="4565904"/>
            <a:ext cx="4478603" cy="14874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10172" y="4565904"/>
            <a:ext cx="777240" cy="1487424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10172" y="4565904"/>
            <a:ext cx="777240" cy="1487424"/>
          </a:xfrm>
          <a:prstGeom prst="rect">
            <a:avLst/>
          </a:prstGeom>
          <a:noFill/>
        </p:spPr>
        <p:txBody>
          <a:bodyPr wrap="square" lIns="22000" tIns="8000" rIns="22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0292" y="4821936"/>
            <a:ext cx="3335603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0292" y="5224272"/>
            <a:ext cx="3335603" cy="664464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36C"/>
                </a:solidFill>
                <a:latin typeface="Calibri"/>
              </a:rPr>
              <a:t>Alerts, dashboards, outreach, stock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6  /  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tIns="4000" rIns="18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Proof cases: </a:t>
            </a:r>
            <a:r>
              <a:rPr sz="2800" b="1">
                <a:solidFill>
                  <a:srgbClr val="0A1F2E"/>
                </a:solidFill>
                <a:latin typeface="Calibri"/>
              </a:rPr>
              <a:t>What FCHIP helps predict and prevent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5510631" cy="16123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7512" y="1124712"/>
            <a:ext cx="91440" cy="128320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161288"/>
            <a:ext cx="4870551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1F2E"/>
                </a:solidFill>
                <a:latin typeface="Calibri"/>
              </a:rPr>
              <a:t>Disease surveillance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581912"/>
            <a:ext cx="4870551" cy="7894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36C"/>
                </a:solidFill>
                <a:latin typeface="Calibri"/>
              </a:rPr>
              <a:t>Fever clusters + rainfall → early malaria / outbreak flags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960120"/>
            <a:ext cx="5510631" cy="16123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42735" y="1124712"/>
            <a:ext cx="91440" cy="128320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9623" y="1161288"/>
            <a:ext cx="4870551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1F2E"/>
                </a:solidFill>
                <a:latin typeface="Calibri"/>
              </a:rPr>
              <a:t>Maternal 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9623" y="1581912"/>
            <a:ext cx="4870551" cy="7894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36C"/>
                </a:solidFill>
                <a:latin typeface="Calibri"/>
              </a:rPr>
              <a:t>Home-visit signals → high-risk pregnancy alerts to CHWs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00528"/>
            <a:ext cx="5510631" cy="16123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7512" y="2865120"/>
            <a:ext cx="91440" cy="1283208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901696"/>
            <a:ext cx="4870551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1F2E"/>
                </a:solidFill>
                <a:latin typeface="Calibri"/>
              </a:rPr>
              <a:t>NCDs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22320"/>
            <a:ext cx="4870551" cy="7894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36C"/>
                </a:solidFill>
                <a:latin typeface="Calibri"/>
              </a:rPr>
              <a:t>BP and glucose trends → hypertension and diabetes hotspots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8143" y="2700528"/>
            <a:ext cx="5510631" cy="16123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42735" y="2865120"/>
            <a:ext cx="91440" cy="128320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9623" y="2901696"/>
            <a:ext cx="4870551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1F2E"/>
                </a:solidFill>
                <a:latin typeface="Calibri"/>
              </a:rPr>
              <a:t>Child 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9623" y="3322320"/>
            <a:ext cx="4870551" cy="7894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36C"/>
                </a:solidFill>
                <a:latin typeface="Calibri"/>
              </a:rPr>
              <a:t>Growth, immunisation, diarrhoea → community flags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440936"/>
            <a:ext cx="5510631" cy="16123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67512" y="4605528"/>
            <a:ext cx="91440" cy="128320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642104"/>
            <a:ext cx="4870551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1F2E"/>
                </a:solidFill>
                <a:latin typeface="Calibri"/>
              </a:rPr>
              <a:t>Medicine demand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62728"/>
            <a:ext cx="4870551" cy="7894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36C"/>
                </a:solidFill>
                <a:latin typeface="Calibri"/>
              </a:rPr>
              <a:t>Disease + climate + history → pharmacy pre-stocking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8143" y="4440936"/>
            <a:ext cx="5510631" cy="16123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42735" y="4605528"/>
            <a:ext cx="91440" cy="128320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9623" y="4642104"/>
            <a:ext cx="4870551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1F2E"/>
                </a:solidFill>
                <a:latin typeface="Calibri"/>
              </a:rPr>
              <a:t>Cascade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9623" y="5062728"/>
            <a:ext cx="4870551" cy="7894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36C"/>
                </a:solidFill>
                <a:latin typeface="Calibri"/>
              </a:rPr>
              <a:t>Referrals, CHIS, school sessions → close the feedback loop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7  /  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tIns="4000" rIns="18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Why FairBanks: </a:t>
            </a:r>
            <a:r>
              <a:rPr sz="2800" b="1">
                <a:solidFill>
                  <a:srgbClr val="0A1F2E"/>
                </a:solidFill>
                <a:latin typeface="Calibri"/>
              </a:rPr>
              <a:t>Live field base + working FCHIP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185855" cy="38404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Design, pilot, validate, and refine inside a real Community Reach ecosystem.</a:t>
            </a:r>
          </a:p>
        </p:txBody>
      </p:sp>
      <p:pic>
        <p:nvPicPr>
          <p:cNvPr id="9" name="Picture 8" descr="outreach_audience_full_group_01.jpg"/>
          <p:cNvPicPr>
            <a:picLocks noChangeAspect="1"/>
          </p:cNvPicPr>
          <p:nvPr/>
        </p:nvPicPr>
        <p:blipFill>
          <a:blip r:embed="rId3"/>
          <a:srcRect t="2938" b="2938"/>
          <a:stretch>
            <a:fillRect/>
          </a:stretch>
        </p:blipFill>
        <p:spPr>
          <a:xfrm>
            <a:off x="502920" y="1298448"/>
            <a:ext cx="4698059" cy="29480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374489"/>
            <a:ext cx="4698059" cy="1678838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4502505"/>
            <a:ext cx="4295723" cy="1395374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Bukoto · Kyebando · Kisaasi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Kamwokya · Kikaaya &amp; nearby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0435" y="1298448"/>
            <a:ext cx="6268340" cy="4754880"/>
          </a:xfrm>
          <a:prstGeom prst="rect">
            <a:avLst/>
          </a:prstGeom>
          <a:noFill/>
        </p:spPr>
        <p:txBody>
          <a:bodyPr wrap="square" lIns="22000" tIns="6000" rIns="22000" bIns="6000">
            <a:spAutoFit/>
          </a:bodyPr>
          <a:lstStyle/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Licensed medical centre in Kampala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Active CHW / VHT Community Reach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Maternal, child, Gericare, NCD programmes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CHIS and livelihood pathways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Working FCHIP MVP — validating now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Secure EMR/HMS API path planned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8  /  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tIns="4000" rIns="18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Roadmap: </a:t>
            </a:r>
            <a:r>
              <a:rPr sz="2800" b="1">
                <a:solidFill>
                  <a:srgbClr val="0A1F2E"/>
                </a:solidFill>
                <a:latin typeface="Calibri"/>
              </a:rPr>
              <a:t>Validate → district → regional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185855" cy="38404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Working MVP exists. Phase 1 proves value in the live FairBanks catchment.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2673019" cy="4754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2673019" cy="123444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499616"/>
            <a:ext cx="2343835" cy="29260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801368"/>
            <a:ext cx="2343835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167128"/>
            <a:ext cx="2343835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E8DC"/>
                </a:solidFill>
                <a:latin typeface="Calibri"/>
              </a:rPr>
              <a:t>0–12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761488"/>
            <a:ext cx="2343835" cy="306324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E2F38"/>
                </a:solidFill>
                <a:latin typeface="Calibri"/>
              </a:rPr>
              <a:t>CHW tools, GIS + climate, EMR APIs, 3 use cases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0531" y="1298448"/>
            <a:ext cx="2673019" cy="4754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40531" y="1298448"/>
            <a:ext cx="2673019" cy="123444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05123" y="1499616"/>
            <a:ext cx="2343835" cy="29260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5123" y="1801368"/>
            <a:ext cx="2343835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District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5123" y="2167128"/>
            <a:ext cx="2343835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E8DC"/>
                </a:solidFill>
                <a:latin typeface="Calibri"/>
              </a:rPr>
              <a:t>12–24 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5123" y="2761488"/>
            <a:ext cx="2343835" cy="306324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E2F38"/>
                </a:solidFill>
                <a:latin typeface="Calibri"/>
              </a:rPr>
              <a:t>Partner clinics, Kampala structures, NGO M&amp;E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8143" y="1298448"/>
            <a:ext cx="2673019" cy="4754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8143" y="1298448"/>
            <a:ext cx="2673019" cy="1234440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42735" y="1499616"/>
            <a:ext cx="2343835" cy="29260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2735" y="1801368"/>
            <a:ext cx="2343835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Regional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2735" y="2167128"/>
            <a:ext cx="2343835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E8DC"/>
                </a:solidFill>
                <a:latin typeface="Calibri"/>
              </a:rPr>
              <a:t>24–36 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2735" y="2761488"/>
            <a:ext cx="2343835" cy="306324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E2F38"/>
                </a:solidFill>
                <a:latin typeface="Calibri"/>
              </a:rPr>
              <a:t>Multi-district Uganda · East Africa entry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5755" y="1298448"/>
            <a:ext cx="2673019" cy="4754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15755" y="1298448"/>
            <a:ext cx="2673019" cy="123444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80347" y="1499616"/>
            <a:ext cx="2343835" cy="29260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347" y="1801368"/>
            <a:ext cx="2343835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347" y="2167128"/>
            <a:ext cx="2343835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E8DC"/>
                </a:solidFill>
                <a:latin typeface="Calibri"/>
              </a:rPr>
              <a:t>Year 3+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347" y="2761488"/>
            <a:ext cx="2343835" cy="306324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E2F38"/>
                </a:solidFill>
                <a:latin typeface="Calibri"/>
              </a:rPr>
              <a:t>Clinical support, NLP, research modules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9  /  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acility_exterior_branded_entrance_02.jpe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178040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78040" y="0"/>
            <a:ext cx="109728" cy="685800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9768" y="182880"/>
            <a:ext cx="1120456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irbanks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1217691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960120"/>
            <a:ext cx="6400800" cy="329184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LET'S BUILD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6400800" cy="50292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FCHIP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6400800" cy="8229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D4E8DC"/>
                </a:solidFill>
                <a:latin typeface="Calibri"/>
              </a:rPr>
              <a:t>Africa's community health intelligence —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D4E8DC"/>
                </a:solidFill>
                <a:latin typeface="Calibri"/>
              </a:rPr>
              <a:t>rooted in FairBanks Community Reach.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63240"/>
            <a:ext cx="2560320" cy="8229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337560"/>
            <a:ext cx="6400800" cy="36576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99A2B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86200"/>
            <a:ext cx="6400800" cy="64008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D4E8DC"/>
                </a:solidFill>
                <a:latin typeface="Calibri"/>
              </a:rPr>
              <a:t>Health for All — Obulamu eri Bonna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D4E8DC"/>
                </a:solidFill>
                <a:latin typeface="Calibri"/>
              </a:rPr>
              <a:t>Afya kwa Wote · Oburamu bwa Boona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754880"/>
            <a:ext cx="6309360" cy="1645920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892040"/>
            <a:ext cx="5852160" cy="292608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9A2B"/>
                </a:solidFill>
                <a:latin typeface="Calibri"/>
              </a:rPr>
              <a:t>Contact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57800"/>
            <a:ext cx="5852160" cy="960120"/>
          </a:xfrm>
          <a:prstGeom prst="rect">
            <a:avLst/>
          </a:prstGeom>
          <a:noFill/>
        </p:spPr>
        <p:txBody>
          <a:bodyPr wrap="square" lIns="22000" tIns="8000" rIns="22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Racheal Nabukeera · Managing Director &amp; Co-founder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info@fairbanksmedicalcentre.org  ·  +256 772 849 258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fairbanksmedicalcentre.org  ·  /fchip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776</Words>
  <Application>Microsoft Office PowerPoint</Application>
  <PresentationFormat>Widescreen</PresentationFormat>
  <Paragraphs>139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WASSWA WILSON</cp:lastModifiedBy>
  <cp:revision>2</cp:revision>
  <dcterms:created xsi:type="dcterms:W3CDTF">2013-01-27T09:14:16Z</dcterms:created>
  <dcterms:modified xsi:type="dcterms:W3CDTF">2026-08-05T13:02:28Z</dcterms:modified>
  <cp:category/>
</cp:coreProperties>
</file>